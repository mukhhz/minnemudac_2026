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1: Need vs. activity" id="{6eb68c3e-2743-02e3-fa18-2df4fdb173cb}">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F6670"/>
                </a:solidFill>
                <a:latin typeface="+mn-lt"/>
              </a:defRPr>
            </a:pPr>
            <a:r>
              <a:rPr sz="1400" b="0" i="0" u="none" strike="noStrike">
                <a:solidFill>
                  <a:srgbClr val="5F6670"/>
                </a:solidFill>
                <a:latin typeface="+mn-lt"/>
              </a:rPr>
              <a:t>Statewide totals, 2022 = 100</a:t>
            </a:r>
          </a:p>
        </c:rich>
      </c:tx>
      <c:layout/>
      <c:overlay val="0"/>
    </c:title>
    <c:autoTitleDeleted val="0"/>
    <c:plotArea>
      <c:layout/>
      <c:lineChart>
        <c:varyColors val="0"/>
        <c:ser>
          <c:idx val="0"/>
          <c:order val="0"/>
          <c:tx>
            <c:strRef>
              <c:f>Sheet1!$B$1</c:f>
              <c:strCache>
                <c:ptCount val="1"/>
                <c:pt idx="0">
                  <c:v>Need (food-insecure people)</c:v>
                </c:pt>
              </c:strCache>
            </c:strRef>
          </c:tx>
          <c:spPr>
            <a:solidFill>
              <a:srgbClr val="1B2430"/>
            </a:solidFill>
            <a:ln w="38100" cap="flat">
              <a:solidFill>
                <a:srgbClr val="1B243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1B2430"/>
              </a:solidFill>
              <a:ln w="9525" cap="flat">
                <a:solidFill>
                  <a:srgbClr val="1B2430"/>
                </a:solidFill>
                <a:prstDash val="solid"/>
                <a:round/>
              </a:ln>
              <a:effectLst/>
            </c:spPr>
          </c:marker>
          <c:cat>
            <c:multiLvlStrRef>
              <c:f>Sheet1!$A$2:$A$4</c:f>
              <c:multiLvlStrCache>
                <c:ptCount val="3"/>
                <c:lvl>
                  <c:pt idx="0">
                    <c:v>2022</c:v>
                  </c:pt>
                  <c:pt idx="1">
                    <c:v>2023</c:v>
                  </c:pt>
                  <c:pt idx="2">
                    <c:v>2024</c:v>
                  </c:pt>
                </c:lvl>
              </c:multiLvlStrCache>
            </c:multiLvlStrRef>
          </c:cat>
          <c:val>
            <c:numRef>
              <c:f>Sheet1!$B$2:$B$4</c:f>
              <c:numCache>
                <c:formatCode>General</c:formatCode>
                <c:ptCount val="3"/>
                <c:pt idx="0">
                  <c:v>100</c:v>
                </c:pt>
                <c:pt idx="1">
                  <c:v>114.1</c:v>
                </c:pt>
                <c:pt idx="2">
                  <c:v>125</c:v>
                </c:pt>
              </c:numCache>
            </c:numRef>
          </c:val>
          <c:smooth val="0"/>
        </c:ser>
        <c:ser>
          <c:idx val="1"/>
          <c:order val="1"/>
          <c:tx>
            <c:strRef>
              <c:f>Sheet1!$C$1</c:f>
              <c:strCache>
                <c:ptCount val="1"/>
                <c:pt idx="0">
                  <c:v>Pounds</c:v>
                </c:pt>
              </c:strCache>
            </c:strRef>
          </c:tx>
          <c:spPr>
            <a:solidFill>
              <a:srgbClr val="1BAF7A"/>
            </a:solidFill>
            <a:ln w="381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1BAF7A"/>
              </a:solidFill>
              <a:ln w="9525" cap="flat">
                <a:solidFill>
                  <a:srgbClr val="1BAF7A"/>
                </a:solidFill>
                <a:prstDash val="solid"/>
                <a:round/>
              </a:ln>
              <a:effectLst/>
            </c:spPr>
          </c:marker>
          <c:cat>
            <c:multiLvlStrRef>
              <c:f>Sheet1!$A$2:$A$4</c:f>
              <c:multiLvlStrCache>
                <c:ptCount val="3"/>
                <c:lvl>
                  <c:pt idx="0">
                    <c:v>2022</c:v>
                  </c:pt>
                  <c:pt idx="1">
                    <c:v>2023</c:v>
                  </c:pt>
                  <c:pt idx="2">
                    <c:v>2024</c:v>
                  </c:pt>
                </c:lvl>
              </c:multiLvlStrCache>
            </c:multiLvlStrRef>
          </c:cat>
          <c:val>
            <c:numRef>
              <c:f>Sheet1!$C$2:$C$4</c:f>
              <c:numCache>
                <c:formatCode>General</c:formatCode>
                <c:ptCount val="3"/>
                <c:pt idx="0">
                  <c:v>100</c:v>
                </c:pt>
                <c:pt idx="1">
                  <c:v>118</c:v>
                </c:pt>
                <c:pt idx="2">
                  <c:v>131.1</c:v>
                </c:pt>
              </c:numCache>
            </c:numRef>
          </c:val>
          <c:smooth val="0"/>
        </c:ser>
        <c:ser>
          <c:idx val="2"/>
          <c:order val="2"/>
          <c:tx>
            <c:strRef>
              <c:f>Sheet1!$D$1</c:f>
              <c:strCache>
                <c:ptCount val="1"/>
                <c:pt idx="0">
                  <c:v>Visits</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Sheet1!$A$2:$A$4</c:f>
              <c:multiLvlStrCache>
                <c:ptCount val="3"/>
                <c:lvl>
                  <c:pt idx="0">
                    <c:v>2022</c:v>
                  </c:pt>
                  <c:pt idx="1">
                    <c:v>2023</c:v>
                  </c:pt>
                  <c:pt idx="2">
                    <c:v>2024</c:v>
                  </c:pt>
                </c:lvl>
              </c:multiLvlStrCache>
            </c:multiLvlStrRef>
          </c:cat>
          <c:val>
            <c:numRef>
              <c:f>Sheet1!$D$2:$D$4</c:f>
              <c:numCache>
                <c:formatCode>General</c:formatCode>
                <c:ptCount val="3"/>
                <c:pt idx="0">
                  <c:v>100</c:v>
                </c:pt>
                <c:pt idx="1">
                  <c:v>126.4</c:v>
                </c:pt>
                <c:pt idx="2">
                  <c:v>145.8</c:v>
                </c:pt>
              </c:numCache>
            </c:numRef>
          </c:val>
          <c:smooth val="0"/>
        </c:ser>
        <c:ser>
          <c:idx val="3"/>
          <c:order val="3"/>
          <c:tx>
            <c:strRef>
              <c:f>Sheet1!$E$1</c:f>
              <c:strCache>
                <c:ptCount val="1"/>
                <c:pt idx="0">
                  <c:v>Individuals</c:v>
                </c:pt>
              </c:strCache>
            </c:strRef>
          </c:tx>
          <c:spPr>
            <a:solidFill>
              <a:srgbClr val="6250D6"/>
            </a:solidFill>
            <a:ln w="38100" cap="flat">
              <a:solidFill>
                <a:srgbClr val="6250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6250D6"/>
              </a:solidFill>
              <a:ln w="9525" cap="flat">
                <a:solidFill>
                  <a:srgbClr val="6250D6"/>
                </a:solidFill>
                <a:prstDash val="solid"/>
                <a:round/>
              </a:ln>
              <a:effectLst/>
            </c:spPr>
          </c:marker>
          <c:cat>
            <c:multiLvlStrRef>
              <c:f>Sheet1!$A$2:$A$4</c:f>
              <c:multiLvlStrCache>
                <c:ptCount val="3"/>
                <c:lvl>
                  <c:pt idx="0">
                    <c:v>2022</c:v>
                  </c:pt>
                  <c:pt idx="1">
                    <c:v>2023</c:v>
                  </c:pt>
                  <c:pt idx="2">
                    <c:v>2024</c:v>
                  </c:pt>
                </c:lvl>
              </c:multiLvlStrCache>
            </c:multiLvlStrRef>
          </c:cat>
          <c:val>
            <c:numRef>
              <c:f>Sheet1!$E$2:$E$4</c:f>
              <c:numCache>
                <c:formatCode>General</c:formatCode>
                <c:ptCount val="3"/>
                <c:pt idx="0">
                  <c:v>100</c:v>
                </c:pt>
                <c:pt idx="1">
                  <c:v>135.5</c:v>
                </c:pt>
                <c:pt idx="2">
                  <c:v>159.9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F6670"/>
                </a:solidFill>
                <a:latin typeface="+mn-lt"/>
              </a:defRPr>
            </a:pPr>
            <a:endParaRPr lang="en-US"/>
          </a:p>
        </c:txPr>
        <c:crossAx val="2094734552"/>
        <c:crosses val="autoZero"/>
        <c:auto val="1"/>
        <c:lblAlgn val="ctr"/>
        <c:noMultiLvlLbl val="1"/>
      </c:catAx>
      <c:valAx>
        <c:axId val="2094734552"/>
        <c:scaling>
          <c:orientation val="minMax"/>
          <c:max val="170"/>
          <c:min val="90"/>
        </c:scaling>
        <c:delete val="0"/>
        <c:axPos val="l"/>
        <c:majorGridlines>
          <c:spPr>
            <a:ln w="9525" cap="flat">
              <a:solidFill>
                <a:srgbClr val="E3E5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670"/>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5F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F6670"/>
                </a:solidFill>
                <a:latin typeface="+mn-lt"/>
              </a:defRPr>
            </a:pPr>
            <a:r>
              <a:rPr sz="1400" b="0" i="0" u="none" strike="noStrike">
                <a:solidFill>
                  <a:srgbClr val="5F6670"/>
                </a:solidFill>
                <a:latin typeface="+mn-lt"/>
              </a:rPr>
              <a:t>Correlation with need (Spearman, average 2022–2024)</a:t>
            </a:r>
          </a:p>
        </c:rich>
      </c:tx>
      <c:layout/>
      <c:overlay val="0"/>
    </c:title>
    <c:autoTitleDeleted val="0"/>
    <c:plotArea>
      <c:layout/>
      <c:barChart>
        <c:barDir val="col"/>
        <c:grouping val="clustered"/>
        <c:varyColors val="0"/>
        <c:ser>
          <c:idx val="0"/>
          <c:order val="0"/>
          <c:tx>
            <c:strRef>
              <c:f>Sheet1!$B$1</c:f>
              <c:strCache>
                <c:ptCount val="1"/>
                <c:pt idx="0">
                  <c:v>Totals</c:v>
                </c:pt>
              </c:strCache>
            </c:strRef>
          </c:tx>
          <c:spPr>
            <a:solidFill>
              <a:srgbClr val="1B2430"/>
            </a:solidFill>
            <a:effectLst/>
          </c:spPr>
          <c:invertIfNegative val="0"/>
          <c:dLbls>
            <c:numFmt formatCode="0.0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Visits</c:v>
                  </c:pt>
                  <c:pt idx="1">
                    <c:v>Pounds</c:v>
                  </c:pt>
                  <c:pt idx="2">
                    <c:v>Individuals</c:v>
                  </c:pt>
                </c:lvl>
              </c:multiLvlStrCache>
            </c:multiLvlStrRef>
          </c:cat>
          <c:val>
            <c:numRef>
              <c:f>Sheet1!$B$2:$B$4</c:f>
              <c:numCache>
                <c:formatCode>General</c:formatCode>
                <c:ptCount val="3"/>
                <c:pt idx="0">
                  <c:v>0.89</c:v>
                </c:pt>
                <c:pt idx="1">
                  <c:v>0.92</c:v>
                </c:pt>
                <c:pt idx="2">
                  <c:v>0.9</c:v>
                </c:pt>
              </c:numCache>
            </c:numRef>
          </c:val>
        </c:ser>
        <c:ser>
          <c:idx val="1"/>
          <c:order val="1"/>
          <c:tx>
            <c:strRef>
              <c:f>Sheet1!$C$1</c:f>
              <c:strCache>
                <c:ptCount val="1"/>
                <c:pt idx="0">
                  <c:v>Per resident</c:v>
                </c:pt>
              </c:strCache>
            </c:strRef>
          </c:tx>
          <c:spPr>
            <a:solidFill>
              <a:srgbClr val="A3A29C"/>
            </a:solidFill>
            <a:effectLst/>
          </c:spPr>
          <c:invertIfNegative val="0"/>
          <c:dLbls>
            <c:numFmt formatCode="0.0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Visits</c:v>
                  </c:pt>
                  <c:pt idx="1">
                    <c:v>Pounds</c:v>
                  </c:pt>
                  <c:pt idx="2">
                    <c:v>Individuals</c:v>
                  </c:pt>
                </c:lvl>
              </c:multiLvlStrCache>
            </c:multiLvlStrRef>
          </c:cat>
          <c:val>
            <c:numRef>
              <c:f>Sheet1!$C$2:$C$4</c:f>
              <c:numCache>
                <c:formatCode>General</c:formatCode>
                <c:ptCount val="3"/>
                <c:pt idx="0">
                  <c:v>0.06</c:v>
                </c:pt>
                <c:pt idx="1">
                  <c:v>0.1</c:v>
                </c:pt>
                <c:pt idx="2">
                  <c:v>0.05</c:v>
                </c:pt>
              </c:numCache>
            </c:numRef>
          </c:val>
        </c:ser>
        <c:dLbls>
          <c:numFmt formatCode="0.0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F667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5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F667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300">
              <a:solidFill>
                <a:srgbClr val="5F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Lower than expected</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Sheet1!$A$2:$A$13</c:f>
              <c:multiLvlStrCache>
                <c:ptCount val="12"/>
                <c:lvl>
                  <c:pt idx="0">
                    <c:v>Nicollet  0.29×</c:v>
                  </c:pt>
                  <c:pt idx="1">
                    <c:v>Pope  0.39×</c:v>
                  </c:pt>
                  <c:pt idx="2">
                    <c:v>Lac qui Parle  0.41×</c:v>
                  </c:pt>
                  <c:pt idx="3">
                    <c:v>Norman  0.42×</c:v>
                  </c:pt>
                  <c:pt idx="4">
                    <c:v>Roseau  0.46×</c:v>
                  </c:pt>
                  <c:pt idx="5">
                    <c:v>Olmsted  2.04×</c:v>
                  </c:pt>
                  <c:pt idx="6">
                    <c:v>Pipestone  2.11×</c:v>
                  </c:pt>
                  <c:pt idx="7">
                    <c:v>Mahnomen  2.46×</c:v>
                  </c:pt>
                  <c:pt idx="8">
                    <c:v>Renville  2.78×</c:v>
                  </c:pt>
                  <c:pt idx="9">
                    <c:v>Rice  3.22×</c:v>
                  </c:pt>
                  <c:pt idx="10">
                    <c:v>Washington  3.29×</c:v>
                  </c:pt>
                  <c:pt idx="11">
                    <c:v>Steele  4.13×</c:v>
                  </c:pt>
                </c:lvl>
              </c:multiLvlStrCache>
            </c:multiLvlStrRef>
          </c:cat>
          <c:val>
            <c:numRef>
              <c:f>Sheet1!$B$2:$B$13</c:f>
              <c:numCache>
                <c:formatCode>General</c:formatCode>
                <c:ptCount val="12"/>
                <c:pt idx="0">
                  <c:v>-1.7858751946471527</c:v>
                </c:pt>
                <c:pt idx="1">
                  <c:v>-1.3584539709124763</c:v>
                </c:pt>
                <c:pt idx="2">
                  <c:v>-1.286304185156641</c:v>
                </c:pt>
                <c:pt idx="3">
                  <c:v>-1.2515387669959646</c:v>
                </c:pt>
                <c:pt idx="4">
                  <c:v>-1.1202942337177118</c:v>
                </c:pt>
                <c:pt idx="5">
                  <c:v>0</c:v>
                </c:pt>
                <c:pt idx="6">
                  <c:v>0</c:v>
                </c:pt>
                <c:pt idx="7">
                  <c:v>0</c:v>
                </c:pt>
                <c:pt idx="8">
                  <c:v>0</c:v>
                </c:pt>
                <c:pt idx="9">
                  <c:v>0</c:v>
                </c:pt>
                <c:pt idx="10">
                  <c:v>0</c:v>
                </c:pt>
                <c:pt idx="11">
                  <c:v>0</c:v>
                </c:pt>
              </c:numCache>
            </c:numRef>
          </c:val>
        </c:ser>
        <c:ser>
          <c:idx val="1"/>
          <c:order val="1"/>
          <c:tx>
            <c:strRef>
              <c:f>Sheet1!$C$1</c:f>
              <c:strCache>
                <c:ptCount val="1"/>
                <c:pt idx="0">
                  <c:v>Higher than expected</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Sheet1!$A$2:$A$13</c:f>
              <c:multiLvlStrCache>
                <c:ptCount val="12"/>
                <c:lvl>
                  <c:pt idx="0">
                    <c:v>Nicollet  0.29×</c:v>
                  </c:pt>
                  <c:pt idx="1">
                    <c:v>Pope  0.39×</c:v>
                  </c:pt>
                  <c:pt idx="2">
                    <c:v>Lac qui Parle  0.41×</c:v>
                  </c:pt>
                  <c:pt idx="3">
                    <c:v>Norman  0.42×</c:v>
                  </c:pt>
                  <c:pt idx="4">
                    <c:v>Roseau  0.46×</c:v>
                  </c:pt>
                  <c:pt idx="5">
                    <c:v>Olmsted  2.04×</c:v>
                  </c:pt>
                  <c:pt idx="6">
                    <c:v>Pipestone  2.11×</c:v>
                  </c:pt>
                  <c:pt idx="7">
                    <c:v>Mahnomen  2.46×</c:v>
                  </c:pt>
                  <c:pt idx="8">
                    <c:v>Renville  2.78×</c:v>
                  </c:pt>
                  <c:pt idx="9">
                    <c:v>Rice  3.22×</c:v>
                  </c:pt>
                  <c:pt idx="10">
                    <c:v>Washington  3.29×</c:v>
                  </c:pt>
                  <c:pt idx="11">
                    <c:v>Steele  4.13×</c:v>
                  </c:pt>
                </c:lvl>
              </c:multiLvlStrCache>
            </c:multiLvlStrRef>
          </c:cat>
          <c:val>
            <c:numRef>
              <c:f>Sheet1!$C$2:$C$13</c:f>
              <c:numCache>
                <c:formatCode>General</c:formatCode>
                <c:ptCount val="12"/>
                <c:pt idx="0">
                  <c:v>0</c:v>
                </c:pt>
                <c:pt idx="1">
                  <c:v>0</c:v>
                </c:pt>
                <c:pt idx="2">
                  <c:v>0</c:v>
                </c:pt>
                <c:pt idx="3">
                  <c:v>0</c:v>
                </c:pt>
                <c:pt idx="4">
                  <c:v>0</c:v>
                </c:pt>
                <c:pt idx="5">
                  <c:v>1.0285691521967708</c:v>
                </c:pt>
                <c:pt idx="6">
                  <c:v>1.0772429989324603</c:v>
                </c:pt>
                <c:pt idx="7">
                  <c:v>1.298658315564515</c:v>
                </c:pt>
                <c:pt idx="8">
                  <c:v>1.4750848829487826</c:v>
                </c:pt>
                <c:pt idx="9">
                  <c:v>1.6870606883398924</c:v>
                </c:pt>
                <c:pt idx="10">
                  <c:v>1.7180875839605168</c:v>
                </c:pt>
                <c:pt idx="11">
                  <c:v>2.0461417816447205</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2.25"/>
          <c:min val="-2.25"/>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F6670"/>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F6670"/>
                </a:solidFill>
                <a:latin typeface="+mn-lt"/>
              </a:defRPr>
            </a:pPr>
            <a:r>
              <a:rPr sz="1400" b="0" i="0" u="none" strike="noStrike">
                <a:solidFill>
                  <a:srgbClr val="5F6670"/>
                </a:solidFill>
                <a:latin typeface="+mn-lt"/>
              </a:rPr>
              <a:t>Correlation with the mismatch, 86 counties</a:t>
            </a:r>
          </a:p>
        </c:rich>
      </c:tx>
      <c:layout/>
      <c:overlay val="0"/>
    </c:title>
    <c:autoTitleDeleted val="0"/>
    <c:plotArea>
      <c:layout/>
      <c:barChart>
        <c:barDir val="bar"/>
        <c:grouping val="clustered"/>
        <c:varyColors val="0"/>
        <c:ser>
          <c:idx val="0"/>
          <c:order val="0"/>
          <c:tx>
            <c:strRef>
              <c:f>Sheet1!$B$1</c:f>
              <c:strCache>
                <c:ptCount val="1"/>
                <c:pt idx="0">
                  <c:v>Significant</c:v>
                </c:pt>
              </c:strCache>
            </c:strRef>
          </c:tx>
          <c:spPr>
            <a:solidFill>
              <a:srgbClr val="1B2430"/>
            </a:solidFill>
            <a:effectLst/>
          </c:spPr>
          <c:invertIfNegative val="0"/>
          <c:dLbls>
            <c:numFmt formatCode="+0.0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Rural share</c:v>
                  </c:pt>
                  <c:pt idx="1">
                    <c:v>SNAP participation</c:v>
                  </c:pt>
                  <c:pt idx="2">
                    <c:v>No-vehicle households</c:v>
                  </c:pt>
                  <c:pt idx="3">
                    <c:v>Poverty rate</c:v>
                  </c:pt>
                  <c:pt idx="4">
                    <c:v>Food shelves per resident</c:v>
                  </c:pt>
                  <c:pt idx="5">
                    <c:v>Residents &gt;10 miles away</c:v>
                  </c:pt>
                  <c:pt idx="6">
                    <c:v>Nearest food shelf in another county</c:v>
                  </c:pt>
                </c:lvl>
              </c:multiLvlStrCache>
            </c:multiLvlStrRef>
          </c:cat>
          <c:val>
            <c:numRef>
              <c:f>Sheet1!$B$2:$B$8</c:f>
              <c:numCache>
                <c:formatCode>General</c:formatCode>
                <c:ptCount val="7"/>
                <c:pt idx="0">
                  <c:v>0</c:v>
                </c:pt>
                <c:pt idx="1">
                  <c:v>0</c:v>
                </c:pt>
                <c:pt idx="2">
                  <c:v>0</c:v>
                </c:pt>
                <c:pt idx="3">
                  <c:v>0</c:v>
                </c:pt>
                <c:pt idx="4">
                  <c:v>0.25</c:v>
                </c:pt>
                <c:pt idx="5">
                  <c:v>-0.27</c:v>
                </c:pt>
                <c:pt idx="6">
                  <c:v>-0.33</c:v>
                </c:pt>
              </c:numCache>
            </c:numRef>
          </c:val>
        </c:ser>
        <c:ser>
          <c:idx val="1"/>
          <c:order val="1"/>
          <c:tx>
            <c:strRef>
              <c:f>Sheet1!$C$1</c:f>
              <c:strCache>
                <c:ptCount val="1"/>
                <c:pt idx="0">
                  <c:v>Not significant</c:v>
                </c:pt>
              </c:strCache>
            </c:strRef>
          </c:tx>
          <c:spPr>
            <a:solidFill>
              <a:srgbClr val="C4C7CC"/>
            </a:solidFill>
            <a:effectLst/>
          </c:spPr>
          <c:invertIfNegative val="0"/>
          <c:dLbls>
            <c:numFmt formatCode="+0.0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Rural share</c:v>
                  </c:pt>
                  <c:pt idx="1">
                    <c:v>SNAP participation</c:v>
                  </c:pt>
                  <c:pt idx="2">
                    <c:v>No-vehicle households</c:v>
                  </c:pt>
                  <c:pt idx="3">
                    <c:v>Poverty rate</c:v>
                  </c:pt>
                  <c:pt idx="4">
                    <c:v>Food shelves per resident</c:v>
                  </c:pt>
                  <c:pt idx="5">
                    <c:v>Residents &gt;10 miles away</c:v>
                  </c:pt>
                  <c:pt idx="6">
                    <c:v>Nearest food shelf in another county</c:v>
                  </c:pt>
                </c:lvl>
              </c:multiLvlStrCache>
            </c:multiLvlStrRef>
          </c:cat>
          <c:val>
            <c:numRef>
              <c:f>Sheet1!$C$2:$C$8</c:f>
              <c:numCache>
                <c:formatCode>General</c:formatCode>
                <c:ptCount val="7"/>
                <c:pt idx="0">
                  <c:v>0.06</c:v>
                </c:pt>
                <c:pt idx="1">
                  <c:v>-0.06</c:v>
                </c:pt>
                <c:pt idx="2">
                  <c:v>-0.09</c:v>
                </c:pt>
                <c:pt idx="3">
                  <c:v>-0.16</c:v>
                </c:pt>
                <c:pt idx="4">
                  <c:v>0</c:v>
                </c:pt>
                <c:pt idx="5">
                  <c:v>0</c:v>
                </c:pt>
                <c:pt idx="6">
                  <c:v>0</c:v>
                </c:pt>
              </c:numCache>
            </c:numRef>
          </c:val>
        </c:ser>
        <c:dLbls>
          <c:numFmt formatCode="+0.0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4"/>
          <c:min val="-0.4"/>
        </c:scaling>
        <c:delete val="0"/>
        <c:axPos val="b"/>
        <c:majorGridlines>
          <c:spPr>
            <a:ln w="9525" cap="flat">
              <a:solidFill>
                <a:srgbClr val="E3E5E8"/>
              </a:solidFill>
              <a:prstDash val="solid"/>
              <a:round/>
            </a:ln>
          </c:spPr>
        </c:majorGridlines>
        <c:numFmt formatCode="+0.0;-0.0;0" sourceLinked="0"/>
        <c:majorTickMark val="out"/>
        <c:minorTickMark val="none"/>
        <c:tickLblPos val="low"/>
        <c:spPr>
          <a:ln w="12700" cap="flat">
            <a:noFill/>
            <a:prstDash val="solid"/>
            <a:round/>
          </a:ln>
        </c:spPr>
        <c:txPr>
          <a:bodyPr/>
          <a:lstStyle/>
          <a:p>
            <a:pPr>
              <a:defRPr sz="1200" b="0" i="0" u="none" strike="noStrike">
                <a:solidFill>
                  <a:srgbClr val="5F6670"/>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F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F6670"/>
                </a:solidFill>
                <a:latin typeface="+mn-lt"/>
              </a:defRPr>
            </a:pPr>
            <a:r>
              <a:rPr sz="1400" b="0" i="0" u="none" strike="noStrike">
                <a:solidFill>
                  <a:srgbClr val="5F6670"/>
                </a:solidFill>
                <a:latin typeface="+mn-lt"/>
              </a:rPr>
              <a:t>Median county by main food bank (p = 0.02)</a:t>
            </a:r>
          </a:p>
        </c:rich>
      </c:tx>
      <c:layout/>
      <c:overlay val="0"/>
    </c:title>
    <c:autoTitleDeleted val="0"/>
    <c:plotArea>
      <c:layout/>
      <c:barChart>
        <c:barDir val="col"/>
        <c:grouping val="clustered"/>
        <c:varyColors val="0"/>
        <c:ser>
          <c:idx val="0"/>
          <c:order val="0"/>
          <c:tx>
            <c:strRef>
              <c:f>Sheet1!$B$1</c:f>
              <c:strCache>
                <c:ptCount val="1"/>
                <c:pt idx="0">
                  <c:v>Median county, activity vs. expected</c:v>
                </c:pt>
              </c:strCache>
            </c:strRef>
          </c:tx>
          <c:spPr>
            <a:solidFill>
              <a:srgbClr val="EB6834"/>
            </a:solidFill>
            <a:effectLst/>
          </c:spPr>
          <c:invertIfNegative val="0"/>
          <c:dLbls>
            <c:numFmt formatCode="0.00&quot;×&quot;"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2A78D6"/>
              </a:solidFill>
              <a:effectLst/>
            </c:spPr>
          </c:dPt>
          <c:cat>
            <c:multiLvlStrRef>
              <c:f>Sheet1!$A$2:$A$5</c:f>
              <c:multiLvlStrCache>
                <c:ptCount val="4"/>
                <c:lvl>
                  <c:pt idx="0">
                    <c:v>North Country</c:v>
                  </c:pt>
                  <c:pt idx="1">
                    <c:v>Second Harvest Heartland</c:v>
                  </c:pt>
                  <c:pt idx="2">
                    <c:v>Channel One</c:v>
                  </c:pt>
                  <c:pt idx="3">
                    <c:v>Second Harvest Northland</c:v>
                  </c:pt>
                </c:lvl>
              </c:multiLvlStrCache>
            </c:multiLvlStrRef>
          </c:cat>
          <c:val>
            <c:numRef>
              <c:f>Sheet1!$B$2:$B$5</c:f>
              <c:numCache>
                <c:formatCode>General</c:formatCode>
                <c:ptCount val="4"/>
                <c:pt idx="0">
                  <c:v>0.82</c:v>
                </c:pt>
                <c:pt idx="1">
                  <c:v>0.91</c:v>
                </c:pt>
                <c:pt idx="2">
                  <c:v>1.12</c:v>
                </c:pt>
                <c:pt idx="3">
                  <c:v>1.3</c:v>
                </c:pt>
              </c:numCache>
            </c:numRef>
          </c:val>
        </c:ser>
        <c:dLbls>
          <c:numFmt formatCode="0.00&quot;×&quot;"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3E5E8"/>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1200" b="0" i="0" u="none" strike="noStrike">
                <a:solidFill>
                  <a:srgbClr val="5F6670"/>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
Question 1 asks whether Feeding America's estimates of food insecurity tell the same story as The Food Group's food shelf data. We compared them for all 87 counties, 2022 to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Short answer: only partly.
On totals they agree, with a correlation of about 0.9. But plain population predicts food shelf activity just as well, so that agreement is mostly county size.
Over time, both went up. Need rose 25%, visits 46%.
But per resident, there's no relationship. Counties with a higher food insecurity rate don't have more food shelf use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Of the three metrics, pounds distributed tracks need best and individuals least. But pounds' lead is small, about 0.02, even though it's consistent every year.
The bigger lesson: whether you adjust for county size matters far more than which metric you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LIVE DEMO]
[Alt+Tab to the map. Tab 1 'Which counties?' opens at 2x]
To find where the relationship breaks down, we compared each county with counties that have a similar number of food-insecure people.
12 counties record at least twice, or half or less, what similar counties record, on at least two metrics, in at least two of three years.
Five record less: Nicollet, Pope, Lac qui Parle, Norman and Roseau. Seven record more, led by Steele at four times expected.
[drag the slider to 3x, then back to 2x]
And this isn't down to the cutoff: Steele, Washington and Rice stay on the list even at three times.
[Alt+Tab back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So why? We tested county characteristics.
Poverty, car access, SNAP participation, rural share: none of them predicted the gaps.
What did is access. The strongest factor is the share of residents whose nearest food shelf is in another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LIVE DEMO]
That's because activity is counted where the food shelf is, not where people live.
[Alt+Tab to the map, press 2 for 'Cross-county', click NICOLLET]
In Nicollet, half the residents are closer to a food shelf in Blue Earth. Nicollet records 0.29 times what's expected; Blue Earth records almost twice.
[click WILKIN]
Wilkin has no food shelf at all, yet the helpline referred six of its nine callers to one.
Nicollet is our clearest case. We don't claim this explains every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LIVE DEMO]
Distance matters too.
[press 3 for 'Distance', tick 'Outline counties with a mobile pantry']
In the lower-than-expected counties, typically a quarter of residents live more than 10 miles from a food shelf, versus 9% elsewhere. And none of those 10 counties has a mobile pantry.
[click COOK]
Cook is just as remote, but most of its visits come from mobile pantries, and it records 2.4 times expected.
The mobile pantry result is suggestive, not proven.
[Alt+Tab back to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Two more things matter.
First, the food bank that supplies a county. North Country counties record less; Channel One and Second Harvest Northland counties record more. Adding this raises how much of the gaps we explain from 22% to 34%. Each food bank covers a region, so this is a lead to explore, not a verdict.
Second, site size. The biggest 'higher' counties have a few very busy sites close to people. Washington averages about 1,750 visits per site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So: where food shelves are matters as much as how much need there is.
We recommend three things: collect client ZIP codes to see cross-county use directly, send mobile pantries to Lac qui Parle, Norman and Roseau, and compare practices across food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1 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515600" cy="457200"/>
          </a:xfrm>
          <a:prstGeom prst="rect">
            <a:avLst/>
          </a:prstGeom>
          <a:noFill/>
          <a:ln/>
        </p:spPr>
        <p:txBody>
          <a:bodyPr wrap="square" rtlCol="0"/>
          <a:lstStyle>
            <a:lvl1pPr algn="l" indent="0" marL="0">
              <a:buNone/>
              <a:defRPr lang="en-US" sz="1600" b="1" dirty="0">
                <a:solidFill>
                  <a:srgbClr val="9FC2EE"/>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3" name="Text 0"/>
          <p:cNvSpPr/>
          <p:nvPr>
            <p:ph idx="101" type="title" hasCustomPrompt="1"/>
          </p:nvPr>
        </p:nvSpPr>
        <p:spPr>
          <a:xfrm>
            <a:off x="731520" y="1920240"/>
            <a:ext cx="106984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977640"/>
            <a:ext cx="10058400" cy="1463040"/>
          </a:xfrm>
          <a:prstGeom prst="rect">
            <a:avLst/>
          </a:prstGeom>
          <a:noFill/>
          <a:ln/>
        </p:spPr>
        <p:txBody>
          <a:bodyPr wrap="square" rtlCol="0"/>
          <a:lstStyle>
            <a:lvl1pPr algn="l" indent="0" marL="0">
              <a:buNone/>
              <a:defRPr lang="en-US" sz="2000" dirty="0">
                <a:solidFill>
                  <a:srgbClr val="C9D1DB"/>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1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099"/>
                </a:solidFill>
              </a:rPr>
              <a:t>Q1 · Need vs. food shelf activity</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515600" cy="457200"/>
          </a:xfrm>
          <a:prstGeom prst="rect">
            <a:avLst/>
          </a:prstGeom>
          <a:noFill/>
          <a:ln/>
        </p:spPr>
        <p:txBody>
          <a:bodyPr wrap="square" rtlCol="0"/>
          <a:lstStyle/>
          <a:p>
            <a:pPr algn="l" indent="0" marL="0">
              <a:buNone/>
            </a:pPr>
            <a:r>
              <a:rPr lang="en-US" sz="1600" b="1" dirty="0">
                <a:solidFill>
                  <a:srgbClr val="9FC2EE"/>
                </a:solidFill>
                <a:latin typeface="Calibri" pitchFamily="34" charset="0"/>
                <a:ea typeface="Calibri" pitchFamily="34" charset="-122"/>
                <a:cs typeface="Calibri" pitchFamily="34" charset="-120"/>
              </a:rPr>
              <a:t>QUESTION 1</a:t>
            </a:r>
            <a:endParaRPr lang="en-US" sz="1600" dirty="0"/>
          </a:p>
        </p:txBody>
      </p:sp>
      <p:sp>
        <p:nvSpPr>
          <p:cNvPr id="3" name="Text 0"/>
          <p:cNvSpPr/>
          <p:nvPr>
            <p:ph idx="101" type="title" hasCustomPrompt="1"/>
          </p:nvPr>
        </p:nvSpPr>
        <p:spPr>
          <a:xfrm>
            <a:off x="731520" y="1920240"/>
            <a:ext cx="10698480" cy="1828800"/>
          </a:xfrm>
          <a:prstGeom prst="rect">
            <a:avLst/>
          </a:prstGeom>
          <a:noFill/>
          <a:ln/>
        </p:spPr>
        <p:txBody>
          <a:bodyPr wrap="square" rtlCol="0" anchor="t"/>
          <a:lstStyle/>
          <a:p>
            <a:pPr algn="l" indent="0" marL="0">
              <a:buNone/>
            </a:pPr>
            <a:r>
              <a:rPr lang="en-US" sz="4400" b="1" dirty="0">
                <a:solidFill>
                  <a:schemeClr val="bg1"/>
                </a:solidFill>
              </a:rPr>
              <a:t>Does estimated need match food shelf activity?</a:t>
            </a:r>
            <a:endParaRPr lang="en-US" sz="4400" dirty="0"/>
          </a:p>
        </p:txBody>
      </p:sp>
      <p:sp>
        <p:nvSpPr>
          <p:cNvPr id="4" name="Text 0"/>
          <p:cNvSpPr/>
          <p:nvPr>
            <p:ph idx="102" type="body" hasCustomPrompt="1"/>
          </p:nvPr>
        </p:nvSpPr>
        <p:spPr>
          <a:xfrm>
            <a:off x="731520" y="3977640"/>
            <a:ext cx="10058400" cy="1463040"/>
          </a:xfrm>
          <a:prstGeom prst="rect">
            <a:avLst/>
          </a:prstGeom>
          <a:noFill/>
          <a:ln/>
        </p:spPr>
        <p:txBody>
          <a:bodyPr wrap="square" rtlCol="0" anchor="t"/>
          <a:lstStyle/>
          <a:p>
            <a:pPr algn="l" indent="0" marL="0">
              <a:buNone/>
            </a:pPr>
            <a:r>
              <a:rPr lang="en-US" sz="2000" dirty="0">
                <a:solidFill>
                  <a:srgbClr val="C9D1DB"/>
                </a:solidFill>
              </a:rPr>
              <a:t>Feeding America's Map the Meal Gap vs. The Food Group's food shelf reports · 87 counties · 2022–2024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Same story? Only partly</a:t>
            </a:r>
            <a:endParaRPr lang="en-US" sz="3200" dirty="0"/>
          </a:p>
        </p:txBody>
      </p:sp>
      <p:graphicFrame>
        <p:nvGraphicFramePr>
          <p:cNvPr id="3" name="index chart" descr=""/>
          <p:cNvGraphicFramePr/>
          <p:nvPr/>
        </p:nvGraphicFramePr>
        <p:xfrm>
          <a:off x="548640" y="137160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verdict 1 mark"/>
          <p:cNvSpPr/>
          <p:nvPr/>
        </p:nvSpPr>
        <p:spPr>
          <a:xfrm>
            <a:off x="7086600" y="1600200"/>
            <a:ext cx="731520" cy="731520"/>
          </a:xfrm>
          <a:prstGeom prst="ellipse">
            <a:avLst/>
          </a:prstGeom>
          <a:solidFill>
            <a:schemeClr val="accent3"/>
          </a:solidFill>
          <a:ln/>
        </p:spPr>
      </p:sp>
      <p:sp>
        <p:nvSpPr>
          <p:cNvPr id="5" name="verdict 1 symbol"/>
          <p:cNvSpPr txBox="1"/>
          <p:nvPr/>
        </p:nvSpPr>
        <p:spPr>
          <a:xfrm>
            <a:off x="7086600" y="160020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libri" pitchFamily="34" charset="0"/>
                <a:ea typeface="Calibri" pitchFamily="34" charset="-122"/>
                <a:cs typeface="Calibri" pitchFamily="34" charset="-120"/>
              </a:rPr>
              <a:t>✓</a:t>
            </a:r>
            <a:endParaRPr lang="en-US" sz="2800" dirty="0"/>
          </a:p>
        </p:txBody>
      </p:sp>
      <p:sp>
        <p:nvSpPr>
          <p:cNvPr id="6" name="verdict 1 head"/>
          <p:cNvSpPr txBox="1"/>
          <p:nvPr/>
        </p:nvSpPr>
        <p:spPr>
          <a:xfrm>
            <a:off x="8046720" y="1554480"/>
            <a:ext cx="3657600"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County size</a:t>
            </a:r>
            <a:endParaRPr lang="en-US" sz="2200" dirty="0"/>
          </a:p>
        </p:txBody>
      </p:sp>
      <p:sp>
        <p:nvSpPr>
          <p:cNvPr id="7" name="verdict 1 sub"/>
          <p:cNvSpPr txBox="1"/>
          <p:nvPr/>
        </p:nvSpPr>
        <p:spPr>
          <a:xfrm>
            <a:off x="8046720" y="2011680"/>
            <a:ext cx="3657600" cy="548640"/>
          </a:xfrm>
          <a:prstGeom prst="rect">
            <a:avLst/>
          </a:prstGeom>
          <a:noFill/>
          <a:ln/>
        </p:spPr>
        <p:txBody>
          <a:bodyPr wrap="square" lIns="0" tIns="0" rIns="0" bIns="0" rtlCol="0" anchor="ctr"/>
          <a:lstStyle/>
          <a:p>
            <a:pPr indent="0" marL="0">
              <a:buNone/>
            </a:pPr>
            <a:r>
              <a:rPr lang="en-US" sz="1500" dirty="0">
                <a:solidFill>
                  <a:srgbClr val="5F6670"/>
                </a:solidFill>
                <a:latin typeface="Calibri" pitchFamily="34" charset="0"/>
                <a:ea typeface="Calibri" pitchFamily="34" charset="-122"/>
                <a:cs typeface="Calibri" pitchFamily="34" charset="-120"/>
              </a:rPr>
              <a:t>ρ ≈ 0.9, but population alone does as well</a:t>
            </a:r>
            <a:endParaRPr lang="en-US" sz="1500" dirty="0"/>
          </a:p>
        </p:txBody>
      </p:sp>
      <p:sp>
        <p:nvSpPr>
          <p:cNvPr id="8" name="verdict 2 mark"/>
          <p:cNvSpPr/>
          <p:nvPr/>
        </p:nvSpPr>
        <p:spPr>
          <a:xfrm>
            <a:off x="7086600" y="3063240"/>
            <a:ext cx="731520" cy="731520"/>
          </a:xfrm>
          <a:prstGeom prst="ellipse">
            <a:avLst/>
          </a:prstGeom>
          <a:solidFill>
            <a:schemeClr val="accent3"/>
          </a:solidFill>
          <a:ln/>
        </p:spPr>
      </p:sp>
      <p:sp>
        <p:nvSpPr>
          <p:cNvPr id="9" name="verdict 2 symbol"/>
          <p:cNvSpPr txBox="1"/>
          <p:nvPr/>
        </p:nvSpPr>
        <p:spPr>
          <a:xfrm>
            <a:off x="7086600" y="306324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libri" pitchFamily="34" charset="0"/>
                <a:ea typeface="Calibri" pitchFamily="34" charset="-122"/>
                <a:cs typeface="Calibri" pitchFamily="34" charset="-120"/>
              </a:rPr>
              <a:t>✓</a:t>
            </a:r>
            <a:endParaRPr lang="en-US" sz="2800" dirty="0"/>
          </a:p>
        </p:txBody>
      </p:sp>
      <p:sp>
        <p:nvSpPr>
          <p:cNvPr id="10" name="verdict 2 head"/>
          <p:cNvSpPr txBox="1"/>
          <p:nvPr/>
        </p:nvSpPr>
        <p:spPr>
          <a:xfrm>
            <a:off x="8046720" y="3017520"/>
            <a:ext cx="3657600"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Direction over time</a:t>
            </a:r>
            <a:endParaRPr lang="en-US" sz="2200" dirty="0"/>
          </a:p>
        </p:txBody>
      </p:sp>
      <p:sp>
        <p:nvSpPr>
          <p:cNvPr id="11" name="verdict 2 sub"/>
          <p:cNvSpPr txBox="1"/>
          <p:nvPr/>
        </p:nvSpPr>
        <p:spPr>
          <a:xfrm>
            <a:off x="8046720" y="3474720"/>
            <a:ext cx="3657600" cy="548640"/>
          </a:xfrm>
          <a:prstGeom prst="rect">
            <a:avLst/>
          </a:prstGeom>
          <a:noFill/>
          <a:ln/>
        </p:spPr>
        <p:txBody>
          <a:bodyPr wrap="square" lIns="0" tIns="0" rIns="0" bIns="0" rtlCol="0" anchor="ctr"/>
          <a:lstStyle/>
          <a:p>
            <a:pPr indent="0" marL="0">
              <a:buNone/>
            </a:pPr>
            <a:r>
              <a:rPr lang="en-US" sz="1500" dirty="0">
                <a:solidFill>
                  <a:srgbClr val="5F6670"/>
                </a:solidFill>
                <a:latin typeface="Calibri" pitchFamily="34" charset="0"/>
                <a:ea typeface="Calibri" pitchFamily="34" charset="-122"/>
                <a:cs typeface="Calibri" pitchFamily="34" charset="-120"/>
              </a:rPr>
              <a:t>Need +25%, visits +46%</a:t>
            </a:r>
            <a:endParaRPr lang="en-US" sz="1500" dirty="0"/>
          </a:p>
        </p:txBody>
      </p:sp>
      <p:sp>
        <p:nvSpPr>
          <p:cNvPr id="12" name="verdict 3 mark"/>
          <p:cNvSpPr/>
          <p:nvPr/>
        </p:nvSpPr>
        <p:spPr>
          <a:xfrm>
            <a:off x="7086600" y="4526280"/>
            <a:ext cx="731520" cy="731520"/>
          </a:xfrm>
          <a:prstGeom prst="ellipse">
            <a:avLst/>
          </a:prstGeom>
          <a:solidFill>
            <a:schemeClr val="accent2"/>
          </a:solidFill>
          <a:ln/>
        </p:spPr>
      </p:sp>
      <p:sp>
        <p:nvSpPr>
          <p:cNvPr id="13" name="verdict 3 symbol"/>
          <p:cNvSpPr txBox="1"/>
          <p:nvPr/>
        </p:nvSpPr>
        <p:spPr>
          <a:xfrm>
            <a:off x="7086600" y="45262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libri" pitchFamily="34" charset="0"/>
                <a:ea typeface="Calibri" pitchFamily="34" charset="-122"/>
                <a:cs typeface="Calibri" pitchFamily="34" charset="-120"/>
              </a:rPr>
              <a:t>✗</a:t>
            </a:r>
            <a:endParaRPr lang="en-US" sz="2800" dirty="0"/>
          </a:p>
        </p:txBody>
      </p:sp>
      <p:sp>
        <p:nvSpPr>
          <p:cNvPr id="14" name="verdict 3 head"/>
          <p:cNvSpPr txBox="1"/>
          <p:nvPr/>
        </p:nvSpPr>
        <p:spPr>
          <a:xfrm>
            <a:off x="8046720" y="4480560"/>
            <a:ext cx="3657600"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Per resident</a:t>
            </a:r>
            <a:endParaRPr lang="en-US" sz="2200" dirty="0"/>
          </a:p>
        </p:txBody>
      </p:sp>
      <p:sp>
        <p:nvSpPr>
          <p:cNvPr id="15" name="verdict 3 sub"/>
          <p:cNvSpPr txBox="1"/>
          <p:nvPr/>
        </p:nvSpPr>
        <p:spPr>
          <a:xfrm>
            <a:off x="8046720" y="4937760"/>
            <a:ext cx="3657600" cy="548640"/>
          </a:xfrm>
          <a:prstGeom prst="rect">
            <a:avLst/>
          </a:prstGeom>
          <a:noFill/>
          <a:ln/>
        </p:spPr>
        <p:txBody>
          <a:bodyPr wrap="square" lIns="0" tIns="0" rIns="0" bIns="0" rtlCol="0" anchor="ctr"/>
          <a:lstStyle/>
          <a:p>
            <a:pPr indent="0" marL="0">
              <a:buNone/>
            </a:pPr>
            <a:r>
              <a:rPr lang="en-US" sz="1500" dirty="0">
                <a:solidFill>
                  <a:srgbClr val="5F6670"/>
                </a:solidFill>
                <a:latin typeface="Calibri" pitchFamily="34" charset="0"/>
                <a:ea typeface="Calibri" pitchFamily="34" charset="-122"/>
                <a:cs typeface="Calibri" pitchFamily="34" charset="-120"/>
              </a:rPr>
              <a:t>Higher need rate ≠ more visits (ρ ≈ 0)</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Pounds tracks need best, by a small margin</a:t>
            </a:r>
            <a:endParaRPr lang="en-US" sz="3200" dirty="0"/>
          </a:p>
        </p:txBody>
      </p:sp>
      <p:graphicFrame>
        <p:nvGraphicFramePr>
          <p:cNvPr id="3" name="metric 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pounds lead card"/>
          <p:cNvSpPr/>
          <p:nvPr/>
        </p:nvSpPr>
        <p:spPr>
          <a:xfrm>
            <a:off x="8001000" y="1600200"/>
            <a:ext cx="3611880" cy="2057400"/>
          </a:xfrm>
          <a:prstGeom prst="roundRect">
            <a:avLst>
              <a:gd name="adj" fmla="val 5333"/>
            </a:avLst>
          </a:prstGeom>
          <a:solidFill>
            <a:schemeClr val="bg2"/>
          </a:solidFill>
          <a:ln/>
        </p:spPr>
      </p:sp>
      <p:sp>
        <p:nvSpPr>
          <p:cNvPr id="5" name="pounds lead number"/>
          <p:cNvSpPr txBox="1"/>
          <p:nvPr/>
        </p:nvSpPr>
        <p:spPr>
          <a:xfrm>
            <a:off x="8275320" y="1783080"/>
            <a:ext cx="3063240" cy="102870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+0.02</a:t>
            </a:r>
            <a:endParaRPr lang="en-US" sz="4000" dirty="0"/>
          </a:p>
        </p:txBody>
      </p:sp>
      <p:sp>
        <p:nvSpPr>
          <p:cNvPr id="6" name="pounds lead label"/>
          <p:cNvSpPr txBox="1"/>
          <p:nvPr/>
        </p:nvSpPr>
        <p:spPr>
          <a:xfrm>
            <a:off x="8275320" y="2811780"/>
            <a:ext cx="3063240" cy="7086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Pounds' lead on totals: consistent every year, but small</a:t>
            </a:r>
            <a:endParaRPr lang="en-US" sz="1500" dirty="0"/>
          </a:p>
        </p:txBody>
      </p:sp>
      <p:sp>
        <p:nvSpPr>
          <p:cNvPr id="7" name="level gap card"/>
          <p:cNvSpPr/>
          <p:nvPr/>
        </p:nvSpPr>
        <p:spPr>
          <a:xfrm>
            <a:off x="8001000" y="3931920"/>
            <a:ext cx="3611880" cy="2057400"/>
          </a:xfrm>
          <a:prstGeom prst="roundRect">
            <a:avLst>
              <a:gd name="adj" fmla="val 5333"/>
            </a:avLst>
          </a:prstGeom>
          <a:solidFill>
            <a:schemeClr val="bg2"/>
          </a:solidFill>
          <a:ln/>
        </p:spPr>
      </p:sp>
      <p:sp>
        <p:nvSpPr>
          <p:cNvPr id="8" name="level gap number"/>
          <p:cNvSpPr txBox="1"/>
          <p:nvPr/>
        </p:nvSpPr>
        <p:spPr>
          <a:xfrm>
            <a:off x="8275320" y="4114800"/>
            <a:ext cx="3063240" cy="1028700"/>
          </a:xfrm>
          <a:prstGeom prst="rect">
            <a:avLst/>
          </a:prstGeom>
          <a:noFill/>
          <a:ln/>
        </p:spPr>
        <p:txBody>
          <a:bodyPr wrap="square" lIns="0" tIns="0" rIns="0" bIns="0" rtlCol="0" anchor="b"/>
          <a:lstStyle/>
          <a:p>
            <a:pPr indent="0" marL="0">
              <a:buNone/>
            </a:pPr>
            <a:r>
              <a:rPr lang="en-US" sz="4000" b="1" dirty="0">
                <a:solidFill>
                  <a:schemeClr val="accent2"/>
                </a:solidFill>
                <a:latin typeface="Arial" pitchFamily="34" charset="0"/>
                <a:ea typeface="Arial" pitchFamily="34" charset="-122"/>
                <a:cs typeface="Arial" pitchFamily="34" charset="-120"/>
              </a:rPr>
              <a:t>0.9 → 0.1</a:t>
            </a:r>
            <a:endParaRPr lang="en-US" sz="4000" dirty="0"/>
          </a:p>
        </p:txBody>
      </p:sp>
      <p:sp>
        <p:nvSpPr>
          <p:cNvPr id="9" name="level gap label"/>
          <p:cNvSpPr txBox="1"/>
          <p:nvPr/>
        </p:nvSpPr>
        <p:spPr>
          <a:xfrm>
            <a:off x="8275320" y="5143500"/>
            <a:ext cx="3063240" cy="7086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Totals vs. per resident: the real gap</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12 counties break the pattern</a:t>
            </a:r>
            <a:endParaRPr lang="en-US" sz="3200" dirty="0"/>
          </a:p>
        </p:txBody>
      </p:sp>
      <p:graphicFrame>
        <p:nvGraphicFramePr>
          <p:cNvPr id="3" name="shortlist chart" descr=""/>
          <p:cNvGraphicFramePr/>
          <p:nvPr/>
        </p:nvGraphicFramePr>
        <p:xfrm>
          <a:off x="548640" y="1325880"/>
          <a:ext cx="7223760" cy="4892040"/>
        </p:xfrm>
        <a:graphic xmlns:a="http://schemas.openxmlformats.org/drawingml/2006/main">
          <a:graphicData uri="http://schemas.openxmlformats.org/drawingml/2006/chart">
            <c:chart xmlns:c="http://schemas.openxmlformats.org/drawingml/2006/chart" r:id="rId1"/>
          </a:graphicData>
        </a:graphic>
      </p:graphicFrame>
      <p:sp>
        <p:nvSpPr>
          <p:cNvPr id="4" name="axis hint lower"/>
          <p:cNvSpPr txBox="1"/>
          <p:nvPr/>
        </p:nvSpPr>
        <p:spPr>
          <a:xfrm>
            <a:off x="1737360" y="5989320"/>
            <a:ext cx="274320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 less than expected</a:t>
            </a:r>
            <a:endParaRPr lang="en-US" sz="1200" dirty="0"/>
          </a:p>
        </p:txBody>
      </p:sp>
      <p:sp>
        <p:nvSpPr>
          <p:cNvPr id="5" name="axis hint higher"/>
          <p:cNvSpPr txBox="1"/>
          <p:nvPr/>
        </p:nvSpPr>
        <p:spPr>
          <a:xfrm>
            <a:off x="5029200" y="5989320"/>
            <a:ext cx="2651760" cy="274320"/>
          </a:xfrm>
          <a:prstGeom prst="rect">
            <a:avLst/>
          </a:prstGeom>
          <a:noFill/>
          <a:ln/>
        </p:spPr>
        <p:txBody>
          <a:bodyPr wrap="square" lIns="0" tIns="0" rIns="0" bIns="0" rtlCol="0" anchor="ctr"/>
          <a:lstStyle/>
          <a:p>
            <a:pPr algn="r" indent="0" marL="0">
              <a:buNone/>
            </a:pPr>
            <a:r>
              <a:rPr lang="en-US" sz="1200" b="1" dirty="0">
                <a:solidFill>
                  <a:srgbClr val="2A78D6"/>
                </a:solidFill>
                <a:latin typeface="Calibri" pitchFamily="34" charset="0"/>
                <a:ea typeface="Calibri" pitchFamily="34" charset="-122"/>
                <a:cs typeface="Calibri" pitchFamily="34" charset="-120"/>
              </a:rPr>
              <a:t>more than expected →</a:t>
            </a:r>
            <a:endParaRPr lang="en-US" sz="1200" dirty="0"/>
          </a:p>
        </p:txBody>
      </p:sp>
      <p:sp>
        <p:nvSpPr>
          <p:cNvPr id="6" name="live map tag"/>
          <p:cNvSpPr/>
          <p:nvPr/>
        </p:nvSpPr>
        <p:spPr>
          <a:xfrm>
            <a:off x="10104120" y="530352"/>
            <a:ext cx="1508760" cy="438912"/>
          </a:xfrm>
          <a:prstGeom prst="roundRect">
            <a:avLst>
              <a:gd name="adj" fmla="val 50000"/>
            </a:avLst>
          </a:prstGeom>
          <a:solidFill>
            <a:schemeClr val="tx1"/>
          </a:solidFill>
          <a:ln/>
        </p:spPr>
      </p:sp>
      <p:sp>
        <p:nvSpPr>
          <p:cNvPr id="7" name="live map tag text"/>
          <p:cNvSpPr txBox="1"/>
          <p:nvPr/>
        </p:nvSpPr>
        <p:spPr>
          <a:xfrm>
            <a:off x="10104120" y="530352"/>
            <a:ext cx="1508760" cy="438912"/>
          </a:xfrm>
          <a:prstGeom prst="rect">
            <a:avLst/>
          </a:prstGeom>
          <a:noFill/>
          <a:ln/>
        </p:spPr>
        <p:txBody>
          <a:bodyPr wrap="square" lIns="0" tIns="0" rIns="0" bIns="0" rtlCol="0" anchor="ctr"/>
          <a:lstStyle/>
          <a:p>
            <a:pPr algn="ctr" indent="0" marL="0">
              <a:buNone/>
            </a:pPr>
            <a:r>
              <a:rPr lang="en-US" sz="1300" b="1" spc="200" kern="0" dirty="0">
                <a:solidFill>
                  <a:schemeClr val="bg1"/>
                </a:solidFill>
                <a:latin typeface="Calibri" pitchFamily="34" charset="0"/>
                <a:ea typeface="Calibri" pitchFamily="34" charset="-122"/>
                <a:cs typeface="Calibri" pitchFamily="34" charset="-120"/>
              </a:rPr>
              <a:t>LIVE MAP</a:t>
            </a:r>
            <a:endParaRPr lang="en-US" sz="1300" dirty="0"/>
          </a:p>
        </p:txBody>
      </p:sp>
      <p:sp>
        <p:nvSpPr>
          <p:cNvPr id="8" name="rule card"/>
          <p:cNvSpPr/>
          <p:nvPr/>
        </p:nvSpPr>
        <p:spPr>
          <a:xfrm>
            <a:off x="8138160" y="1463040"/>
            <a:ext cx="3474720" cy="1965960"/>
          </a:xfrm>
          <a:prstGeom prst="roundRect">
            <a:avLst>
              <a:gd name="adj" fmla="val 5581"/>
            </a:avLst>
          </a:prstGeom>
          <a:solidFill>
            <a:schemeClr val="bg2"/>
          </a:solidFill>
          <a:ln/>
        </p:spPr>
      </p:sp>
      <p:sp>
        <p:nvSpPr>
          <p:cNvPr id="9" name="rule number"/>
          <p:cNvSpPr txBox="1"/>
          <p:nvPr/>
        </p:nvSpPr>
        <p:spPr>
          <a:xfrm>
            <a:off x="8412480" y="1645920"/>
            <a:ext cx="2926080" cy="98298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≥2× or ≤½</a:t>
            </a:r>
            <a:endParaRPr lang="en-US" sz="4000" dirty="0"/>
          </a:p>
        </p:txBody>
      </p:sp>
      <p:sp>
        <p:nvSpPr>
          <p:cNvPr id="10" name="rule label"/>
          <p:cNvSpPr txBox="1"/>
          <p:nvPr/>
        </p:nvSpPr>
        <p:spPr>
          <a:xfrm>
            <a:off x="8412480" y="2628900"/>
            <a:ext cx="2926080" cy="66294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of what similar-need counties record</a:t>
            </a:r>
            <a:endParaRPr lang="en-US" sz="1500" dirty="0"/>
          </a:p>
        </p:txBody>
      </p:sp>
      <p:sp>
        <p:nvSpPr>
          <p:cNvPr id="11" name="checks card"/>
          <p:cNvSpPr/>
          <p:nvPr/>
        </p:nvSpPr>
        <p:spPr>
          <a:xfrm>
            <a:off x="8138160" y="3657600"/>
            <a:ext cx="3474720" cy="1965960"/>
          </a:xfrm>
          <a:prstGeom prst="roundRect">
            <a:avLst>
              <a:gd name="adj" fmla="val 5581"/>
            </a:avLst>
          </a:prstGeom>
          <a:solidFill>
            <a:schemeClr val="bg2"/>
          </a:solidFill>
          <a:ln/>
        </p:spPr>
      </p:sp>
      <p:sp>
        <p:nvSpPr>
          <p:cNvPr id="12" name="checks number"/>
          <p:cNvSpPr txBox="1"/>
          <p:nvPr/>
        </p:nvSpPr>
        <p:spPr>
          <a:xfrm>
            <a:off x="8412480" y="3840480"/>
            <a:ext cx="2926080" cy="98298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2+ metrics</a:t>
            </a:r>
            <a:endParaRPr lang="en-US" sz="4000" dirty="0"/>
          </a:p>
        </p:txBody>
      </p:sp>
      <p:sp>
        <p:nvSpPr>
          <p:cNvPr id="13" name="checks label"/>
          <p:cNvSpPr txBox="1"/>
          <p:nvPr/>
        </p:nvSpPr>
        <p:spPr>
          <a:xfrm>
            <a:off x="8412480" y="4823460"/>
            <a:ext cx="2926080" cy="66294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in 2+ of 3 years, checked two ways, fully reported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Access explains the gaps. Hardship doesn't</a:t>
            </a:r>
            <a:endParaRPr lang="en-US" sz="3200" dirty="0"/>
          </a:p>
        </p:txBody>
      </p:sp>
      <p:graphicFrame>
        <p:nvGraphicFramePr>
          <p:cNvPr id="3" name="factor chart" descr=""/>
          <p:cNvGraphicFramePr/>
          <p:nvPr/>
        </p:nvGraphicFramePr>
        <p:xfrm>
          <a:off x="548640" y="1325880"/>
          <a:ext cx="7315200" cy="4892040"/>
        </p:xfrm>
        <a:graphic xmlns:a="http://schemas.openxmlformats.org/drawingml/2006/main">
          <a:graphicData uri="http://schemas.openxmlformats.org/drawingml/2006/chart">
            <c:chart xmlns:c="http://schemas.openxmlformats.org/drawingml/2006/chart" r:id="rId1"/>
          </a:graphicData>
        </a:graphic>
      </p:graphicFrame>
      <p:sp>
        <p:nvSpPr>
          <p:cNvPr id="4" name="strongest factor card"/>
          <p:cNvSpPr/>
          <p:nvPr/>
        </p:nvSpPr>
        <p:spPr>
          <a:xfrm>
            <a:off x="8229600" y="1463040"/>
            <a:ext cx="3383280" cy="1965960"/>
          </a:xfrm>
          <a:prstGeom prst="roundRect">
            <a:avLst>
              <a:gd name="adj" fmla="val 5581"/>
            </a:avLst>
          </a:prstGeom>
          <a:solidFill>
            <a:schemeClr val="bg2"/>
          </a:solidFill>
          <a:ln/>
        </p:spPr>
      </p:sp>
      <p:sp>
        <p:nvSpPr>
          <p:cNvPr id="5" name="strongest factor number"/>
          <p:cNvSpPr txBox="1"/>
          <p:nvPr/>
        </p:nvSpPr>
        <p:spPr>
          <a:xfrm>
            <a:off x="8503920" y="1645920"/>
            <a:ext cx="2834640" cy="98298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ρ = −0.33</a:t>
            </a:r>
            <a:endParaRPr lang="en-US" sz="4000" dirty="0"/>
          </a:p>
        </p:txBody>
      </p:sp>
      <p:sp>
        <p:nvSpPr>
          <p:cNvPr id="6" name="strongest factor label"/>
          <p:cNvSpPr txBox="1"/>
          <p:nvPr/>
        </p:nvSpPr>
        <p:spPr>
          <a:xfrm>
            <a:off x="8503920" y="2628900"/>
            <a:ext cx="2834640" cy="66294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nearest food shelf across the line · p = 0.002</a:t>
            </a:r>
            <a:endParaRPr lang="en-US" sz="1500" dirty="0"/>
          </a:p>
        </p:txBody>
      </p:sp>
      <p:sp>
        <p:nvSpPr>
          <p:cNvPr id="7" name="hardship card"/>
          <p:cNvSpPr/>
          <p:nvPr/>
        </p:nvSpPr>
        <p:spPr>
          <a:xfrm>
            <a:off x="8229600" y="3657600"/>
            <a:ext cx="3383280" cy="1965960"/>
          </a:xfrm>
          <a:prstGeom prst="roundRect">
            <a:avLst>
              <a:gd name="adj" fmla="val 5581"/>
            </a:avLst>
          </a:prstGeom>
          <a:solidFill>
            <a:schemeClr val="bg2"/>
          </a:solidFill>
          <a:ln/>
        </p:spPr>
      </p:sp>
      <p:sp>
        <p:nvSpPr>
          <p:cNvPr id="8" name="hardship number"/>
          <p:cNvSpPr txBox="1"/>
          <p:nvPr/>
        </p:nvSpPr>
        <p:spPr>
          <a:xfrm>
            <a:off x="8503920" y="3840480"/>
            <a:ext cx="2834640" cy="982980"/>
          </a:xfrm>
          <a:prstGeom prst="rect">
            <a:avLst/>
          </a:prstGeom>
          <a:noFill/>
          <a:ln/>
        </p:spPr>
        <p:txBody>
          <a:bodyPr wrap="square" lIns="0" tIns="0" rIns="0" bIns="0" rtlCol="0" anchor="b"/>
          <a:lstStyle/>
          <a:p>
            <a:pPr indent="0" marL="0">
              <a:buNone/>
            </a:pPr>
            <a:r>
              <a:rPr lang="en-US" sz="4000" b="1" dirty="0">
                <a:solidFill>
                  <a:schemeClr val="accent2"/>
                </a:solidFill>
                <a:latin typeface="Arial" pitchFamily="34" charset="0"/>
                <a:ea typeface="Arial" pitchFamily="34" charset="-122"/>
                <a:cs typeface="Arial" pitchFamily="34" charset="-120"/>
              </a:rPr>
              <a:t>None</a:t>
            </a:r>
            <a:endParaRPr lang="en-US" sz="4000" dirty="0"/>
          </a:p>
        </p:txBody>
      </p:sp>
      <p:sp>
        <p:nvSpPr>
          <p:cNvPr id="9" name="hardship label"/>
          <p:cNvSpPr txBox="1"/>
          <p:nvPr/>
        </p:nvSpPr>
        <p:spPr>
          <a:xfrm>
            <a:off x="8503920" y="4823460"/>
            <a:ext cx="2834640" cy="66294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of the hardship measures (poverty, no car, SNAP) predicted the gaps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Activity is counted where the food shelf is</a:t>
            </a:r>
            <a:endParaRPr lang="en-US" sz="3200" dirty="0"/>
          </a:p>
        </p:txBody>
      </p:sp>
      <p:pic>
        <p:nvPicPr>
          <p:cNvPr id="3" name="Nicollet map" descr="Map zoomed on Nicollet with an arrow to Blue Earth (49%)">    </p:cNvPr>
          <p:cNvPicPr>
            <a:picLocks noChangeAspect="1"/>
          </p:cNvPicPr>
          <p:nvPr/>
        </p:nvPicPr>
        <p:blipFill>
          <a:blip r:embed="rId1"/>
          <a:stretch>
            <a:fillRect/>
          </a:stretch>
        </p:blipFill>
        <p:spPr>
          <a:xfrm>
            <a:off x="548640" y="1371600"/>
            <a:ext cx="6172200" cy="4764762"/>
          </a:xfrm>
          <a:prstGeom prst="rect">
            <a:avLst/>
          </a:prstGeom>
        </p:spPr>
      </p:pic>
      <p:sp>
        <p:nvSpPr>
          <p:cNvPr id="4" name="live map tag"/>
          <p:cNvSpPr/>
          <p:nvPr/>
        </p:nvSpPr>
        <p:spPr>
          <a:xfrm>
            <a:off x="731520" y="1554480"/>
            <a:ext cx="1508760" cy="438912"/>
          </a:xfrm>
          <a:prstGeom prst="roundRect">
            <a:avLst>
              <a:gd name="adj" fmla="val 50000"/>
            </a:avLst>
          </a:prstGeom>
          <a:solidFill>
            <a:schemeClr val="tx1"/>
          </a:solidFill>
          <a:ln/>
        </p:spPr>
      </p:sp>
      <p:sp>
        <p:nvSpPr>
          <p:cNvPr id="5" name="live map tag text"/>
          <p:cNvSpPr txBox="1"/>
          <p:nvPr/>
        </p:nvSpPr>
        <p:spPr>
          <a:xfrm>
            <a:off x="731520" y="1554480"/>
            <a:ext cx="1508760" cy="438912"/>
          </a:xfrm>
          <a:prstGeom prst="rect">
            <a:avLst/>
          </a:prstGeom>
          <a:noFill/>
          <a:ln/>
        </p:spPr>
        <p:txBody>
          <a:bodyPr wrap="square" lIns="0" tIns="0" rIns="0" bIns="0" rtlCol="0" anchor="ctr"/>
          <a:lstStyle/>
          <a:p>
            <a:pPr algn="ctr" indent="0" marL="0">
              <a:buNone/>
            </a:pPr>
            <a:r>
              <a:rPr lang="en-US" sz="1300" b="1" spc="200" kern="0" dirty="0">
                <a:solidFill>
                  <a:schemeClr val="bg1"/>
                </a:solidFill>
                <a:latin typeface="Calibri" pitchFamily="34" charset="0"/>
                <a:ea typeface="Calibri" pitchFamily="34" charset="-122"/>
                <a:cs typeface="Calibri" pitchFamily="34" charset="-120"/>
              </a:rPr>
              <a:t>LIVE MAP</a:t>
            </a:r>
            <a:endParaRPr lang="en-US" sz="1300" dirty="0"/>
          </a:p>
        </p:txBody>
      </p:sp>
      <p:sp>
        <p:nvSpPr>
          <p:cNvPr id="6" name="nicollet share card"/>
          <p:cNvSpPr/>
          <p:nvPr/>
        </p:nvSpPr>
        <p:spPr>
          <a:xfrm>
            <a:off x="7178040" y="1371600"/>
            <a:ext cx="4434840" cy="2331720"/>
          </a:xfrm>
          <a:prstGeom prst="roundRect">
            <a:avLst>
              <a:gd name="adj" fmla="val 4706"/>
            </a:avLst>
          </a:prstGeom>
          <a:solidFill>
            <a:schemeClr val="bg2"/>
          </a:solidFill>
          <a:ln/>
        </p:spPr>
      </p:sp>
      <p:sp>
        <p:nvSpPr>
          <p:cNvPr id="7" name="nicollet share number"/>
          <p:cNvSpPr txBox="1"/>
          <p:nvPr/>
        </p:nvSpPr>
        <p:spPr>
          <a:xfrm>
            <a:off x="7452360" y="1554480"/>
            <a:ext cx="3886200" cy="116586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49%</a:t>
            </a:r>
            <a:endParaRPr lang="en-US" sz="4000" dirty="0"/>
          </a:p>
        </p:txBody>
      </p:sp>
      <p:sp>
        <p:nvSpPr>
          <p:cNvPr id="8" name="nicollet share label"/>
          <p:cNvSpPr txBox="1"/>
          <p:nvPr/>
        </p:nvSpPr>
        <p:spPr>
          <a:xfrm>
            <a:off x="7452360" y="2720340"/>
            <a:ext cx="3886200" cy="84582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of Nicollet residents are closer to a Blue Earth food shelf</a:t>
            </a:r>
            <a:endParaRPr lang="en-US" sz="1500" dirty="0"/>
          </a:p>
        </p:txBody>
      </p:sp>
      <p:sp>
        <p:nvSpPr>
          <p:cNvPr id="9" name="nicollet comparison"/>
          <p:cNvSpPr txBox="1"/>
          <p:nvPr/>
        </p:nvSpPr>
        <p:spPr>
          <a:xfrm>
            <a:off x="7452360" y="3886200"/>
            <a:ext cx="4114800" cy="457200"/>
          </a:xfrm>
          <a:prstGeom prst="rect">
            <a:avLst/>
          </a:prstGeom>
          <a:noFill/>
          <a:ln/>
        </p:spPr>
        <p:txBody>
          <a:bodyPr wrap="square" lIns="0" tIns="0" rIns="0" bIns="0" rtlCol="0" anchor="ctr"/>
          <a:lstStyle/>
          <a:p>
            <a:pPr indent="0" marL="0">
              <a:buNone/>
            </a:pPr>
            <a:r>
              <a:rPr lang="en-US" sz="1800" dirty="0">
                <a:solidFill>
                  <a:srgbClr val="1B2430"/>
                </a:solidFill>
                <a:latin typeface="Calibri" pitchFamily="34" charset="0"/>
                <a:ea typeface="Calibri" pitchFamily="34" charset="-122"/>
                <a:cs typeface="Calibri" pitchFamily="34" charset="-120"/>
              </a:rPr>
              <a:t>Nicollet </a:t>
            </a:r>
            <a:pPr indent="0" marL="0">
              <a:buNone/>
            </a:pPr>
            <a:r>
              <a:rPr lang="en-US" sz="1800" b="1" dirty="0">
                <a:solidFill>
                  <a:srgbClr val="EB6834"/>
                </a:solidFill>
                <a:latin typeface="Calibri" pitchFamily="34" charset="0"/>
                <a:ea typeface="Calibri" pitchFamily="34" charset="-122"/>
                <a:cs typeface="Calibri" pitchFamily="34" charset="-120"/>
              </a:rPr>
              <a:t>0.29×</a:t>
            </a:r>
            <a:pPr indent="0" marL="0">
              <a:buNone/>
            </a:pPr>
            <a:r>
              <a:rPr lang="en-US" sz="1800" dirty="0">
                <a:solidFill>
                  <a:srgbClr val="1B2430"/>
                </a:solidFill>
                <a:latin typeface="Calibri" pitchFamily="34" charset="0"/>
                <a:ea typeface="Calibri" pitchFamily="34" charset="-122"/>
                <a:cs typeface="Calibri" pitchFamily="34" charset="-120"/>
              </a:rPr>
              <a:t>   →   Blue Earth </a:t>
            </a:r>
            <a:pPr indent="0" marL="0">
              <a:buNone/>
            </a:pPr>
            <a:r>
              <a:rPr lang="en-US" sz="1800" b="1" dirty="0">
                <a:solidFill>
                  <a:srgbClr val="2A78D6"/>
                </a:solidFill>
                <a:latin typeface="Calibri" pitchFamily="34" charset="0"/>
                <a:ea typeface="Calibri" pitchFamily="34" charset="-122"/>
                <a:cs typeface="Calibri" pitchFamily="34" charset="-120"/>
              </a:rPr>
              <a:t>1.89×</a:t>
            </a:r>
            <a:endParaRPr lang="en-US" sz="1800" dirty="0"/>
          </a:p>
        </p:txBody>
      </p:sp>
      <p:sp>
        <p:nvSpPr>
          <p:cNvPr id="10" name="wilkin card"/>
          <p:cNvSpPr/>
          <p:nvPr/>
        </p:nvSpPr>
        <p:spPr>
          <a:xfrm>
            <a:off x="7178040" y="4526280"/>
            <a:ext cx="4434840" cy="1691640"/>
          </a:xfrm>
          <a:prstGeom prst="roundRect">
            <a:avLst>
              <a:gd name="adj" fmla="val 6486"/>
            </a:avLst>
          </a:prstGeom>
          <a:solidFill>
            <a:schemeClr val="bg2"/>
          </a:solidFill>
          <a:ln/>
        </p:spPr>
      </p:sp>
      <p:sp>
        <p:nvSpPr>
          <p:cNvPr id="11" name="wilkin number"/>
          <p:cNvSpPr txBox="1"/>
          <p:nvPr/>
        </p:nvSpPr>
        <p:spPr>
          <a:xfrm>
            <a:off x="7452360" y="4709160"/>
            <a:ext cx="3886200" cy="84582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6 of 9</a:t>
            </a:r>
            <a:endParaRPr lang="en-US" sz="4000" dirty="0"/>
          </a:p>
        </p:txBody>
      </p:sp>
      <p:sp>
        <p:nvSpPr>
          <p:cNvPr id="12" name="wilkin label"/>
          <p:cNvSpPr txBox="1"/>
          <p:nvPr/>
        </p:nvSpPr>
        <p:spPr>
          <a:xfrm>
            <a:off x="7452360" y="5554980"/>
            <a:ext cx="3886200" cy="52578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Wilkin helpline callers referred to a food shelf, though Wilkin has none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Distance matters; mobile pantries may help</a:t>
            </a:r>
            <a:endParaRPr lang="en-US" sz="3200" dirty="0"/>
          </a:p>
        </p:txBody>
      </p:sp>
      <p:pic>
        <p:nvPicPr>
          <p:cNvPr id="3" name="distance map" descr="Map of neighborhoods colored by distance to the nearest food shelf">    </p:cNvPr>
          <p:cNvPicPr>
            <a:picLocks noChangeAspect="1"/>
          </p:cNvPicPr>
          <p:nvPr/>
        </p:nvPicPr>
        <p:blipFill>
          <a:blip r:embed="rId1"/>
          <a:stretch>
            <a:fillRect/>
          </a:stretch>
        </p:blipFill>
        <p:spPr>
          <a:xfrm>
            <a:off x="548640" y="1325880"/>
            <a:ext cx="4937760" cy="4906508"/>
          </a:xfrm>
          <a:prstGeom prst="rect">
            <a:avLst/>
          </a:prstGeom>
        </p:spPr>
      </p:pic>
      <p:sp>
        <p:nvSpPr>
          <p:cNvPr id="4" name="live map tag"/>
          <p:cNvSpPr/>
          <p:nvPr/>
        </p:nvSpPr>
        <p:spPr>
          <a:xfrm>
            <a:off x="731520" y="1554480"/>
            <a:ext cx="1508760" cy="438912"/>
          </a:xfrm>
          <a:prstGeom prst="roundRect">
            <a:avLst>
              <a:gd name="adj" fmla="val 50000"/>
            </a:avLst>
          </a:prstGeom>
          <a:solidFill>
            <a:schemeClr val="tx1"/>
          </a:solidFill>
          <a:ln/>
        </p:spPr>
      </p:sp>
      <p:sp>
        <p:nvSpPr>
          <p:cNvPr id="5" name="live map tag text"/>
          <p:cNvSpPr txBox="1"/>
          <p:nvPr/>
        </p:nvSpPr>
        <p:spPr>
          <a:xfrm>
            <a:off x="731520" y="1554480"/>
            <a:ext cx="1508760" cy="438912"/>
          </a:xfrm>
          <a:prstGeom prst="rect">
            <a:avLst/>
          </a:prstGeom>
          <a:noFill/>
          <a:ln/>
        </p:spPr>
        <p:txBody>
          <a:bodyPr wrap="square" lIns="0" tIns="0" rIns="0" bIns="0" rtlCol="0" anchor="ctr"/>
          <a:lstStyle/>
          <a:p>
            <a:pPr algn="ctr" indent="0" marL="0">
              <a:buNone/>
            </a:pPr>
            <a:r>
              <a:rPr lang="en-US" sz="1300" b="1" spc="200" kern="0" dirty="0">
                <a:solidFill>
                  <a:schemeClr val="bg1"/>
                </a:solidFill>
                <a:latin typeface="Calibri" pitchFamily="34" charset="0"/>
                <a:ea typeface="Calibri" pitchFamily="34" charset="-122"/>
                <a:cs typeface="Calibri" pitchFamily="34" charset="-120"/>
              </a:rPr>
              <a:t>LIVE MAP</a:t>
            </a:r>
            <a:endParaRPr lang="en-US" sz="1300" dirty="0"/>
          </a:p>
        </p:txBody>
      </p:sp>
      <p:sp>
        <p:nvSpPr>
          <p:cNvPr id="6" name="distance card"/>
          <p:cNvSpPr/>
          <p:nvPr/>
        </p:nvSpPr>
        <p:spPr>
          <a:xfrm>
            <a:off x="5943600" y="1371600"/>
            <a:ext cx="2743200" cy="2286000"/>
          </a:xfrm>
          <a:prstGeom prst="roundRect">
            <a:avLst>
              <a:gd name="adj" fmla="val 4800"/>
            </a:avLst>
          </a:prstGeom>
          <a:solidFill>
            <a:schemeClr val="bg2"/>
          </a:solidFill>
          <a:ln/>
        </p:spPr>
      </p:sp>
      <p:sp>
        <p:nvSpPr>
          <p:cNvPr id="7" name="distance number"/>
          <p:cNvSpPr txBox="1"/>
          <p:nvPr/>
        </p:nvSpPr>
        <p:spPr>
          <a:xfrm>
            <a:off x="6217920" y="1554480"/>
            <a:ext cx="2194560" cy="1143000"/>
          </a:xfrm>
          <a:prstGeom prst="rect">
            <a:avLst/>
          </a:prstGeom>
          <a:noFill/>
          <a:ln/>
        </p:spPr>
        <p:txBody>
          <a:bodyPr wrap="square" lIns="0" tIns="0" rIns="0" bIns="0" rtlCol="0" anchor="b"/>
          <a:lstStyle/>
          <a:p>
            <a:pPr indent="0" marL="0">
              <a:buNone/>
            </a:pPr>
            <a:r>
              <a:rPr lang="en-US" sz="3200" b="1" dirty="0">
                <a:solidFill>
                  <a:schemeClr val="accent2"/>
                </a:solidFill>
                <a:latin typeface="Arial" pitchFamily="34" charset="0"/>
                <a:ea typeface="Arial" pitchFamily="34" charset="-122"/>
                <a:cs typeface="Arial" pitchFamily="34" charset="-120"/>
              </a:rPr>
              <a:t>25% vs 9%</a:t>
            </a:r>
            <a:endParaRPr lang="en-US" sz="3200" dirty="0"/>
          </a:p>
        </p:txBody>
      </p:sp>
      <p:sp>
        <p:nvSpPr>
          <p:cNvPr id="8" name="distance label"/>
          <p:cNvSpPr txBox="1"/>
          <p:nvPr/>
        </p:nvSpPr>
        <p:spPr>
          <a:xfrm>
            <a:off x="6217920" y="2697480"/>
            <a:ext cx="2194560" cy="8229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residents &gt;10 mi away: lower counties vs. the rest</a:t>
            </a:r>
            <a:endParaRPr lang="en-US" sz="1500" dirty="0"/>
          </a:p>
        </p:txBody>
      </p:sp>
      <p:sp>
        <p:nvSpPr>
          <p:cNvPr id="9" name="mobile card"/>
          <p:cNvSpPr/>
          <p:nvPr/>
        </p:nvSpPr>
        <p:spPr>
          <a:xfrm>
            <a:off x="8869680" y="1371600"/>
            <a:ext cx="2743200" cy="2286000"/>
          </a:xfrm>
          <a:prstGeom prst="roundRect">
            <a:avLst>
              <a:gd name="adj" fmla="val 4800"/>
            </a:avLst>
          </a:prstGeom>
          <a:solidFill>
            <a:schemeClr val="bg2"/>
          </a:solidFill>
          <a:ln/>
        </p:spPr>
      </p:sp>
      <p:sp>
        <p:nvSpPr>
          <p:cNvPr id="10" name="mobile number"/>
          <p:cNvSpPr txBox="1"/>
          <p:nvPr/>
        </p:nvSpPr>
        <p:spPr>
          <a:xfrm>
            <a:off x="9144000" y="1554480"/>
            <a:ext cx="2194560" cy="1143000"/>
          </a:xfrm>
          <a:prstGeom prst="rect">
            <a:avLst/>
          </a:prstGeom>
          <a:noFill/>
          <a:ln/>
        </p:spPr>
        <p:txBody>
          <a:bodyPr wrap="square" lIns="0" tIns="0" rIns="0" bIns="0" rtlCol="0" anchor="b"/>
          <a:lstStyle/>
          <a:p>
            <a:pPr indent="0" marL="0">
              <a:buNone/>
            </a:pPr>
            <a:r>
              <a:rPr lang="en-US" sz="3200" b="1" dirty="0">
                <a:solidFill>
                  <a:schemeClr val="accent2"/>
                </a:solidFill>
                <a:latin typeface="Arial" pitchFamily="34" charset="0"/>
                <a:ea typeface="Arial" pitchFamily="34" charset="-122"/>
                <a:cs typeface="Arial" pitchFamily="34" charset="-120"/>
              </a:rPr>
              <a:t>0 of 10</a:t>
            </a:r>
            <a:endParaRPr lang="en-US" sz="3200" dirty="0"/>
          </a:p>
        </p:txBody>
      </p:sp>
      <p:sp>
        <p:nvSpPr>
          <p:cNvPr id="11" name="mobile label"/>
          <p:cNvSpPr txBox="1"/>
          <p:nvPr/>
        </p:nvSpPr>
        <p:spPr>
          <a:xfrm>
            <a:off x="9144000" y="2697480"/>
            <a:ext cx="2194560" cy="8229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lower counties with a mobile pantry</a:t>
            </a:r>
            <a:endParaRPr lang="en-US" sz="1500" dirty="0"/>
          </a:p>
        </p:txBody>
      </p:sp>
      <p:sp>
        <p:nvSpPr>
          <p:cNvPr id="12" name="cook card"/>
          <p:cNvSpPr/>
          <p:nvPr/>
        </p:nvSpPr>
        <p:spPr>
          <a:xfrm>
            <a:off x="5943600" y="3931920"/>
            <a:ext cx="2743200" cy="2286000"/>
          </a:xfrm>
          <a:prstGeom prst="roundRect">
            <a:avLst>
              <a:gd name="adj" fmla="val 4800"/>
            </a:avLst>
          </a:prstGeom>
          <a:solidFill>
            <a:schemeClr val="bg2"/>
          </a:solidFill>
          <a:ln/>
        </p:spPr>
      </p:sp>
      <p:sp>
        <p:nvSpPr>
          <p:cNvPr id="13" name="cook number"/>
          <p:cNvSpPr txBox="1"/>
          <p:nvPr/>
        </p:nvSpPr>
        <p:spPr>
          <a:xfrm>
            <a:off x="6217920" y="4114800"/>
            <a:ext cx="2194560" cy="1143000"/>
          </a:xfrm>
          <a:prstGeom prst="rect">
            <a:avLst/>
          </a:prstGeom>
          <a:noFill/>
          <a:ln/>
        </p:spPr>
        <p:txBody>
          <a:bodyPr wrap="square" lIns="0" tIns="0" rIns="0" bIns="0" rtlCol="0" anchor="b"/>
          <a:lstStyle/>
          <a:p>
            <a:pPr indent="0" marL="0">
              <a:buNone/>
            </a:pPr>
            <a:r>
              <a:rPr lang="en-US" sz="3200" b="1" dirty="0">
                <a:solidFill>
                  <a:schemeClr val="accent1"/>
                </a:solidFill>
                <a:latin typeface="Arial" pitchFamily="34" charset="0"/>
                <a:ea typeface="Arial" pitchFamily="34" charset="-122"/>
                <a:cs typeface="Arial" pitchFamily="34" charset="-120"/>
              </a:rPr>
              <a:t>2.4×</a:t>
            </a:r>
            <a:endParaRPr lang="en-US" sz="3200" dirty="0"/>
          </a:p>
        </p:txBody>
      </p:sp>
      <p:sp>
        <p:nvSpPr>
          <p:cNvPr id="14" name="cook label"/>
          <p:cNvSpPr txBox="1"/>
          <p:nvPr/>
        </p:nvSpPr>
        <p:spPr>
          <a:xfrm>
            <a:off x="6217920" y="5257800"/>
            <a:ext cx="2194560" cy="8229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Cook: remote, but 64% of visits from mobile pantries</a:t>
            </a:r>
            <a:endParaRPr lang="en-US" sz="1500" dirty="0"/>
          </a:p>
        </p:txBody>
      </p:sp>
      <p:sp>
        <p:nvSpPr>
          <p:cNvPr id="15" name="far counties card"/>
          <p:cNvSpPr/>
          <p:nvPr/>
        </p:nvSpPr>
        <p:spPr>
          <a:xfrm>
            <a:off x="8869680" y="3931920"/>
            <a:ext cx="2743200" cy="2286000"/>
          </a:xfrm>
          <a:prstGeom prst="roundRect">
            <a:avLst>
              <a:gd name="adj" fmla="val 4800"/>
            </a:avLst>
          </a:prstGeom>
          <a:solidFill>
            <a:schemeClr val="bg2"/>
          </a:solidFill>
          <a:ln/>
        </p:spPr>
      </p:sp>
      <p:sp>
        <p:nvSpPr>
          <p:cNvPr id="16" name="far counties number"/>
          <p:cNvSpPr txBox="1"/>
          <p:nvPr/>
        </p:nvSpPr>
        <p:spPr>
          <a:xfrm>
            <a:off x="9144000" y="4114800"/>
            <a:ext cx="2194560" cy="1143000"/>
          </a:xfrm>
          <a:prstGeom prst="rect">
            <a:avLst/>
          </a:prstGeom>
          <a:noFill/>
          <a:ln/>
        </p:spPr>
        <p:txBody>
          <a:bodyPr wrap="square" lIns="0" tIns="0" rIns="0" bIns="0" rtlCol="0" anchor="b"/>
          <a:lstStyle/>
          <a:p>
            <a:pPr indent="0" marL="0">
              <a:buNone/>
            </a:pPr>
            <a:r>
              <a:rPr lang="en-US" sz="3200" b="1" dirty="0">
                <a:solidFill>
                  <a:schemeClr val="tx1"/>
                </a:solidFill>
                <a:latin typeface="Arial" pitchFamily="34" charset="0"/>
                <a:ea typeface="Arial" pitchFamily="34" charset="-122"/>
                <a:cs typeface="Arial" pitchFamily="34" charset="-120"/>
              </a:rPr>
              <a:t>1.23×</a:t>
            </a:r>
            <a:endParaRPr lang="en-US" sz="3200" dirty="0"/>
          </a:p>
        </p:txBody>
      </p:sp>
      <p:sp>
        <p:nvSpPr>
          <p:cNvPr id="17" name="far counties label"/>
          <p:cNvSpPr txBox="1"/>
          <p:nvPr/>
        </p:nvSpPr>
        <p:spPr>
          <a:xfrm>
            <a:off x="9144000" y="5257800"/>
            <a:ext cx="2194560" cy="8229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far-away counties with a mobile pantry (0.80× without)</a:t>
            </a:r>
            <a:endParaRPr lang="en-US" sz="1500" dirty="0"/>
          </a:p>
        </p:txBody>
      </p:sp>
      <p:sp>
        <p:nvSpPr>
          <p:cNvPr id="18" name="mobile caveat"/>
          <p:cNvSpPr txBox="1"/>
          <p:nvPr/>
        </p:nvSpPr>
        <p:spPr>
          <a:xfrm>
            <a:off x="5943600" y="6309360"/>
            <a:ext cx="5669280" cy="274320"/>
          </a:xfrm>
          <a:prstGeom prst="rect">
            <a:avLst/>
          </a:prstGeom>
          <a:noFill/>
          <a:ln/>
        </p:spPr>
        <p:txBody>
          <a:bodyPr wrap="square" lIns="0" tIns="0" rIns="0" bIns="0" rtlCol="0" anchor="ctr"/>
          <a:lstStyle/>
          <a:p>
            <a:pPr indent="0" marL="0">
              <a:buNone/>
            </a:pPr>
            <a:r>
              <a:rPr lang="en-US" sz="1100" i="1" dirty="0">
                <a:solidFill>
                  <a:srgbClr val="5F6670"/>
                </a:solidFill>
                <a:latin typeface="Calibri" pitchFamily="34" charset="0"/>
                <a:ea typeface="Calibri" pitchFamily="34" charset="-122"/>
                <a:cs typeface="Calibri" pitchFamily="34" charset="-120"/>
              </a:rPr>
              <a:t>Mobile pantry results are suggestive (p ≈ 0.05–0.10).</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supply network and site size matter too</a:t>
            </a:r>
            <a:endParaRPr lang="en-US" sz="3200" dirty="0"/>
          </a:p>
        </p:txBody>
      </p:sp>
      <p:graphicFrame>
        <p:nvGraphicFramePr>
          <p:cNvPr id="3" name="food bank chart" descr=""/>
          <p:cNvGraphicFramePr/>
          <p:nvPr/>
        </p:nvGraphicFramePr>
        <p:xfrm>
          <a:off x="548640" y="1325880"/>
          <a:ext cx="6400800" cy="4892040"/>
        </p:xfrm>
        <a:graphic xmlns:a="http://schemas.openxmlformats.org/drawingml/2006/main">
          <a:graphicData uri="http://schemas.openxmlformats.org/drawingml/2006/chart">
            <c:chart xmlns:c="http://schemas.openxmlformats.org/drawingml/2006/chart" r:id="rId1"/>
          </a:graphicData>
        </a:graphic>
      </p:graphicFrame>
      <p:sp>
        <p:nvSpPr>
          <p:cNvPr id="4" name="r squared card"/>
          <p:cNvSpPr/>
          <p:nvPr/>
        </p:nvSpPr>
        <p:spPr>
          <a:xfrm>
            <a:off x="7406640" y="1463040"/>
            <a:ext cx="4206240" cy="1965960"/>
          </a:xfrm>
          <a:prstGeom prst="roundRect">
            <a:avLst>
              <a:gd name="adj" fmla="val 5581"/>
            </a:avLst>
          </a:prstGeom>
          <a:solidFill>
            <a:schemeClr val="bg2"/>
          </a:solidFill>
          <a:ln/>
        </p:spPr>
      </p:sp>
      <p:sp>
        <p:nvSpPr>
          <p:cNvPr id="5" name="r squared number"/>
          <p:cNvSpPr txBox="1"/>
          <p:nvPr/>
        </p:nvSpPr>
        <p:spPr>
          <a:xfrm>
            <a:off x="7680960" y="1645920"/>
            <a:ext cx="3657600" cy="98298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0.22 → 0.34</a:t>
            </a:r>
            <a:endParaRPr lang="en-US" sz="4000" dirty="0"/>
          </a:p>
        </p:txBody>
      </p:sp>
      <p:sp>
        <p:nvSpPr>
          <p:cNvPr id="6" name="r squared label"/>
          <p:cNvSpPr txBox="1"/>
          <p:nvPr/>
        </p:nvSpPr>
        <p:spPr>
          <a:xfrm>
            <a:off x="7680960" y="2628900"/>
            <a:ext cx="3657600" cy="66294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share of the gaps explained once the food bank is added</a:t>
            </a:r>
            <a:endParaRPr lang="en-US" sz="1500" dirty="0"/>
          </a:p>
        </p:txBody>
      </p:sp>
      <p:sp>
        <p:nvSpPr>
          <p:cNvPr id="7" name="busy hubs card"/>
          <p:cNvSpPr/>
          <p:nvPr/>
        </p:nvSpPr>
        <p:spPr>
          <a:xfrm>
            <a:off x="7406640" y="3657600"/>
            <a:ext cx="4206240" cy="1965960"/>
          </a:xfrm>
          <a:prstGeom prst="roundRect">
            <a:avLst>
              <a:gd name="adj" fmla="val 5581"/>
            </a:avLst>
          </a:prstGeom>
          <a:solidFill>
            <a:schemeClr val="bg2"/>
          </a:solidFill>
          <a:ln/>
        </p:spPr>
      </p:sp>
      <p:sp>
        <p:nvSpPr>
          <p:cNvPr id="8" name="busy hubs number"/>
          <p:cNvSpPr txBox="1"/>
          <p:nvPr/>
        </p:nvSpPr>
        <p:spPr>
          <a:xfrm>
            <a:off x="7680960" y="3840480"/>
            <a:ext cx="3657600" cy="98298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~1,750</a:t>
            </a:r>
            <a:endParaRPr lang="en-US" sz="4000" dirty="0"/>
          </a:p>
        </p:txBody>
      </p:sp>
      <p:sp>
        <p:nvSpPr>
          <p:cNvPr id="9" name="busy hubs label"/>
          <p:cNvSpPr txBox="1"/>
          <p:nvPr/>
        </p:nvSpPr>
        <p:spPr>
          <a:xfrm>
            <a:off x="7680960" y="4823460"/>
            <a:ext cx="3657600" cy="66294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visits per site per month in Washington, the busiest in MN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515600" cy="457200"/>
          </a:xfrm>
          <a:prstGeom prst="rect">
            <a:avLst/>
          </a:prstGeom>
          <a:noFill/>
          <a:ln/>
        </p:spPr>
        <p:txBody>
          <a:bodyPr wrap="square" rtlCol="0"/>
          <a:lstStyle/>
          <a:p>
            <a:pPr algn="l" indent="0" marL="0">
              <a:buNone/>
            </a:pPr>
            <a:r>
              <a:rPr lang="en-US" sz="1600" b="1" dirty="0">
                <a:solidFill>
                  <a:srgbClr val="9FC2EE"/>
                </a:solidFill>
                <a:latin typeface="Calibri" pitchFamily="34" charset="0"/>
                <a:ea typeface="Calibri" pitchFamily="34" charset="-122"/>
                <a:cs typeface="Calibri" pitchFamily="34" charset="-120"/>
              </a:rPr>
              <a:t>TAKEAWAY</a:t>
            </a:r>
            <a:endParaRPr lang="en-US" sz="1600" dirty="0"/>
          </a:p>
        </p:txBody>
      </p:sp>
      <p:sp>
        <p:nvSpPr>
          <p:cNvPr id="3" name="Text 0"/>
          <p:cNvSpPr/>
          <p:nvPr>
            <p:ph idx="101" type="title" hasCustomPrompt="1"/>
          </p:nvPr>
        </p:nvSpPr>
        <p:spPr>
          <a:xfrm>
            <a:off x="731520" y="1920240"/>
            <a:ext cx="10698480" cy="1828800"/>
          </a:xfrm>
          <a:prstGeom prst="rect">
            <a:avLst/>
          </a:prstGeom>
          <a:noFill/>
          <a:ln/>
        </p:spPr>
        <p:txBody>
          <a:bodyPr wrap="square" rtlCol="0" anchor="t"/>
          <a:lstStyle/>
          <a:p>
            <a:pPr algn="l" indent="0" marL="0">
              <a:buNone/>
            </a:pPr>
            <a:r>
              <a:rPr lang="en-US" sz="4400" b="1" dirty="0">
                <a:solidFill>
                  <a:schemeClr val="bg1"/>
                </a:solidFill>
              </a:rPr>
              <a:t>Where food shelves are matters as much as how much need there is</a:t>
            </a:r>
            <a:endParaRPr lang="en-US" sz="4400" dirty="0"/>
          </a:p>
        </p:txBody>
      </p:sp>
      <p:sp>
        <p:nvSpPr>
          <p:cNvPr id="4" name="rec 1 circle"/>
          <p:cNvSpPr/>
          <p:nvPr/>
        </p:nvSpPr>
        <p:spPr>
          <a:xfrm>
            <a:off x="731520" y="4206240"/>
            <a:ext cx="685800" cy="685800"/>
          </a:xfrm>
          <a:prstGeom prst="ellipse">
            <a:avLst/>
          </a:prstGeom>
          <a:solidFill>
            <a:schemeClr val="accent1"/>
          </a:solidFill>
          <a:ln/>
        </p:spPr>
      </p:sp>
      <p:sp>
        <p:nvSpPr>
          <p:cNvPr id="5" name="rec 1 number"/>
          <p:cNvSpPr txBox="1"/>
          <p:nvPr/>
        </p:nvSpPr>
        <p:spPr>
          <a:xfrm>
            <a:off x="731520" y="42062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1</a:t>
            </a:r>
            <a:endParaRPr lang="en-US" sz="2400" dirty="0"/>
          </a:p>
        </p:txBody>
      </p:sp>
      <p:sp>
        <p:nvSpPr>
          <p:cNvPr id="6" name="rec 1 head"/>
          <p:cNvSpPr txBox="1"/>
          <p:nvPr/>
        </p:nvSpPr>
        <p:spPr>
          <a:xfrm>
            <a:off x="1600200" y="4160520"/>
            <a:ext cx="278892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Collect client ZIP codes</a:t>
            </a:r>
            <a:endParaRPr lang="en-US" sz="1800" dirty="0"/>
          </a:p>
        </p:txBody>
      </p:sp>
      <p:sp>
        <p:nvSpPr>
          <p:cNvPr id="7" name="rec 1 sub"/>
          <p:cNvSpPr txBox="1"/>
          <p:nvPr/>
        </p:nvSpPr>
        <p:spPr>
          <a:xfrm>
            <a:off x="1600200" y="4590288"/>
            <a:ext cx="2788920" cy="64008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to see cross-county use directly</a:t>
            </a:r>
            <a:endParaRPr lang="en-US" sz="1500" dirty="0"/>
          </a:p>
        </p:txBody>
      </p:sp>
      <p:sp>
        <p:nvSpPr>
          <p:cNvPr id="8" name="rec 2 circle"/>
          <p:cNvSpPr/>
          <p:nvPr/>
        </p:nvSpPr>
        <p:spPr>
          <a:xfrm>
            <a:off x="4480560" y="4206240"/>
            <a:ext cx="685800" cy="685800"/>
          </a:xfrm>
          <a:prstGeom prst="ellipse">
            <a:avLst/>
          </a:prstGeom>
          <a:solidFill>
            <a:schemeClr val="accent1"/>
          </a:solidFill>
          <a:ln/>
        </p:spPr>
      </p:sp>
      <p:sp>
        <p:nvSpPr>
          <p:cNvPr id="9" name="rec 2 number"/>
          <p:cNvSpPr txBox="1"/>
          <p:nvPr/>
        </p:nvSpPr>
        <p:spPr>
          <a:xfrm>
            <a:off x="4480560" y="42062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2</a:t>
            </a:r>
            <a:endParaRPr lang="en-US" sz="2400" dirty="0"/>
          </a:p>
        </p:txBody>
      </p:sp>
      <p:sp>
        <p:nvSpPr>
          <p:cNvPr id="10" name="rec 2 head"/>
          <p:cNvSpPr txBox="1"/>
          <p:nvPr/>
        </p:nvSpPr>
        <p:spPr>
          <a:xfrm>
            <a:off x="5349240" y="4160520"/>
            <a:ext cx="278892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Send mobile pantries</a:t>
            </a:r>
            <a:endParaRPr lang="en-US" sz="1800" dirty="0"/>
          </a:p>
        </p:txBody>
      </p:sp>
      <p:sp>
        <p:nvSpPr>
          <p:cNvPr id="11" name="rec 2 sub"/>
          <p:cNvSpPr txBox="1"/>
          <p:nvPr/>
        </p:nvSpPr>
        <p:spPr>
          <a:xfrm>
            <a:off x="5349240" y="4590288"/>
            <a:ext cx="2788920" cy="64008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to Lac qui Parle, Norman, Roseau</a:t>
            </a:r>
            <a:endParaRPr lang="en-US" sz="1500" dirty="0"/>
          </a:p>
        </p:txBody>
      </p:sp>
      <p:sp>
        <p:nvSpPr>
          <p:cNvPr id="12" name="rec 3 circle"/>
          <p:cNvSpPr/>
          <p:nvPr/>
        </p:nvSpPr>
        <p:spPr>
          <a:xfrm>
            <a:off x="8229600" y="4206240"/>
            <a:ext cx="685800" cy="685800"/>
          </a:xfrm>
          <a:prstGeom prst="ellipse">
            <a:avLst/>
          </a:prstGeom>
          <a:solidFill>
            <a:schemeClr val="accent1"/>
          </a:solidFill>
          <a:ln/>
        </p:spPr>
      </p:sp>
      <p:sp>
        <p:nvSpPr>
          <p:cNvPr id="13" name="rec 3 number"/>
          <p:cNvSpPr txBox="1"/>
          <p:nvPr/>
        </p:nvSpPr>
        <p:spPr>
          <a:xfrm>
            <a:off x="8229600" y="42062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3</a:t>
            </a:r>
            <a:endParaRPr lang="en-US" sz="2400" dirty="0"/>
          </a:p>
        </p:txBody>
      </p:sp>
      <p:sp>
        <p:nvSpPr>
          <p:cNvPr id="14" name="rec 3 head"/>
          <p:cNvSpPr txBox="1"/>
          <p:nvPr/>
        </p:nvSpPr>
        <p:spPr>
          <a:xfrm>
            <a:off x="9098280" y="4160520"/>
            <a:ext cx="278892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Compare food banks</a:t>
            </a:r>
            <a:endParaRPr lang="en-US" sz="1800" dirty="0"/>
          </a:p>
        </p:txBody>
      </p:sp>
      <p:sp>
        <p:nvSpPr>
          <p:cNvPr id="15" name="rec 3 sub"/>
          <p:cNvSpPr txBox="1"/>
          <p:nvPr/>
        </p:nvSpPr>
        <p:spPr>
          <a:xfrm>
            <a:off x="9098280" y="4590288"/>
            <a:ext cx="2788920" cy="64008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supply and how visits are recorded</a:t>
            </a:r>
            <a:endParaRPr lang="en-US" sz="1500" dirty="0"/>
          </a:p>
        </p:txBody>
      </p:sp>
      <p:sp>
        <p:nvSpPr>
          <p:cNvPr id="17" name="Text 0"/>
          <p:cNvSpPr/>
          <p:nvPr>
            <p:ph idx="102" type="body" hasCustomPrompt="1"/>
          </p:nvPr>
        </p:nvSpPr>
        <p:spPr>
          <a:xfrm>
            <a:off x="731520" y="3977640"/>
            <a:ext cx="10058400" cy="1463040"/>
          </a:xfrm>
          <a:prstGeom prst="rect">
            <a:avLst/>
          </a:prstGeom>
          <a:noFill/>
          <a:ln/>
        </p:spPr>
        <p:txBody>
          <a:bodyPr wrap="square"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Q1 Need vs Activity">
  <a:themeElements>
    <a:clrScheme name="Q1 Need vs Activity">
      <a:dk1>
        <a:srgbClr val="1B2430"/>
      </a:dk1>
      <a:lt1>
        <a:srgbClr val="FFFFFF"/>
      </a:lt1>
      <a:dk2>
        <a:srgbClr val="3A4656"/>
      </a:dk2>
      <a:lt2>
        <a:srgbClr val="F2F3F5"/>
      </a:lt2>
      <a:accent1>
        <a:srgbClr val="2A78D6"/>
      </a:accent1>
      <a:accent2>
        <a:srgbClr val="EB6834"/>
      </a:accent2>
      <a:accent3>
        <a:srgbClr val="1BAF7A"/>
      </a:accent3>
      <a:accent4>
        <a:srgbClr val="6250D6"/>
      </a:accent4>
      <a:accent5>
        <a:srgbClr val="A3A29C"/>
      </a:accent5>
      <a:accent6>
        <a:srgbClr val="0F8F63"/>
      </a:accent6>
      <a:hlink>
        <a:srgbClr val="2A78D6"/>
      </a:hlink>
      <a:folHlink>
        <a:srgbClr val="6250D6"/>
      </a:folHlink>
    </a:clrScheme>
    <a:fontScheme name="Q1 Need vs Activ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 Estimated need vs. food shelf activity</dc:title>
  <dc:subject>PptxGenJS Presentation</dc:subject>
  <dc:creator>MinneMUDAC 2026 team</dc:creator>
  <cp:lastModifiedBy>MinneMUDAC 2026 team</cp:lastModifiedBy>
  <cp:revision>1</cp:revision>
  <dcterms:created xsi:type="dcterms:W3CDTF">2026-10-13T15:06:33Z</dcterms:created>
  <dcterms:modified xsi:type="dcterms:W3CDTF">2026-10-13T15:06:33Z</dcterms:modified>
</cp:coreProperties>
</file>