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d0f934-e512-d086-7a8e-5ff0d6695d01}">
          <p14:sldIdLst>
            <p14:sldId id="256"/>
            <p14:sldId id="257"/>
            <p14:sldId id="258"/>
            <p14:sldId id="259"/>
            <p14:sldId id="260"/>
            <p14:sldId id="261"/>
          </p14:sldIdLst>
        </p14:section>
        <p14:section name="Q1 - Need vs. Activity" id="{ef5c592e-4324-dd2a-bff6-49f856eb10cf}">
          <p14:sldIdLst>
            <p14:sldId id="262"/>
            <p14:sldId id="263"/>
            <p14:sldId id="264"/>
            <p14:sldId id="265"/>
          </p14:sldIdLst>
        </p14:section>
        <p14:section name="Q6 - Divergence Measure" id="{8028c482-e929-460d-57a6-fcbbfdc8ee49}">
          <p14:sldIdLst>
            <p14:sldId id="266"/>
            <p14:sldId id="267"/>
            <p14:sldId id="268"/>
            <p14:sldId id="269"/>
          </p14:sldIdLst>
        </p14:section>
        <p14:section name="Q4 - Food Prices" id="{61d4dd62-cc1b-1b09-4ae8-693efe13e2b5}">
          <p14:sldIdLst>
            <p14:sldId id="270"/>
            <p14:sldId id="271"/>
            <p14:sldId id="272"/>
          </p14:sldIdLst>
        </p14:section>
        <p14:section name="Q5 - SNAP" id="{61e8f87b-f42b-da5b-1469-55eb50af4ff4}">
          <p14:sldIdLst>
            <p14:sldId id="273"/>
            <p14:sldId id="274"/>
            <p14:sldId id="275"/>
          </p14:sldIdLst>
        </p14:section>
        <p14:section name="Q7 - August Forecast" id="{ce9208dd-7dd5-1780-1484-f923485b92da}">
          <p14:sldIdLst>
            <p14:sldId id="276"/>
            <p14:sldId id="277"/>
            <p14:sldId id="278"/>
          </p14:sldIdLst>
        </p14:section>
        <p14:section name="Closing" id="{d9edc9d5-1027-2532-ff85-5456c377a05a}">
          <p14:sldIdLst>
            <p14:sldId id="279"/>
            <p14:sldId id="280"/>
            <p14:sldId id="281"/>
            <p14:sldId id="282"/>
          </p14:sldIdLst>
        </p14:section>
        <p14:section name="Appendix" id="{ee32c3f9-ac86-93c3-3794-0c3b3878606a}">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Replace bracketed text. Keep the title short (under ~8 words) and framed around the core idea: food shelf visits are demand, not need. Open with a one-sentence hook before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Goal: in 60 seconds, make the audience feel the gap between NEED (people who must have help) and DEMAND (people who ask for help). The Venn shows the three zones; fill the two stat tiles with your strongest framing numbers (cite source). End on: 'So the question is: where does the visit data mislead us,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The brief names four decisions. Each card: one short line on how our work speaks to that decision. We return to these same four cards in the Recommendations slide, so the story closes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Tell the audience how the talk is organized: Act I is about place (which counties have hidden need), Act II is about time (what pushes demand up or down), Act III looks forward (the forecast and what The Food Group should do). Question numbers keep judges oriented against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Pyramid principle: give the answers first so judges know where the talk is going. One sentence per question, with the key number. Every answer here must match the detailed section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&amp; APPROACH. Left: Food Group datasets; right: public sources (full source register in the Appendix: publisher, series, geographic grain, time grain, why chosen). Bottom: the 4-step pipeline. Keep it quick (about 1 minute); judges care that sources are documented and joins are sound. See docs/source_register.md.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PART 1. Answer the first half of the brief: do the two sets of numbers tell the same story, and which metric is strongest/weakest? Put a correlation (or R²) in each tile. Source: notebooks/q1_need_vs_foodshelf_activity.ipynb.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PART 2. Identify the counties where the correlation breaks down. Explain the gap definition in plain words (residual from the need-vs-activity fit). Name counties both above and below expectation.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PART 3. Which public county characteristics help explain the mismatch (poverty, rural share, distance, SNAP, etc.)? Show 2–3 factors that survived the FDR correction / model. Mention what did NOT explain it too. Source: docs/01b_q1_factor_extension.md, outputs/q1b/.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PART 1. Explain the measure simply: what goes in, what stays out and why, how it's combined. The key credibility point: need uses only public non-food-shelf data, so comparing it with demand is not circular. Source: docs/06_q6_divergence.md.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PART 2. Compare the new need measure against all three food shelf metrics. Where do they diverge? Show the map and the top counties. Point out whether the same counties appear for all three metrics. Source: outputs/q6/q6_top10_potentially_underserved.csv, q6_top10_by_metric.png.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PART 3. Like Q1: which county characteristics explain the disagreement (distance, sites per resident, vehicles, rurality, tribal land, broadband, etc.)? Compare to Q1's factors: same story or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PART 1. Do more people arrive when grocery prices rise? Immediate or delayed? Lead with the delay number; it's the actionable insight (time to warn food shelves and donors). Source: docs/04_q4_prices_foodshelf.md, outputs/q4/.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PART 2. Does the response appear in all three metrics? Are there other cyclical patterns (seasonality) that prices don't explain? Close with the communication value: when to tell food shelves and donors to expect a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PART 1. Frame the two hypotheses side by side, then give the verdict. State the SNAP source, grain and publication lag (brief requires it): MN DHS county-office monthly data. Source: docs/05_q5_snap_foodshelf.md.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PART 2. What happens to food shelf activity when SNAP benefits change? Does it differ across locations? End with the policy message for lawmakers: what SNAP cuts/increases mean for food shelves.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PART 1. Explain the forecasting pipeline simply. Stress the no-August-data rule and how you enforced it (cutoff_check.txt). Show the model beat a naive baseline. Source: forecast_august_2026/README.md, report/pipeline_flow.pdf.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PART 2. Statewide totals for the three metrics (sum of county forecasts), with change vs. last August and an uncertainty range. Mention which counties drive the change. Source: forecast_august_2026/submission/statewide_forecast.csv.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Tie Act I and Act II together: the quadrant classifies every county. The top-left (orange) box is the message: places where visit-based allocation under-serves need. Optionally add a sentence on how prices/SNAP (Act II) shift counties between boxes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Same four decision cards from 'Why it matters', now filled with concrete actions. Each action must cite the finding (Q#) behind it. Keep it specific: which counties, what signal to watch, what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&amp; NEXT STEPS. Showing awareness of limits builds credibility. Pair each limitation with a next step or a data source that would resolve it (docs/data_wishlist.md).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Restate the core message in one sentence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SOURCE REGISTER. The brief requires four things for every source: publisher + exact series, geographic grain, time grain, reason chosen over alternatives. Copy from docs/source_register.md.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METHODS. Duplicate this slide as needed for anticipated judge questions ('where did this number come from?', 'why this and not that?'). The docs/*.md explainers have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8229600" cy="365760"/>
          </a:xfrm>
          <a:prstGeom prst="rect">
            <a:avLst/>
          </a:prstGeom>
          <a:noFill/>
          <a:ln/>
        </p:spPr>
        <p:txBody>
          <a:bodyPr wrap="square" rtlCol="0"/>
          <a:lstStyle>
            <a:lvl1pPr indent="0" marL="0">
              <a:buNone/>
              <a:defRPr lang="en-US" sz="1400" b="1" spc="3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920240"/>
            <a:ext cx="7863840" cy="18288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3886200"/>
            <a:ext cx="7863840" cy="73152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5" name="Text 0"/>
          <p:cNvSpPr/>
          <p:nvPr>
            <p:ph idx="103" type="body" hasCustomPrompt="1"/>
          </p:nvPr>
        </p:nvSpPr>
        <p:spPr>
          <a:xfrm>
            <a:off x="548640" y="5394960"/>
            <a:ext cx="7863840" cy="731520"/>
          </a:xfrm>
          <a:prstGeom prst="rect">
            <a:avLst/>
          </a:prstGeom>
          <a:noFill/>
          <a:ln/>
        </p:spPr>
        <p:txBody>
          <a:bodyPr wrap="square" rtlCol="0"/>
          <a:lstStyle>
            <a:lvl1pPr indent="0" marL="0">
              <a:buNone/>
              <a:defRPr lang="en-US" sz="1400" dirty="0">
                <a:solidFill>
                  <a:schemeClr val="accent3"/>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rtlCol="0"/>
          <a:lstStyle>
            <a:lvl1pPr indent="0" marL="0">
              <a:buNone/>
              <a:defRPr lang="en-US" sz="9600" b="1" dirty="0">
                <a:solidFill>
                  <a:schemeClr val="accent2"/>
                </a:solidFill>
                <a:latin typeface="Cambria" pitchFamily="34" charset="0"/>
                <a:ea typeface="Cambria" pitchFamily="34" charset="-122"/>
                <a:cs typeface="Cambria" pitchFamily="34" charset="-120"/>
              </a:defRPr>
            </a:lvl1pPr>
          </a:lstStyle>
          <a:p>
            <a:pPr indent="0" marL="0">
              <a:buNone/>
            </a:pP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rtlCol="0"/>
          <a:lstStyle>
            <a:lvl1pPr indent="0" marL="0">
              <a:buNone/>
              <a:defRPr lang="en-US" sz="1400" b="1" spc="300" kern="0" dirty="0">
                <a:solidFill>
                  <a:schemeClr val="accent3"/>
                </a:solidFill>
              </a:defRPr>
            </a:lvl1pPr>
          </a:lstStyle>
          <a:p>
            <a:pPr indent="0" marL="0">
              <a:buNone/>
            </a:pP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MinneMUDAC 2026  ·  The Food Group Student Data Challenge</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4.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82296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MINNEMUDAC 2026  ·  UNDERGRADUATE DIVISION</a:t>
            </a:r>
            <a:endParaRPr lang="en-US" sz="1400" dirty="0"/>
          </a:p>
        </p:txBody>
      </p:sp>
      <p:sp>
        <p:nvSpPr>
          <p:cNvPr id="3" name="Text 0"/>
          <p:cNvSpPr/>
          <p:nvPr>
            <p:ph idx="101" type="title" hasCustomPrompt="1"/>
          </p:nvPr>
        </p:nvSpPr>
        <p:spPr>
          <a:xfrm>
            <a:off x="548640" y="1920240"/>
            <a:ext cx="7863840" cy="182880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[Deck title: e.g. Seeing the Need Behind the Visits]</a:t>
            </a:r>
            <a:endParaRPr lang="en-US" sz="4400" dirty="0"/>
          </a:p>
        </p:txBody>
      </p:sp>
      <p:sp>
        <p:nvSpPr>
          <p:cNvPr id="4" name="Text 0"/>
          <p:cNvSpPr/>
          <p:nvPr>
            <p:ph idx="102" type="body" hasCustomPrompt="1"/>
          </p:nvPr>
        </p:nvSpPr>
        <p:spPr>
          <a:xfrm>
            <a:off x="548640" y="3886200"/>
            <a:ext cx="7863840" cy="731520"/>
          </a:xfrm>
          <a:prstGeom prst="rect">
            <a:avLst/>
          </a:prstGeom>
          <a:noFill/>
          <a:ln/>
        </p:spPr>
        <p:txBody>
          <a:bodyPr wrap="square" lIns="0" tIns="0" rIns="0" bIns="0" rtlCol="0" anchor="t"/>
          <a:lstStyle/>
          <a:p>
            <a:pPr indent="0" marL="0">
              <a:buNone/>
            </a:pPr>
            <a:r>
              <a:rPr lang="en-US" sz="1800" dirty="0">
                <a:solidFill>
                  <a:schemeClr val="accent4"/>
                </a:solidFill>
              </a:rPr>
              <a:t>[Subtitle: one line on what we found for The Food Group]</a:t>
            </a:r>
            <a:endParaRPr lang="en-US" sz="1800" dirty="0"/>
          </a:p>
        </p:txBody>
      </p:sp>
      <p:sp>
        <p:nvSpPr>
          <p:cNvPr id="5" name="Text 0"/>
          <p:cNvSpPr/>
          <p:nvPr>
            <p:ph idx="103" type="body" hasCustomPrompt="1"/>
          </p:nvPr>
        </p:nvSpPr>
        <p:spPr>
          <a:xfrm>
            <a:off x="548640" y="5394960"/>
            <a:ext cx="7863840" cy="731520"/>
          </a:xfrm>
          <a:prstGeom prst="rect">
            <a:avLst/>
          </a:prstGeom>
          <a:noFill/>
          <a:ln/>
        </p:spPr>
        <p:txBody>
          <a:bodyPr wrap="square" lIns="0" tIns="0" rIns="0" bIns="0" rtlCol="0" anchor="t"/>
          <a:lstStyle/>
          <a:p>
            <a:pPr indent="0" marL="0">
              <a:buNone/>
            </a:pPr>
            <a:r>
              <a:rPr lang="en-US" sz="1400" dirty="0">
                <a:solidFill>
                  <a:schemeClr val="accent3"/>
                </a:solidFill>
              </a:rPr>
              <a:t>[Team name]  ·  [Member 1, Member 2, Member 3, Member 4]  ·  [University]</a:t>
            </a:r>
            <a:endParaRPr lang="en-US" sz="1400" dirty="0"/>
          </a:p>
        </p:txBody>
      </p:sp>
      <p:sp>
        <p:nvSpPr>
          <p:cNvPr id="6" name="motif-1"/>
          <p:cNvSpPr/>
          <p:nvPr/>
        </p:nvSpPr>
        <p:spPr>
          <a:xfrm>
            <a:off x="8869680" y="1280160"/>
            <a:ext cx="1005840" cy="1005840"/>
          </a:xfrm>
          <a:prstGeom prst="ellipse">
            <a:avLst/>
          </a:prstGeom>
          <a:solidFill>
            <a:schemeClr val="accent1"/>
          </a:solidFill>
          <a:ln w="19050">
            <a:solidFill>
              <a:schemeClr val="accent3"/>
            </a:solidFill>
            <a:prstDash val="solid"/>
          </a:ln>
        </p:spPr>
      </p:sp>
      <p:pic>
        <p:nvPicPr>
          <p:cNvPr id="7" name="motif-icon-2" descr="FaDoorOpen">    </p:cNvPr>
          <p:cNvPicPr>
            <a:picLocks noChangeAspect="1"/>
          </p:cNvPicPr>
          <p:nvPr/>
        </p:nvPicPr>
        <p:blipFill>
          <a:blip r:embed="rId1"/>
          <a:stretch>
            <a:fillRect/>
          </a:stretch>
        </p:blipFill>
        <p:spPr>
          <a:xfrm>
            <a:off x="9144000" y="1554480"/>
            <a:ext cx="457200" cy="457200"/>
          </a:xfrm>
          <a:prstGeom prst="rect">
            <a:avLst/>
          </a:prstGeom>
        </p:spPr>
      </p:pic>
      <p:sp>
        <p:nvSpPr>
          <p:cNvPr id="8" name="motif-3"/>
          <p:cNvSpPr/>
          <p:nvPr/>
        </p:nvSpPr>
        <p:spPr>
          <a:xfrm>
            <a:off x="10332720" y="2103120"/>
            <a:ext cx="1005840" cy="1005840"/>
          </a:xfrm>
          <a:prstGeom prst="ellipse">
            <a:avLst/>
          </a:prstGeom>
          <a:solidFill>
            <a:schemeClr val="accent1"/>
          </a:solidFill>
          <a:ln w="19050">
            <a:solidFill>
              <a:schemeClr val="accent3"/>
            </a:solidFill>
            <a:prstDash val="solid"/>
          </a:ln>
        </p:spPr>
      </p:sp>
      <p:pic>
        <p:nvPicPr>
          <p:cNvPr id="9" name="motif-icon-4" descr="FaWeightHanging">    </p:cNvPr>
          <p:cNvPicPr>
            <a:picLocks noChangeAspect="1"/>
          </p:cNvPicPr>
          <p:nvPr/>
        </p:nvPicPr>
        <p:blipFill>
          <a:blip r:embed="rId2"/>
          <a:stretch>
            <a:fillRect/>
          </a:stretch>
        </p:blipFill>
        <p:spPr>
          <a:xfrm>
            <a:off x="10607040" y="2377440"/>
            <a:ext cx="457200" cy="457200"/>
          </a:xfrm>
          <a:prstGeom prst="rect">
            <a:avLst/>
          </a:prstGeom>
        </p:spPr>
      </p:pic>
      <p:sp>
        <p:nvSpPr>
          <p:cNvPr id="10" name="motif-5"/>
          <p:cNvSpPr/>
          <p:nvPr/>
        </p:nvSpPr>
        <p:spPr>
          <a:xfrm>
            <a:off x="9052560" y="3108960"/>
            <a:ext cx="1005840" cy="1005840"/>
          </a:xfrm>
          <a:prstGeom prst="ellipse">
            <a:avLst/>
          </a:prstGeom>
          <a:solidFill>
            <a:schemeClr val="accent1"/>
          </a:solidFill>
          <a:ln w="19050">
            <a:solidFill>
              <a:schemeClr val="accent3"/>
            </a:solidFill>
            <a:prstDash val="solid"/>
          </a:ln>
        </p:spPr>
      </p:sp>
      <p:pic>
        <p:nvPicPr>
          <p:cNvPr id="11" name="motif-icon-6" descr="FaUsers">    </p:cNvPr>
          <p:cNvPicPr>
            <a:picLocks noChangeAspect="1"/>
          </p:cNvPicPr>
          <p:nvPr/>
        </p:nvPicPr>
        <p:blipFill>
          <a:blip r:embed="rId3"/>
          <a:stretch>
            <a:fillRect/>
          </a:stretch>
        </p:blipFill>
        <p:spPr>
          <a:xfrm>
            <a:off x="9326880" y="3383280"/>
            <a:ext cx="457200" cy="457200"/>
          </a:xfrm>
          <a:prstGeom prst="rect">
            <a:avLst/>
          </a:prstGeom>
        </p:spPr>
      </p:pic>
      <p:sp>
        <p:nvSpPr>
          <p:cNvPr id="12" name="motif-7"/>
          <p:cNvSpPr/>
          <p:nvPr/>
        </p:nvSpPr>
        <p:spPr>
          <a:xfrm>
            <a:off x="10515600" y="4023360"/>
            <a:ext cx="1005840" cy="1005840"/>
          </a:xfrm>
          <a:prstGeom prst="ellipse">
            <a:avLst/>
          </a:prstGeom>
          <a:solidFill>
            <a:schemeClr val="accent1"/>
          </a:solidFill>
          <a:ln w="19050">
            <a:solidFill>
              <a:schemeClr val="accent3"/>
            </a:solidFill>
            <a:prstDash val="solid"/>
          </a:ln>
        </p:spPr>
      </p:sp>
      <p:pic>
        <p:nvPicPr>
          <p:cNvPr id="13" name="motif-icon-8" descr="FaMapLocationDot">    </p:cNvPr>
          <p:cNvPicPr>
            <a:picLocks noChangeAspect="1"/>
          </p:cNvPicPr>
          <p:nvPr/>
        </p:nvPicPr>
        <p:blipFill>
          <a:blip r:embed="rId4"/>
          <a:stretch>
            <a:fillRect/>
          </a:stretch>
        </p:blipFill>
        <p:spPr>
          <a:xfrm>
            <a:off x="10789920" y="4297680"/>
            <a:ext cx="457200" cy="457200"/>
          </a:xfrm>
          <a:prstGeom prst="rect">
            <a:avLst/>
          </a:prstGeom>
        </p:spPr>
      </p:pic>
      <p:sp>
        <p:nvSpPr>
          <p:cNvPr id="14" name="motif-9"/>
          <p:cNvSpPr/>
          <p:nvPr/>
        </p:nvSpPr>
        <p:spPr>
          <a:xfrm>
            <a:off x="9235440" y="4846320"/>
            <a:ext cx="1005840" cy="1005840"/>
          </a:xfrm>
          <a:prstGeom prst="ellipse">
            <a:avLst/>
          </a:prstGeom>
          <a:solidFill>
            <a:schemeClr val="accent1"/>
          </a:solidFill>
          <a:ln w="19050">
            <a:solidFill>
              <a:schemeClr val="accent3"/>
            </a:solidFill>
            <a:prstDash val="solid"/>
          </a:ln>
        </p:spPr>
      </p:sp>
      <p:pic>
        <p:nvPicPr>
          <p:cNvPr id="15" name="motif-icon-10" descr="FaCartShopping">    </p:cNvPr>
          <p:cNvPicPr>
            <a:picLocks noChangeAspect="1"/>
          </p:cNvPicPr>
          <p:nvPr/>
        </p:nvPicPr>
        <p:blipFill>
          <a:blip r:embed="rId5"/>
          <a:stretch>
            <a:fillRect/>
          </a:stretch>
        </p:blipFill>
        <p:spPr>
          <a:xfrm>
            <a:off x="9509760" y="512064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PROBLEM</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[Hook headline: a visit is not the same as a need]</a:t>
            </a:r>
            <a:endParaRPr lang="en-US" sz="3000" dirty="0"/>
          </a:p>
        </p:txBody>
      </p:sp>
      <p:sp>
        <p:nvSpPr>
          <p:cNvPr id="4" name="venn-need-11"/>
          <p:cNvSpPr/>
          <p:nvPr/>
        </p:nvSpPr>
        <p:spPr>
          <a:xfrm>
            <a:off x="731520" y="1783080"/>
            <a:ext cx="3291840" cy="3291840"/>
          </a:xfrm>
          <a:prstGeom prst="ellipse">
            <a:avLst/>
          </a:prstGeom>
          <a:solidFill>
            <a:schemeClr val="accent3">
              <a:alpha val="45000"/>
            </a:schemeClr>
          </a:solidFill>
          <a:ln w="19050">
            <a:solidFill>
              <a:schemeClr val="accent3"/>
            </a:solidFill>
            <a:prstDash val="solid"/>
          </a:ln>
        </p:spPr>
      </p:sp>
      <p:sp>
        <p:nvSpPr>
          <p:cNvPr id="5" name="venn-demand-12"/>
          <p:cNvSpPr/>
          <p:nvPr/>
        </p:nvSpPr>
        <p:spPr>
          <a:xfrm>
            <a:off x="2926080" y="1783080"/>
            <a:ext cx="3291840" cy="3291840"/>
          </a:xfrm>
          <a:prstGeom prst="ellipse">
            <a:avLst/>
          </a:prstGeom>
          <a:solidFill>
            <a:schemeClr val="accent2">
              <a:alpha val="40000"/>
            </a:schemeClr>
          </a:solidFill>
          <a:ln w="19050">
            <a:solidFill>
              <a:schemeClr val="accent2"/>
            </a:solidFill>
            <a:prstDash val="solid"/>
          </a:ln>
        </p:spPr>
      </p:sp>
      <p:sp>
        <p:nvSpPr>
          <p:cNvPr id="6" name="venn-l-13"/>
          <p:cNvSpPr txBox="1"/>
          <p:nvPr/>
        </p:nvSpPr>
        <p:spPr>
          <a:xfrm>
            <a:off x="1005840" y="2240280"/>
            <a:ext cx="1463040" cy="365760"/>
          </a:xfrm>
          <a:prstGeom prst="rect">
            <a:avLst/>
          </a:prstGeom>
          <a:noFill/>
          <a:ln/>
        </p:spPr>
        <p:txBody>
          <a:bodyPr wrap="square" lIns="0" tIns="0" rIns="0" bIns="0" rtlCol="0" anchor="ctr"/>
          <a:lstStyle/>
          <a:p>
            <a:pPr indent="0" marL="0">
              <a:buNone/>
            </a:pPr>
            <a:r>
              <a:rPr lang="en-US" sz="1600" b="1" dirty="0">
                <a:solidFill>
                  <a:schemeClr val="tx2"/>
                </a:solidFill>
              </a:rPr>
              <a:t>NEED</a:t>
            </a:r>
            <a:endParaRPr lang="en-US" sz="1600" dirty="0"/>
          </a:p>
        </p:txBody>
      </p:sp>
      <p:sp>
        <p:nvSpPr>
          <p:cNvPr id="7" name="venn-r-14"/>
          <p:cNvSpPr txBox="1"/>
          <p:nvPr/>
        </p:nvSpPr>
        <p:spPr>
          <a:xfrm>
            <a:off x="4663440" y="2240280"/>
            <a:ext cx="1371600" cy="365760"/>
          </a:xfrm>
          <a:prstGeom prst="rect">
            <a:avLst/>
          </a:prstGeom>
          <a:noFill/>
          <a:ln/>
        </p:spPr>
        <p:txBody>
          <a:bodyPr wrap="square" lIns="0" tIns="0" rIns="0" bIns="0" rtlCol="0" anchor="ctr"/>
          <a:lstStyle/>
          <a:p>
            <a:pPr algn="r" indent="0" marL="0">
              <a:buNone/>
            </a:pPr>
            <a:r>
              <a:rPr lang="en-US" sz="1600" b="1" dirty="0">
                <a:solidFill>
                  <a:schemeClr val="accent6"/>
                </a:solidFill>
              </a:rPr>
              <a:t>DEMAND</a:t>
            </a:r>
            <a:endParaRPr lang="en-US" sz="1600" dirty="0"/>
          </a:p>
        </p:txBody>
      </p:sp>
      <p:sp>
        <p:nvSpPr>
          <p:cNvPr id="8" name="venn-a-15"/>
          <p:cNvSpPr txBox="1"/>
          <p:nvPr/>
        </p:nvSpPr>
        <p:spPr>
          <a:xfrm>
            <a:off x="914400" y="3063240"/>
            <a:ext cx="1828800" cy="914400"/>
          </a:xfrm>
          <a:prstGeom prst="rect">
            <a:avLst/>
          </a:prstGeom>
          <a:noFill/>
          <a:ln/>
        </p:spPr>
        <p:txBody>
          <a:bodyPr wrap="square" lIns="0" tIns="0" rIns="0" bIns="0" rtlCol="0" anchor="ctr"/>
          <a:lstStyle/>
          <a:p>
            <a:pPr indent="0" marL="0">
              <a:buNone/>
            </a:pPr>
            <a:r>
              <a:rPr lang="en-US" sz="1200" i="1" dirty="0">
                <a:solidFill>
                  <a:schemeClr val="tx2"/>
                </a:solidFill>
              </a:rPr>
              <a:t>Need with no visits</a:t>
            </a:r>
            <a:endParaRPr lang="en-US" sz="1200" dirty="0"/>
          </a:p>
          <a:p>
            <a:pPr indent="0" marL="0">
              <a:buNone/>
            </a:pPr>
            <a:r>
              <a:rPr lang="en-US" sz="1200" i="1" dirty="0">
                <a:solidFill>
                  <a:schemeClr val="tx2"/>
                </a:solidFill>
              </a:rPr>
              <a:t>[stigma, distance, awareness]</a:t>
            </a:r>
            <a:endParaRPr lang="en-US" sz="1200" dirty="0"/>
          </a:p>
        </p:txBody>
      </p:sp>
      <p:sp>
        <p:nvSpPr>
          <p:cNvPr id="9" name="venn-b-16"/>
          <p:cNvSpPr txBox="1"/>
          <p:nvPr/>
        </p:nvSpPr>
        <p:spPr>
          <a:xfrm>
            <a:off x="2971800" y="3063240"/>
            <a:ext cx="1280160" cy="914400"/>
          </a:xfrm>
          <a:prstGeom prst="rect">
            <a:avLst/>
          </a:prstGeom>
          <a:noFill/>
          <a:ln/>
        </p:spPr>
        <p:txBody>
          <a:bodyPr wrap="square" lIns="0" tIns="0" rIns="0" bIns="0" rtlCol="0" anchor="ctr"/>
          <a:lstStyle/>
          <a:p>
            <a:pPr algn="ctr" indent="0" marL="0">
              <a:buNone/>
            </a:pPr>
            <a:r>
              <a:rPr lang="en-US" sz="1200" b="1" i="1" dirty="0">
                <a:solidFill>
                  <a:schemeClr val="tx2"/>
                </a:solidFill>
              </a:rPr>
              <a:t>Need that shows up as visits</a:t>
            </a:r>
            <a:endParaRPr lang="en-US" sz="1200" dirty="0"/>
          </a:p>
        </p:txBody>
      </p:sp>
      <p:sp>
        <p:nvSpPr>
          <p:cNvPr id="10" name="venn-c-17"/>
          <p:cNvSpPr txBox="1"/>
          <p:nvPr/>
        </p:nvSpPr>
        <p:spPr>
          <a:xfrm>
            <a:off x="4434840" y="3063240"/>
            <a:ext cx="1691640" cy="914400"/>
          </a:xfrm>
          <a:prstGeom prst="rect">
            <a:avLst/>
          </a:prstGeom>
          <a:noFill/>
          <a:ln/>
        </p:spPr>
        <p:txBody>
          <a:bodyPr wrap="square" lIns="0" tIns="0" rIns="0" bIns="0" rtlCol="0" anchor="ctr"/>
          <a:lstStyle/>
          <a:p>
            <a:pPr algn="r" indent="0" marL="0">
              <a:buNone/>
            </a:pPr>
            <a:r>
              <a:rPr lang="en-US" sz="1200" i="1" dirty="0">
                <a:solidFill>
                  <a:schemeClr val="tx2"/>
                </a:solidFill>
              </a:rPr>
              <a:t>Visits beyond need</a:t>
            </a:r>
            <a:endParaRPr lang="en-US" sz="1200" dirty="0"/>
          </a:p>
          <a:p>
            <a:pPr algn="r" indent="0" marL="0">
              <a:buNone/>
            </a:pPr>
            <a:r>
              <a:rPr lang="en-US" sz="1200" i="1" dirty="0">
                <a:solidFill>
                  <a:schemeClr val="tx2"/>
                </a:solidFill>
              </a:rPr>
              <a:t>[budget stretching, easy access]</a:t>
            </a:r>
            <a:endParaRPr lang="en-US" sz="1200" dirty="0"/>
          </a:p>
        </p:txBody>
      </p:sp>
      <p:sp>
        <p:nvSpPr>
          <p:cNvPr id="11" name="venn-cap-18"/>
          <p:cNvSpPr txBox="1"/>
          <p:nvPr/>
        </p:nvSpPr>
        <p:spPr>
          <a:xfrm>
            <a:off x="731520" y="5303520"/>
            <a:ext cx="5486400" cy="365760"/>
          </a:xfrm>
          <a:prstGeom prst="rect">
            <a:avLst/>
          </a:prstGeom>
          <a:noFill/>
          <a:ln/>
        </p:spPr>
        <p:txBody>
          <a:bodyPr wrap="square" lIns="0" tIns="0" rIns="0" bIns="0" rtlCol="0" anchor="ctr"/>
          <a:lstStyle/>
          <a:p>
            <a:pPr indent="0" marL="0">
              <a:buNone/>
            </a:pPr>
            <a:r>
              <a:rPr lang="en-US" sz="1600" b="1" dirty="0">
                <a:solidFill>
                  <a:schemeClr val="tx2"/>
                </a:solidFill>
              </a:rPr>
              <a:t>Today, allocation follows visits.</a:t>
            </a:r>
            <a:endParaRPr lang="en-US" sz="1600" dirty="0"/>
          </a:p>
        </p:txBody>
      </p:sp>
      <p:sp>
        <p:nvSpPr>
          <p:cNvPr id="12" name="stat-19"/>
          <p:cNvSpPr/>
          <p:nvPr/>
        </p:nvSpPr>
        <p:spPr>
          <a:xfrm>
            <a:off x="6949440" y="1783080"/>
            <a:ext cx="2286000" cy="2011680"/>
          </a:xfrm>
          <a:prstGeom prst="roundRect">
            <a:avLst>
              <a:gd name="adj" fmla="val 5455"/>
            </a:avLst>
          </a:prstGeom>
          <a:solidFill>
            <a:schemeClr val="bg2"/>
          </a:solidFill>
          <a:ln/>
        </p:spPr>
      </p:sp>
      <p:sp>
        <p:nvSpPr>
          <p:cNvPr id="13" name="stat-value-20"/>
          <p:cNvSpPr txBox="1"/>
          <p:nvPr/>
        </p:nvSpPr>
        <p:spPr>
          <a:xfrm>
            <a:off x="7178040" y="1965960"/>
            <a:ext cx="1828800" cy="965606"/>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 ]</a:t>
            </a:r>
            <a:endParaRPr lang="en-US" sz="4000" dirty="0"/>
          </a:p>
        </p:txBody>
      </p:sp>
      <p:sp>
        <p:nvSpPr>
          <p:cNvPr id="14" name="stat-label-21"/>
          <p:cNvSpPr txBox="1"/>
          <p:nvPr/>
        </p:nvSpPr>
        <p:spPr>
          <a:xfrm>
            <a:off x="7178040" y="2977286"/>
            <a:ext cx="1828800" cy="320040"/>
          </a:xfrm>
          <a:prstGeom prst="rect">
            <a:avLst/>
          </a:prstGeom>
          <a:noFill/>
          <a:ln/>
        </p:spPr>
        <p:txBody>
          <a:bodyPr wrap="square" lIns="0" tIns="0" rIns="0" bIns="0" rtlCol="0" anchor="t"/>
          <a:lstStyle/>
          <a:p>
            <a:pPr indent="0" marL="0">
              <a:buNone/>
            </a:pPr>
            <a:r>
              <a:rPr lang="en-US" sz="1500" b="1" dirty="0">
                <a:solidFill>
                  <a:schemeClr val="tx2"/>
                </a:solidFill>
              </a:rPr>
              <a:t>[Stat label]</a:t>
            </a:r>
            <a:endParaRPr lang="en-US" sz="1500" dirty="0"/>
          </a:p>
        </p:txBody>
      </p:sp>
      <p:sp>
        <p:nvSpPr>
          <p:cNvPr id="15" name="stat-hint-22"/>
          <p:cNvSpPr txBox="1"/>
          <p:nvPr/>
        </p:nvSpPr>
        <p:spPr>
          <a:xfrm>
            <a:off x="7178040" y="3315614"/>
            <a:ext cx="1828800" cy="314554"/>
          </a:xfrm>
          <a:prstGeom prst="rect">
            <a:avLst/>
          </a:prstGeom>
          <a:noFill/>
          <a:ln/>
        </p:spPr>
        <p:txBody>
          <a:bodyPr wrap="square" lIns="0" tIns="0" rIns="0" bIns="0" rtlCol="0" anchor="t"/>
          <a:lstStyle/>
          <a:p>
            <a:pPr indent="0" marL="0">
              <a:buNone/>
            </a:pPr>
            <a:r>
              <a:rPr lang="en-US" sz="1200" i="1" dirty="0">
                <a:solidFill>
                  <a:schemeClr val="accent5"/>
                </a:solidFill>
              </a:rPr>
              <a:t>[e.g. share of adults who are food insecure]</a:t>
            </a:r>
            <a:endParaRPr lang="en-US" sz="1200" dirty="0"/>
          </a:p>
        </p:txBody>
      </p:sp>
      <p:sp>
        <p:nvSpPr>
          <p:cNvPr id="16" name="stat-23"/>
          <p:cNvSpPr/>
          <p:nvPr/>
        </p:nvSpPr>
        <p:spPr>
          <a:xfrm>
            <a:off x="9354312" y="1783080"/>
            <a:ext cx="2286000" cy="2011680"/>
          </a:xfrm>
          <a:prstGeom prst="roundRect">
            <a:avLst>
              <a:gd name="adj" fmla="val 5455"/>
            </a:avLst>
          </a:prstGeom>
          <a:solidFill>
            <a:schemeClr val="bg2"/>
          </a:solidFill>
          <a:ln/>
        </p:spPr>
      </p:sp>
      <p:sp>
        <p:nvSpPr>
          <p:cNvPr id="17" name="stat-value-24"/>
          <p:cNvSpPr txBox="1"/>
          <p:nvPr/>
        </p:nvSpPr>
        <p:spPr>
          <a:xfrm>
            <a:off x="9582912" y="1965960"/>
            <a:ext cx="1828800" cy="965606"/>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 ]</a:t>
            </a:r>
            <a:endParaRPr lang="en-US" sz="4000" dirty="0"/>
          </a:p>
        </p:txBody>
      </p:sp>
      <p:sp>
        <p:nvSpPr>
          <p:cNvPr id="18" name="stat-label-25"/>
          <p:cNvSpPr txBox="1"/>
          <p:nvPr/>
        </p:nvSpPr>
        <p:spPr>
          <a:xfrm>
            <a:off x="9582912" y="2977286"/>
            <a:ext cx="1828800" cy="320040"/>
          </a:xfrm>
          <a:prstGeom prst="rect">
            <a:avLst/>
          </a:prstGeom>
          <a:noFill/>
          <a:ln/>
        </p:spPr>
        <p:txBody>
          <a:bodyPr wrap="square" lIns="0" tIns="0" rIns="0" bIns="0" rtlCol="0" anchor="t"/>
          <a:lstStyle/>
          <a:p>
            <a:pPr indent="0" marL="0">
              <a:buNone/>
            </a:pPr>
            <a:r>
              <a:rPr lang="en-US" sz="1500" b="1" dirty="0">
                <a:solidFill>
                  <a:schemeClr val="tx2"/>
                </a:solidFill>
              </a:rPr>
              <a:t>[Stat label]</a:t>
            </a:r>
            <a:endParaRPr lang="en-US" sz="1500" dirty="0"/>
          </a:p>
        </p:txBody>
      </p:sp>
      <p:sp>
        <p:nvSpPr>
          <p:cNvPr id="19" name="stat-hint-26"/>
          <p:cNvSpPr txBox="1"/>
          <p:nvPr/>
        </p:nvSpPr>
        <p:spPr>
          <a:xfrm>
            <a:off x="9582912" y="3315614"/>
            <a:ext cx="1828800" cy="314554"/>
          </a:xfrm>
          <a:prstGeom prst="rect">
            <a:avLst/>
          </a:prstGeom>
          <a:noFill/>
          <a:ln/>
        </p:spPr>
        <p:txBody>
          <a:bodyPr wrap="square" lIns="0" tIns="0" rIns="0" bIns="0" rtlCol="0" anchor="t"/>
          <a:lstStyle/>
          <a:p>
            <a:pPr indent="0" marL="0">
              <a:buNone/>
            </a:pPr>
            <a:r>
              <a:rPr lang="en-US" sz="1200" i="1" dirty="0">
                <a:solidFill>
                  <a:schemeClr val="accent5"/>
                </a:solidFill>
              </a:rPr>
              <a:t>[e.g. share who use charitable food]</a:t>
            </a:r>
            <a:endParaRPr lang="en-US" sz="1200" dirty="0"/>
          </a:p>
        </p:txBody>
      </p:sp>
      <p:sp>
        <p:nvSpPr>
          <p:cNvPr id="20" name="hook-body-27"/>
          <p:cNvSpPr txBox="1"/>
          <p:nvPr/>
        </p:nvSpPr>
        <p:spPr>
          <a:xfrm>
            <a:off x="6949440" y="4069080"/>
            <a:ext cx="4690872" cy="1463040"/>
          </a:xfrm>
          <a:prstGeom prst="rect">
            <a:avLst/>
          </a:prstGeom>
          <a:noFill/>
          <a:ln/>
        </p:spPr>
        <p:txBody>
          <a:bodyPr wrap="square" lIns="0" tIns="0" rIns="0" bIns="0" rtlCol="0" anchor="t"/>
          <a:lstStyle/>
          <a:p>
            <a:pPr indent="0" marL="0">
              <a:buNone/>
            </a:pPr>
            <a:r>
              <a:rPr lang="en-US" sz="1400" i="1" dirty="0">
                <a:solidFill>
                  <a:schemeClr val="accent5"/>
                </a:solidFill>
              </a:rPr>
              <a:t>[2–3 sentences: why counting visits alone can hide areas of high need, and over-reward areas that are easy to reach]</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WHY IT MATTERS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getting this right changes four decisions]</a:t>
            </a:r>
            <a:endParaRPr lang="en-US" sz="3000" dirty="0"/>
          </a:p>
        </p:txBody>
      </p:sp>
      <p:sp>
        <p:nvSpPr>
          <p:cNvPr id="4" name="card-28"/>
          <p:cNvSpPr/>
          <p:nvPr/>
        </p:nvSpPr>
        <p:spPr>
          <a:xfrm>
            <a:off x="548640"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5" name="card-badge-29"/>
          <p:cNvSpPr/>
          <p:nvPr/>
        </p:nvSpPr>
        <p:spPr>
          <a:xfrm>
            <a:off x="822960" y="2011680"/>
            <a:ext cx="566928" cy="566928"/>
          </a:xfrm>
          <a:prstGeom prst="ellipse">
            <a:avLst/>
          </a:prstGeom>
          <a:solidFill>
            <a:schemeClr val="tx2"/>
          </a:solidFill>
          <a:ln/>
        </p:spPr>
      </p:sp>
      <p:pic>
        <p:nvPicPr>
          <p:cNvPr id="6" name="card-icon-30" descr="Allocate resources">    </p:cNvPr>
          <p:cNvPicPr>
            <a:picLocks noChangeAspect="1"/>
          </p:cNvPicPr>
          <p:nvPr/>
        </p:nvPicPr>
        <p:blipFill>
          <a:blip r:embed="rId1"/>
          <a:stretch>
            <a:fillRect/>
          </a:stretch>
        </p:blipFill>
        <p:spPr>
          <a:xfrm>
            <a:off x="959023" y="2147743"/>
            <a:ext cx="294803" cy="294803"/>
          </a:xfrm>
          <a:prstGeom prst="rect">
            <a:avLst/>
          </a:prstGeom>
        </p:spPr>
      </p:pic>
      <p:sp>
        <p:nvSpPr>
          <p:cNvPr id="7" name="card-head-31"/>
          <p:cNvSpPr txBox="1"/>
          <p:nvPr/>
        </p:nvSpPr>
        <p:spPr>
          <a:xfrm>
            <a:off x="822960"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Allocate resources</a:t>
            </a:r>
            <a:endParaRPr lang="en-US" sz="1800" dirty="0"/>
          </a:p>
        </p:txBody>
      </p:sp>
      <p:sp>
        <p:nvSpPr>
          <p:cNvPr id="8" name="card-body-32"/>
          <p:cNvSpPr txBox="1"/>
          <p:nvPr/>
        </p:nvSpPr>
        <p:spPr>
          <a:xfrm>
            <a:off x="822960"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[Where food and funding should go if it followed need, not just visits]</a:t>
            </a:r>
            <a:endParaRPr lang="en-US" sz="1400" dirty="0"/>
          </a:p>
        </p:txBody>
      </p:sp>
      <p:sp>
        <p:nvSpPr>
          <p:cNvPr id="9" name="card-33"/>
          <p:cNvSpPr/>
          <p:nvPr/>
        </p:nvSpPr>
        <p:spPr>
          <a:xfrm>
            <a:off x="3390824"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0" name="card-badge-34"/>
          <p:cNvSpPr/>
          <p:nvPr/>
        </p:nvSpPr>
        <p:spPr>
          <a:xfrm>
            <a:off x="3665144" y="2011680"/>
            <a:ext cx="566928" cy="566928"/>
          </a:xfrm>
          <a:prstGeom prst="ellipse">
            <a:avLst/>
          </a:prstGeom>
          <a:solidFill>
            <a:schemeClr val="tx2"/>
          </a:solidFill>
          <a:ln/>
        </p:spPr>
      </p:sp>
      <p:pic>
        <p:nvPicPr>
          <p:cNvPr id="11" name="card-icon-35" descr="Site new food shelves">    </p:cNvPr>
          <p:cNvPicPr>
            <a:picLocks noChangeAspect="1"/>
          </p:cNvPicPr>
          <p:nvPr/>
        </p:nvPicPr>
        <p:blipFill>
          <a:blip r:embed="rId2"/>
          <a:stretch>
            <a:fillRect/>
          </a:stretch>
        </p:blipFill>
        <p:spPr>
          <a:xfrm>
            <a:off x="3801207" y="2147743"/>
            <a:ext cx="294803" cy="294803"/>
          </a:xfrm>
          <a:prstGeom prst="rect">
            <a:avLst/>
          </a:prstGeom>
        </p:spPr>
      </p:pic>
      <p:sp>
        <p:nvSpPr>
          <p:cNvPr id="12" name="card-head-36"/>
          <p:cNvSpPr txBox="1"/>
          <p:nvPr/>
        </p:nvSpPr>
        <p:spPr>
          <a:xfrm>
            <a:off x="3665144"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Site new food shelves</a:t>
            </a:r>
            <a:endParaRPr lang="en-US" sz="1800" dirty="0"/>
          </a:p>
        </p:txBody>
      </p:sp>
      <p:sp>
        <p:nvSpPr>
          <p:cNvPr id="13" name="card-body-37"/>
          <p:cNvSpPr txBox="1"/>
          <p:nvPr/>
        </p:nvSpPr>
        <p:spPr>
          <a:xfrm>
            <a:off x="3665144"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[Where access gaps suggest a new site or mobile pantry]</a:t>
            </a:r>
            <a:endParaRPr lang="en-US" sz="1400" dirty="0"/>
          </a:p>
        </p:txBody>
      </p:sp>
      <p:sp>
        <p:nvSpPr>
          <p:cNvPr id="14" name="card-38"/>
          <p:cNvSpPr/>
          <p:nvPr/>
        </p:nvSpPr>
        <p:spPr>
          <a:xfrm>
            <a:off x="6233008"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5" name="card-badge-39"/>
          <p:cNvSpPr/>
          <p:nvPr/>
        </p:nvSpPr>
        <p:spPr>
          <a:xfrm>
            <a:off x="6507328" y="2011680"/>
            <a:ext cx="566928" cy="566928"/>
          </a:xfrm>
          <a:prstGeom prst="ellipse">
            <a:avLst/>
          </a:prstGeom>
          <a:solidFill>
            <a:schemeClr val="tx2"/>
          </a:solidFill>
          <a:ln/>
        </p:spPr>
      </p:sp>
      <p:pic>
        <p:nvPicPr>
          <p:cNvPr id="16" name="card-icon-40" descr="Advocate for policy">    </p:cNvPr>
          <p:cNvPicPr>
            <a:picLocks noChangeAspect="1"/>
          </p:cNvPicPr>
          <p:nvPr/>
        </p:nvPicPr>
        <p:blipFill>
          <a:blip r:embed="rId3"/>
          <a:stretch>
            <a:fillRect/>
          </a:stretch>
        </p:blipFill>
        <p:spPr>
          <a:xfrm>
            <a:off x="6643390" y="2147743"/>
            <a:ext cx="294803" cy="294803"/>
          </a:xfrm>
          <a:prstGeom prst="rect">
            <a:avLst/>
          </a:prstGeom>
        </p:spPr>
      </p:pic>
      <p:sp>
        <p:nvSpPr>
          <p:cNvPr id="17" name="card-head-41"/>
          <p:cNvSpPr txBox="1"/>
          <p:nvPr/>
        </p:nvSpPr>
        <p:spPr>
          <a:xfrm>
            <a:off x="6507328"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Advocate for policy</a:t>
            </a:r>
            <a:endParaRPr lang="en-US" sz="1800" dirty="0"/>
          </a:p>
        </p:txBody>
      </p:sp>
      <p:sp>
        <p:nvSpPr>
          <p:cNvPr id="18" name="card-body-42"/>
          <p:cNvSpPr txBox="1"/>
          <p:nvPr/>
        </p:nvSpPr>
        <p:spPr>
          <a:xfrm>
            <a:off x="6507328"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[What evidence The Food Group can bring to lawmakers]</a:t>
            </a:r>
            <a:endParaRPr lang="en-US" sz="1400" dirty="0"/>
          </a:p>
        </p:txBody>
      </p:sp>
      <p:sp>
        <p:nvSpPr>
          <p:cNvPr id="19" name="card-43"/>
          <p:cNvSpPr/>
          <p:nvPr/>
        </p:nvSpPr>
        <p:spPr>
          <a:xfrm>
            <a:off x="9075191"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20" name="card-badge-44"/>
          <p:cNvSpPr/>
          <p:nvPr/>
        </p:nvSpPr>
        <p:spPr>
          <a:xfrm>
            <a:off x="9349511" y="2011680"/>
            <a:ext cx="566928" cy="566928"/>
          </a:xfrm>
          <a:prstGeom prst="ellipse">
            <a:avLst/>
          </a:prstGeom>
          <a:solidFill>
            <a:schemeClr val="tx2"/>
          </a:solidFill>
          <a:ln/>
        </p:spPr>
      </p:sp>
      <p:pic>
        <p:nvPicPr>
          <p:cNvPr id="21" name="card-icon-45" descr="Measure results">    </p:cNvPr>
          <p:cNvPicPr>
            <a:picLocks noChangeAspect="1"/>
          </p:cNvPicPr>
          <p:nvPr/>
        </p:nvPicPr>
        <p:blipFill>
          <a:blip r:embed="rId4"/>
          <a:stretch>
            <a:fillRect/>
          </a:stretch>
        </p:blipFill>
        <p:spPr>
          <a:xfrm>
            <a:off x="9485574" y="2147743"/>
            <a:ext cx="294803" cy="294803"/>
          </a:xfrm>
          <a:prstGeom prst="rect">
            <a:avLst/>
          </a:prstGeom>
        </p:spPr>
      </p:pic>
      <p:sp>
        <p:nvSpPr>
          <p:cNvPr id="22" name="card-head-46"/>
          <p:cNvSpPr txBox="1"/>
          <p:nvPr/>
        </p:nvSpPr>
        <p:spPr>
          <a:xfrm>
            <a:off x="9349511"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Measure results</a:t>
            </a:r>
            <a:endParaRPr lang="en-US" sz="1800" dirty="0"/>
          </a:p>
        </p:txBody>
      </p:sp>
      <p:sp>
        <p:nvSpPr>
          <p:cNvPr id="23" name="card-body-47"/>
          <p:cNvSpPr txBox="1"/>
          <p:nvPr/>
        </p:nvSpPr>
        <p:spPr>
          <a:xfrm>
            <a:off x="9349511"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[How to judge success beyond visit counts]</a:t>
            </a:r>
            <a:endParaRPr lang="en-US" sz="1400" dirty="0"/>
          </a:p>
        </p:txBody>
      </p:sp>
      <p:sp>
        <p:nvSpPr>
          <p:cNvPr id="24" name="takeaway-48"/>
          <p:cNvSpPr/>
          <p:nvPr/>
        </p:nvSpPr>
        <p:spPr>
          <a:xfrm>
            <a:off x="548640" y="5440680"/>
            <a:ext cx="11094415" cy="548640"/>
          </a:xfrm>
          <a:prstGeom prst="roundRect">
            <a:avLst>
              <a:gd name="adj" fmla="val 50000"/>
            </a:avLst>
          </a:prstGeom>
          <a:solidFill>
            <a:schemeClr val="tx2"/>
          </a:solidFill>
          <a:ln/>
        </p:spPr>
      </p:sp>
      <p:pic>
        <p:nvPicPr>
          <p:cNvPr id="25" name="takeaway-icon-49" descr="Takeaway">    </p:cNvPr>
          <p:cNvPicPr>
            <a:picLocks noChangeAspect="1"/>
          </p:cNvPicPr>
          <p:nvPr/>
        </p:nvPicPr>
        <p:blipFill>
          <a:blip r:embed="rId5"/>
          <a:stretch>
            <a:fillRect/>
          </a:stretch>
        </p:blipFill>
        <p:spPr>
          <a:xfrm>
            <a:off x="749808" y="5577840"/>
            <a:ext cx="274320" cy="274320"/>
          </a:xfrm>
          <a:prstGeom prst="rect">
            <a:avLst/>
          </a:prstGeom>
        </p:spPr>
      </p:pic>
      <p:sp>
        <p:nvSpPr>
          <p:cNvPr id="26" name="takeaway-text-50"/>
          <p:cNvSpPr txBox="1"/>
          <p:nvPr/>
        </p:nvSpPr>
        <p:spPr>
          <a:xfrm>
            <a:off x="1143000" y="5440680"/>
            <a:ext cx="10317175" cy="548640"/>
          </a:xfrm>
          <a:prstGeom prst="rect">
            <a:avLst/>
          </a:prstGeom>
          <a:noFill/>
          <a:ln/>
        </p:spPr>
        <p:txBody>
          <a:bodyPr wrap="square" lIns="0" tIns="0" rIns="0" bIns="0" rtlCol="0" anchor="ctr"/>
          <a:lstStyle/>
          <a:p>
            <a:pPr indent="0" marL="0">
              <a:buNone/>
            </a:pPr>
            <a:r>
              <a:rPr lang="en-US" sz="1400" b="1" dirty="0">
                <a:solidFill>
                  <a:schemeClr val="accent2"/>
                </a:solidFill>
              </a:rPr>
              <a:t>So what:  </a:t>
            </a:r>
            <a:pPr indent="0" marL="0">
              <a:buNone/>
            </a:pPr>
            <a:r>
              <a:rPr lang="en-US" sz="1400" i="1" dirty="0">
                <a:solidFill>
                  <a:schemeClr val="bg1"/>
                </a:solidFill>
              </a:rPr>
              <a:t>[One line: which of these four our analysis informs most, and how]</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ROADMAP</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three questions guide our story]</a:t>
            </a:r>
            <a:endParaRPr lang="en-US" sz="3000" dirty="0"/>
          </a:p>
        </p:txBody>
      </p:sp>
      <p:sp>
        <p:nvSpPr>
          <p:cNvPr id="4" name="act-51"/>
          <p:cNvSpPr/>
          <p:nvPr/>
        </p:nvSpPr>
        <p:spPr>
          <a:xfrm>
            <a:off x="548640" y="1737360"/>
            <a:ext cx="3454298" cy="4114800"/>
          </a:xfrm>
          <a:prstGeom prst="roundRect">
            <a:avLst>
              <a:gd name="adj" fmla="val 3177"/>
            </a:avLst>
          </a:prstGeom>
          <a:solidFill>
            <a:schemeClr val="tx2"/>
          </a:solidFill>
          <a:ln/>
        </p:spPr>
      </p:sp>
      <p:sp>
        <p:nvSpPr>
          <p:cNvPr id="5" name="act-k-52"/>
          <p:cNvSpPr txBox="1"/>
          <p:nvPr/>
        </p:nvSpPr>
        <p:spPr>
          <a:xfrm>
            <a:off x="914400" y="2057400"/>
            <a:ext cx="2722778" cy="320040"/>
          </a:xfrm>
          <a:prstGeom prst="rect">
            <a:avLst/>
          </a:prstGeom>
          <a:noFill/>
          <a:ln/>
        </p:spPr>
        <p:txBody>
          <a:bodyPr wrap="square" lIns="0" tIns="0" rIns="0" bIns="0" rtlCol="0" anchor="ctr"/>
          <a:lstStyle/>
          <a:p>
            <a:pPr indent="0" marL="0">
              <a:buNone/>
            </a:pPr>
            <a:r>
              <a:rPr lang="en-US" sz="1300" b="1" spc="300" kern="0" dirty="0">
                <a:solidFill>
                  <a:schemeClr val="accent2"/>
                </a:solidFill>
              </a:rPr>
              <a:t>ACT I</a:t>
            </a:r>
            <a:endParaRPr lang="en-US" sz="1300" dirty="0"/>
          </a:p>
        </p:txBody>
      </p:sp>
      <p:sp>
        <p:nvSpPr>
          <p:cNvPr id="6" name="act-t-53"/>
          <p:cNvSpPr txBox="1"/>
          <p:nvPr/>
        </p:nvSpPr>
        <p:spPr>
          <a:xfrm>
            <a:off x="914400" y="2423160"/>
            <a:ext cx="2722778" cy="82296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Where is the need?</a:t>
            </a:r>
            <a:endParaRPr lang="en-US" sz="2400" dirty="0"/>
          </a:p>
        </p:txBody>
      </p:sp>
      <p:sp>
        <p:nvSpPr>
          <p:cNvPr id="7" name="act-badge-54"/>
          <p:cNvSpPr/>
          <p:nvPr/>
        </p:nvSpPr>
        <p:spPr>
          <a:xfrm>
            <a:off x="914400" y="3429000"/>
            <a:ext cx="731520" cy="731520"/>
          </a:xfrm>
          <a:prstGeom prst="ellipse">
            <a:avLst/>
          </a:prstGeom>
          <a:solidFill>
            <a:schemeClr val="accent1"/>
          </a:solidFill>
          <a:ln w="15875">
            <a:solidFill>
              <a:schemeClr val="accent3"/>
            </a:solidFill>
            <a:prstDash val="solid"/>
          </a:ln>
        </p:spPr>
      </p:sp>
      <p:pic>
        <p:nvPicPr>
          <p:cNvPr id="8" name="act-icon-55" descr="Where is the need?">    </p:cNvPr>
          <p:cNvPicPr>
            <a:picLocks noChangeAspect="1"/>
          </p:cNvPicPr>
          <p:nvPr/>
        </p:nvPicPr>
        <p:blipFill>
          <a:blip r:embed="rId1"/>
          <a:stretch>
            <a:fillRect/>
          </a:stretch>
        </p:blipFill>
        <p:spPr>
          <a:xfrm>
            <a:off x="1097280" y="3611880"/>
            <a:ext cx="365760" cy="365760"/>
          </a:xfrm>
          <a:prstGeom prst="rect">
            <a:avLst/>
          </a:prstGeom>
        </p:spPr>
      </p:pic>
      <p:sp>
        <p:nvSpPr>
          <p:cNvPr id="9" name="act-qs-56"/>
          <p:cNvSpPr txBox="1"/>
          <p:nvPr/>
        </p:nvSpPr>
        <p:spPr>
          <a:xfrm>
            <a:off x="914400" y="4434840"/>
            <a:ext cx="2722778" cy="1097280"/>
          </a:xfrm>
          <a:prstGeom prst="rect">
            <a:avLst/>
          </a:prstGeom>
          <a:noFill/>
          <a:ln/>
        </p:spPr>
        <p:txBody>
          <a:bodyPr wrap="square" lIns="0" tIns="0" rIns="0" bIns="0" rtlCol="0" anchor="t"/>
          <a:lstStyle/>
          <a:p>
            <a:pPr indent="0" marL="0">
              <a:spcAft>
                <a:spcPts val="600"/>
              </a:spcAft>
              <a:buNone/>
            </a:pPr>
            <a:r>
              <a:rPr lang="en-US" sz="1500" dirty="0">
                <a:solidFill>
                  <a:schemeClr val="accent4"/>
                </a:solidFill>
              </a:rPr>
              <a:t>Q1  Need estimates vs. activity</a:t>
            </a:r>
            <a:endParaRPr lang="en-US" sz="1500" dirty="0"/>
          </a:p>
          <a:p>
            <a:pPr indent="0" marL="0">
              <a:spcAft>
                <a:spcPts val="600"/>
              </a:spcAft>
              <a:buNone/>
            </a:pPr>
            <a:r>
              <a:rPr lang="en-US" sz="1500" dirty="0">
                <a:solidFill>
                  <a:schemeClr val="accent4"/>
                </a:solidFill>
              </a:rPr>
              <a:t>Q6  Our divergence measure</a:t>
            </a:r>
            <a:endParaRPr lang="en-US" sz="1500" dirty="0"/>
          </a:p>
        </p:txBody>
      </p:sp>
      <p:sp>
        <p:nvSpPr>
          <p:cNvPr id="10" name="act-57"/>
          <p:cNvSpPr/>
          <p:nvPr/>
        </p:nvSpPr>
        <p:spPr>
          <a:xfrm>
            <a:off x="4368698" y="1737360"/>
            <a:ext cx="3454298" cy="4114800"/>
          </a:xfrm>
          <a:prstGeom prst="roundRect">
            <a:avLst>
              <a:gd name="adj" fmla="val 3177"/>
            </a:avLst>
          </a:prstGeom>
          <a:solidFill>
            <a:schemeClr val="bg2"/>
          </a:solidFill>
          <a:ln/>
        </p:spPr>
      </p:sp>
      <p:sp>
        <p:nvSpPr>
          <p:cNvPr id="11" name="act-k-58"/>
          <p:cNvSpPr txBox="1"/>
          <p:nvPr/>
        </p:nvSpPr>
        <p:spPr>
          <a:xfrm>
            <a:off x="4734458" y="2057400"/>
            <a:ext cx="2722778" cy="320040"/>
          </a:xfrm>
          <a:prstGeom prst="rect">
            <a:avLst/>
          </a:prstGeom>
          <a:noFill/>
          <a:ln/>
        </p:spPr>
        <p:txBody>
          <a:bodyPr wrap="square" lIns="0" tIns="0" rIns="0" bIns="0" rtlCol="0" anchor="ctr"/>
          <a:lstStyle/>
          <a:p>
            <a:pPr indent="0" marL="0">
              <a:buNone/>
            </a:pPr>
            <a:r>
              <a:rPr lang="en-US" sz="1300" b="1" spc="300" kern="0" dirty="0">
                <a:solidFill>
                  <a:schemeClr val="accent2"/>
                </a:solidFill>
              </a:rPr>
              <a:t>ACT II</a:t>
            </a:r>
            <a:endParaRPr lang="en-US" sz="1300" dirty="0"/>
          </a:p>
        </p:txBody>
      </p:sp>
      <p:sp>
        <p:nvSpPr>
          <p:cNvPr id="12" name="act-t-59"/>
          <p:cNvSpPr txBox="1"/>
          <p:nvPr/>
        </p:nvSpPr>
        <p:spPr>
          <a:xfrm>
            <a:off x="4734458" y="2423160"/>
            <a:ext cx="2722778" cy="82296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What moves demand?</a:t>
            </a:r>
            <a:endParaRPr lang="en-US" sz="2400" dirty="0"/>
          </a:p>
        </p:txBody>
      </p:sp>
      <p:sp>
        <p:nvSpPr>
          <p:cNvPr id="13" name="act-badge-60"/>
          <p:cNvSpPr/>
          <p:nvPr/>
        </p:nvSpPr>
        <p:spPr>
          <a:xfrm>
            <a:off x="4734458" y="3429000"/>
            <a:ext cx="731520" cy="731520"/>
          </a:xfrm>
          <a:prstGeom prst="ellipse">
            <a:avLst/>
          </a:prstGeom>
          <a:solidFill>
            <a:schemeClr val="bg1"/>
          </a:solidFill>
          <a:ln w="15875">
            <a:solidFill>
              <a:schemeClr val="accent3"/>
            </a:solidFill>
            <a:prstDash val="solid"/>
          </a:ln>
        </p:spPr>
      </p:sp>
      <p:pic>
        <p:nvPicPr>
          <p:cNvPr id="14" name="act-icon-61" descr="What moves demand?">    </p:cNvPr>
          <p:cNvPicPr>
            <a:picLocks noChangeAspect="1"/>
          </p:cNvPicPr>
          <p:nvPr/>
        </p:nvPicPr>
        <p:blipFill>
          <a:blip r:embed="rId2"/>
          <a:stretch>
            <a:fillRect/>
          </a:stretch>
        </p:blipFill>
        <p:spPr>
          <a:xfrm>
            <a:off x="4917338" y="3611880"/>
            <a:ext cx="365760" cy="365760"/>
          </a:xfrm>
          <a:prstGeom prst="rect">
            <a:avLst/>
          </a:prstGeom>
        </p:spPr>
      </p:pic>
      <p:sp>
        <p:nvSpPr>
          <p:cNvPr id="15" name="act-qs-62"/>
          <p:cNvSpPr txBox="1"/>
          <p:nvPr/>
        </p:nvSpPr>
        <p:spPr>
          <a:xfrm>
            <a:off x="4734458" y="4434840"/>
            <a:ext cx="2722778" cy="10972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Q4  Food prices</a:t>
            </a:r>
            <a:endParaRPr lang="en-US" sz="1500" dirty="0"/>
          </a:p>
          <a:p>
            <a:pPr indent="0" marL="0">
              <a:spcAft>
                <a:spcPts val="600"/>
              </a:spcAft>
              <a:buNone/>
            </a:pPr>
            <a:r>
              <a:rPr lang="en-US" sz="1500" dirty="0">
                <a:solidFill>
                  <a:schemeClr val="tx1"/>
                </a:solidFill>
              </a:rPr>
              <a:t>Q5  SNAP enrollment &amp; benefits</a:t>
            </a:r>
            <a:endParaRPr lang="en-US" sz="1500" dirty="0"/>
          </a:p>
        </p:txBody>
      </p:sp>
      <p:sp>
        <p:nvSpPr>
          <p:cNvPr id="16" name="act-63"/>
          <p:cNvSpPr/>
          <p:nvPr/>
        </p:nvSpPr>
        <p:spPr>
          <a:xfrm>
            <a:off x="8188757" y="1737360"/>
            <a:ext cx="3454298" cy="4114800"/>
          </a:xfrm>
          <a:prstGeom prst="roundRect">
            <a:avLst>
              <a:gd name="adj" fmla="val 3177"/>
            </a:avLst>
          </a:prstGeom>
          <a:solidFill>
            <a:schemeClr val="bg2"/>
          </a:solidFill>
          <a:ln/>
        </p:spPr>
      </p:sp>
      <p:sp>
        <p:nvSpPr>
          <p:cNvPr id="17" name="act-k-64"/>
          <p:cNvSpPr txBox="1"/>
          <p:nvPr/>
        </p:nvSpPr>
        <p:spPr>
          <a:xfrm>
            <a:off x="8554517" y="2057400"/>
            <a:ext cx="2722778" cy="320040"/>
          </a:xfrm>
          <a:prstGeom prst="rect">
            <a:avLst/>
          </a:prstGeom>
          <a:noFill/>
          <a:ln/>
        </p:spPr>
        <p:txBody>
          <a:bodyPr wrap="square" lIns="0" tIns="0" rIns="0" bIns="0" rtlCol="0" anchor="ctr"/>
          <a:lstStyle/>
          <a:p>
            <a:pPr indent="0" marL="0">
              <a:buNone/>
            </a:pPr>
            <a:r>
              <a:rPr lang="en-US" sz="1300" b="1" spc="300" kern="0" dirty="0">
                <a:solidFill>
                  <a:schemeClr val="accent2"/>
                </a:solidFill>
              </a:rPr>
              <a:t>ACT III</a:t>
            </a:r>
            <a:endParaRPr lang="en-US" sz="1300" dirty="0"/>
          </a:p>
        </p:txBody>
      </p:sp>
      <p:sp>
        <p:nvSpPr>
          <p:cNvPr id="18" name="act-t-65"/>
          <p:cNvSpPr txBox="1"/>
          <p:nvPr/>
        </p:nvSpPr>
        <p:spPr>
          <a:xfrm>
            <a:off x="8554517" y="2423160"/>
            <a:ext cx="2722778" cy="82296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What comes next?</a:t>
            </a:r>
            <a:endParaRPr lang="en-US" sz="2400" dirty="0"/>
          </a:p>
        </p:txBody>
      </p:sp>
      <p:sp>
        <p:nvSpPr>
          <p:cNvPr id="19" name="act-badge-66"/>
          <p:cNvSpPr/>
          <p:nvPr/>
        </p:nvSpPr>
        <p:spPr>
          <a:xfrm>
            <a:off x="8554517" y="3429000"/>
            <a:ext cx="731520" cy="731520"/>
          </a:xfrm>
          <a:prstGeom prst="ellipse">
            <a:avLst/>
          </a:prstGeom>
          <a:solidFill>
            <a:schemeClr val="bg1"/>
          </a:solidFill>
          <a:ln w="15875">
            <a:solidFill>
              <a:schemeClr val="accent3"/>
            </a:solidFill>
            <a:prstDash val="solid"/>
          </a:ln>
        </p:spPr>
      </p:sp>
      <p:pic>
        <p:nvPicPr>
          <p:cNvPr id="20" name="act-icon-67" descr="What comes next?">    </p:cNvPr>
          <p:cNvPicPr>
            <a:picLocks noChangeAspect="1"/>
          </p:cNvPicPr>
          <p:nvPr/>
        </p:nvPicPr>
        <p:blipFill>
          <a:blip r:embed="rId3"/>
          <a:stretch>
            <a:fillRect/>
          </a:stretch>
        </p:blipFill>
        <p:spPr>
          <a:xfrm>
            <a:off x="8737397" y="3611880"/>
            <a:ext cx="365760" cy="365760"/>
          </a:xfrm>
          <a:prstGeom prst="rect">
            <a:avLst/>
          </a:prstGeom>
        </p:spPr>
      </p:pic>
      <p:sp>
        <p:nvSpPr>
          <p:cNvPr id="21" name="act-qs-68"/>
          <p:cNvSpPr txBox="1"/>
          <p:nvPr/>
        </p:nvSpPr>
        <p:spPr>
          <a:xfrm>
            <a:off x="8554517" y="4434840"/>
            <a:ext cx="2722778" cy="10972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Q7  August 2026 forecast</a:t>
            </a:r>
            <a:endParaRPr lang="en-US" sz="1500" dirty="0"/>
          </a:p>
          <a:p>
            <a:pPr indent="0" marL="0">
              <a:spcAft>
                <a:spcPts val="600"/>
              </a:spcAft>
              <a:buNone/>
            </a:pPr>
            <a:r>
              <a:rPr lang="en-US" sz="1500" dirty="0">
                <a:solidFill>
                  <a:schemeClr val="tx1"/>
                </a:solidFill>
              </a:rPr>
              <a:t>Recommendations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EXECUTIVE SUMMARY</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our answer in one sentence]</a:t>
            </a:r>
            <a:endParaRPr lang="en-US" sz="3000" dirty="0"/>
          </a:p>
        </p:txBody>
      </p:sp>
      <p:sp>
        <p:nvSpPr>
          <p:cNvPr id="4" name="ex-row-69"/>
          <p:cNvSpPr/>
          <p:nvPr/>
        </p:nvSpPr>
        <p:spPr>
          <a:xfrm>
            <a:off x="548640" y="1691640"/>
            <a:ext cx="11094415" cy="749808"/>
          </a:xfrm>
          <a:prstGeom prst="roundRect">
            <a:avLst>
              <a:gd name="adj" fmla="val 12195"/>
            </a:avLst>
          </a:prstGeom>
          <a:solidFill>
            <a:schemeClr val="bg2"/>
          </a:solidFill>
          <a:ln/>
        </p:spPr>
      </p:sp>
      <p:sp>
        <p:nvSpPr>
          <p:cNvPr id="5" name="ex-badge-70"/>
          <p:cNvSpPr/>
          <p:nvPr/>
        </p:nvSpPr>
        <p:spPr>
          <a:xfrm>
            <a:off x="731520" y="1810512"/>
            <a:ext cx="512064" cy="512064"/>
          </a:xfrm>
          <a:prstGeom prst="ellipse">
            <a:avLst/>
          </a:prstGeom>
          <a:solidFill>
            <a:schemeClr val="tx2"/>
          </a:solidFill>
          <a:ln/>
        </p:spPr>
      </p:sp>
      <p:sp>
        <p:nvSpPr>
          <p:cNvPr id="6" name="ex-q-71"/>
          <p:cNvSpPr txBox="1"/>
          <p:nvPr/>
        </p:nvSpPr>
        <p:spPr>
          <a:xfrm>
            <a:off x="731520" y="1810512"/>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7" name="ex-ask-72"/>
          <p:cNvSpPr txBox="1"/>
          <p:nvPr/>
        </p:nvSpPr>
        <p:spPr>
          <a:xfrm>
            <a:off x="1463040" y="1691640"/>
            <a:ext cx="3931920" cy="749808"/>
          </a:xfrm>
          <a:prstGeom prst="rect">
            <a:avLst/>
          </a:prstGeom>
          <a:noFill/>
          <a:ln/>
        </p:spPr>
        <p:txBody>
          <a:bodyPr wrap="square" lIns="0" tIns="0" rIns="0" bIns="0" rtlCol="0" anchor="ctr"/>
          <a:lstStyle/>
          <a:p>
            <a:pPr indent="0" marL="0">
              <a:buNone/>
            </a:pPr>
            <a:r>
              <a:rPr lang="en-US" sz="1500" b="1" dirty="0">
                <a:solidFill>
                  <a:schemeClr val="tx2"/>
                </a:solidFill>
              </a:rPr>
              <a:t>Do need estimates match activity?</a:t>
            </a:r>
            <a:endParaRPr lang="en-US" sz="1500" dirty="0"/>
          </a:p>
        </p:txBody>
      </p:sp>
      <p:sp>
        <p:nvSpPr>
          <p:cNvPr id="8" name="ex-ans-73"/>
          <p:cNvSpPr txBox="1"/>
          <p:nvPr/>
        </p:nvSpPr>
        <p:spPr>
          <a:xfrm>
            <a:off x="5486400" y="1691640"/>
            <a:ext cx="5973775" cy="749808"/>
          </a:xfrm>
          <a:prstGeom prst="rect">
            <a:avLst/>
          </a:prstGeom>
          <a:noFill/>
          <a:ln/>
        </p:spPr>
        <p:txBody>
          <a:bodyPr wrap="square" lIns="0" tIns="0" rIns="0" bIns="0" rtlCol="0" anchor="ctr"/>
          <a:lstStyle/>
          <a:p>
            <a:pPr indent="0" marL="0">
              <a:buNone/>
            </a:pPr>
            <a:r>
              <a:rPr lang="en-US" sz="1400" i="1" dirty="0">
                <a:solidFill>
                  <a:schemeClr val="accent5"/>
                </a:solidFill>
              </a:rPr>
              <a:t>[Answer: which metric tracks need best, where it breaks down]</a:t>
            </a:r>
            <a:endParaRPr lang="en-US" sz="1400" dirty="0"/>
          </a:p>
        </p:txBody>
      </p:sp>
      <p:sp>
        <p:nvSpPr>
          <p:cNvPr id="9" name="ex-row-74"/>
          <p:cNvSpPr/>
          <p:nvPr/>
        </p:nvSpPr>
        <p:spPr>
          <a:xfrm>
            <a:off x="548640" y="2587752"/>
            <a:ext cx="11094415" cy="749808"/>
          </a:xfrm>
          <a:prstGeom prst="roundRect">
            <a:avLst>
              <a:gd name="adj" fmla="val 12195"/>
            </a:avLst>
          </a:prstGeom>
          <a:solidFill>
            <a:schemeClr val="bg1"/>
          </a:solidFill>
          <a:ln/>
        </p:spPr>
      </p:sp>
      <p:sp>
        <p:nvSpPr>
          <p:cNvPr id="10" name="ex-badge-75"/>
          <p:cNvSpPr/>
          <p:nvPr/>
        </p:nvSpPr>
        <p:spPr>
          <a:xfrm>
            <a:off x="731520" y="2706624"/>
            <a:ext cx="512064" cy="512064"/>
          </a:xfrm>
          <a:prstGeom prst="ellipse">
            <a:avLst/>
          </a:prstGeom>
          <a:solidFill>
            <a:schemeClr val="tx2"/>
          </a:solidFill>
          <a:ln/>
        </p:spPr>
      </p:sp>
      <p:sp>
        <p:nvSpPr>
          <p:cNvPr id="11" name="ex-q-76"/>
          <p:cNvSpPr txBox="1"/>
          <p:nvPr/>
        </p:nvSpPr>
        <p:spPr>
          <a:xfrm>
            <a:off x="731520" y="2706624"/>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Q6</a:t>
            </a:r>
            <a:endParaRPr lang="en-US" sz="1300" dirty="0"/>
          </a:p>
        </p:txBody>
      </p:sp>
      <p:sp>
        <p:nvSpPr>
          <p:cNvPr id="12" name="ex-ask-77"/>
          <p:cNvSpPr txBox="1"/>
          <p:nvPr/>
        </p:nvSpPr>
        <p:spPr>
          <a:xfrm>
            <a:off x="1463040" y="2587752"/>
            <a:ext cx="3931920" cy="749808"/>
          </a:xfrm>
          <a:prstGeom prst="rect">
            <a:avLst/>
          </a:prstGeom>
          <a:noFill/>
          <a:ln/>
        </p:spPr>
        <p:txBody>
          <a:bodyPr wrap="square" lIns="0" tIns="0" rIns="0" bIns="0" rtlCol="0" anchor="ctr"/>
          <a:lstStyle/>
          <a:p>
            <a:pPr indent="0" marL="0">
              <a:buNone/>
            </a:pPr>
            <a:r>
              <a:rPr lang="en-US" sz="1500" b="1" dirty="0">
                <a:solidFill>
                  <a:schemeClr val="tx2"/>
                </a:solidFill>
              </a:rPr>
              <a:t>Where is need larger than activity shows?</a:t>
            </a:r>
            <a:endParaRPr lang="en-US" sz="1500" dirty="0"/>
          </a:p>
        </p:txBody>
      </p:sp>
      <p:sp>
        <p:nvSpPr>
          <p:cNvPr id="13" name="ex-ans-78"/>
          <p:cNvSpPr txBox="1"/>
          <p:nvPr/>
        </p:nvSpPr>
        <p:spPr>
          <a:xfrm>
            <a:off x="5486400" y="2587752"/>
            <a:ext cx="5973775" cy="749808"/>
          </a:xfrm>
          <a:prstGeom prst="rect">
            <a:avLst/>
          </a:prstGeom>
          <a:noFill/>
          <a:ln/>
        </p:spPr>
        <p:txBody>
          <a:bodyPr wrap="square" lIns="0" tIns="0" rIns="0" bIns="0" rtlCol="0" anchor="ctr"/>
          <a:lstStyle/>
          <a:p>
            <a:pPr indent="0" marL="0">
              <a:buNone/>
            </a:pPr>
            <a:r>
              <a:rPr lang="en-US" sz="1400" i="1" dirty="0">
                <a:solidFill>
                  <a:schemeClr val="accent5"/>
                </a:solidFill>
              </a:rPr>
              <a:t>[Answer: the measure, the counties, the main driver]</a:t>
            </a:r>
            <a:endParaRPr lang="en-US" sz="1400" dirty="0"/>
          </a:p>
        </p:txBody>
      </p:sp>
      <p:sp>
        <p:nvSpPr>
          <p:cNvPr id="14" name="ex-row-79"/>
          <p:cNvSpPr/>
          <p:nvPr/>
        </p:nvSpPr>
        <p:spPr>
          <a:xfrm>
            <a:off x="548640" y="3483864"/>
            <a:ext cx="11094415" cy="749808"/>
          </a:xfrm>
          <a:prstGeom prst="roundRect">
            <a:avLst>
              <a:gd name="adj" fmla="val 12195"/>
            </a:avLst>
          </a:prstGeom>
          <a:solidFill>
            <a:schemeClr val="bg2"/>
          </a:solidFill>
          <a:ln/>
        </p:spPr>
      </p:sp>
      <p:sp>
        <p:nvSpPr>
          <p:cNvPr id="15" name="ex-badge-80"/>
          <p:cNvSpPr/>
          <p:nvPr/>
        </p:nvSpPr>
        <p:spPr>
          <a:xfrm>
            <a:off x="731520" y="3602736"/>
            <a:ext cx="512064" cy="512064"/>
          </a:xfrm>
          <a:prstGeom prst="ellipse">
            <a:avLst/>
          </a:prstGeom>
          <a:solidFill>
            <a:schemeClr val="tx2"/>
          </a:solidFill>
          <a:ln/>
        </p:spPr>
      </p:sp>
      <p:sp>
        <p:nvSpPr>
          <p:cNvPr id="16" name="ex-q-81"/>
          <p:cNvSpPr txBox="1"/>
          <p:nvPr/>
        </p:nvSpPr>
        <p:spPr>
          <a:xfrm>
            <a:off x="731520" y="3602736"/>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17" name="ex-ask-82"/>
          <p:cNvSpPr txBox="1"/>
          <p:nvPr/>
        </p:nvSpPr>
        <p:spPr>
          <a:xfrm>
            <a:off x="1463040" y="3483864"/>
            <a:ext cx="3931920" cy="749808"/>
          </a:xfrm>
          <a:prstGeom prst="rect">
            <a:avLst/>
          </a:prstGeom>
          <a:noFill/>
          <a:ln/>
        </p:spPr>
        <p:txBody>
          <a:bodyPr wrap="square" lIns="0" tIns="0" rIns="0" bIns="0" rtlCol="0" anchor="ctr"/>
          <a:lstStyle/>
          <a:p>
            <a:pPr indent="0" marL="0">
              <a:buNone/>
            </a:pPr>
            <a:r>
              <a:rPr lang="en-US" sz="1500" b="1" dirty="0">
                <a:solidFill>
                  <a:schemeClr val="tx2"/>
                </a:solidFill>
              </a:rPr>
              <a:t>Do food prices drive visits?</a:t>
            </a:r>
            <a:endParaRPr lang="en-US" sz="1500" dirty="0"/>
          </a:p>
        </p:txBody>
      </p:sp>
      <p:sp>
        <p:nvSpPr>
          <p:cNvPr id="18" name="ex-ans-83"/>
          <p:cNvSpPr txBox="1"/>
          <p:nvPr/>
        </p:nvSpPr>
        <p:spPr>
          <a:xfrm>
            <a:off x="5486400" y="3483864"/>
            <a:ext cx="5973775" cy="749808"/>
          </a:xfrm>
          <a:prstGeom prst="rect">
            <a:avLst/>
          </a:prstGeom>
          <a:noFill/>
          <a:ln/>
        </p:spPr>
        <p:txBody>
          <a:bodyPr wrap="square" lIns="0" tIns="0" rIns="0" bIns="0" rtlCol="0" anchor="ctr"/>
          <a:lstStyle/>
          <a:p>
            <a:pPr indent="0" marL="0">
              <a:buNone/>
            </a:pPr>
            <a:r>
              <a:rPr lang="en-US" sz="1400" i="1" dirty="0">
                <a:solidFill>
                  <a:schemeClr val="accent5"/>
                </a:solidFill>
              </a:rPr>
              <a:t>[Answer: yes/no, how big, how long the delay]</a:t>
            </a:r>
            <a:endParaRPr lang="en-US" sz="1400" dirty="0"/>
          </a:p>
        </p:txBody>
      </p:sp>
      <p:sp>
        <p:nvSpPr>
          <p:cNvPr id="19" name="ex-row-84"/>
          <p:cNvSpPr/>
          <p:nvPr/>
        </p:nvSpPr>
        <p:spPr>
          <a:xfrm>
            <a:off x="548640" y="4379976"/>
            <a:ext cx="11094415" cy="749808"/>
          </a:xfrm>
          <a:prstGeom prst="roundRect">
            <a:avLst>
              <a:gd name="adj" fmla="val 12195"/>
            </a:avLst>
          </a:prstGeom>
          <a:solidFill>
            <a:schemeClr val="bg1"/>
          </a:solidFill>
          <a:ln/>
        </p:spPr>
      </p:sp>
      <p:sp>
        <p:nvSpPr>
          <p:cNvPr id="20" name="ex-badge-85"/>
          <p:cNvSpPr/>
          <p:nvPr/>
        </p:nvSpPr>
        <p:spPr>
          <a:xfrm>
            <a:off x="731520" y="4498848"/>
            <a:ext cx="512064" cy="512064"/>
          </a:xfrm>
          <a:prstGeom prst="ellipse">
            <a:avLst/>
          </a:prstGeom>
          <a:solidFill>
            <a:schemeClr val="tx2"/>
          </a:solidFill>
          <a:ln/>
        </p:spPr>
      </p:sp>
      <p:sp>
        <p:nvSpPr>
          <p:cNvPr id="21" name="ex-q-86"/>
          <p:cNvSpPr txBox="1"/>
          <p:nvPr/>
        </p:nvSpPr>
        <p:spPr>
          <a:xfrm>
            <a:off x="731520" y="4498848"/>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Q5</a:t>
            </a:r>
            <a:endParaRPr lang="en-US" sz="1300" dirty="0"/>
          </a:p>
        </p:txBody>
      </p:sp>
      <p:sp>
        <p:nvSpPr>
          <p:cNvPr id="22" name="ex-ask-87"/>
          <p:cNvSpPr txBox="1"/>
          <p:nvPr/>
        </p:nvSpPr>
        <p:spPr>
          <a:xfrm>
            <a:off x="1463040" y="4379976"/>
            <a:ext cx="3931920" cy="749808"/>
          </a:xfrm>
          <a:prstGeom prst="rect">
            <a:avLst/>
          </a:prstGeom>
          <a:noFill/>
          <a:ln/>
        </p:spPr>
        <p:txBody>
          <a:bodyPr wrap="square" lIns="0" tIns="0" rIns="0" bIns="0" rtlCol="0" anchor="ctr"/>
          <a:lstStyle/>
          <a:p>
            <a:pPr indent="0" marL="0">
              <a:buNone/>
            </a:pPr>
            <a:r>
              <a:rPr lang="en-US" sz="1500" b="1" dirty="0">
                <a:solidFill>
                  <a:schemeClr val="tx2"/>
                </a:solidFill>
              </a:rPr>
              <a:t>SNAP: together or replace?</a:t>
            </a:r>
            <a:endParaRPr lang="en-US" sz="1500" dirty="0"/>
          </a:p>
        </p:txBody>
      </p:sp>
      <p:sp>
        <p:nvSpPr>
          <p:cNvPr id="23" name="ex-ans-88"/>
          <p:cNvSpPr txBox="1"/>
          <p:nvPr/>
        </p:nvSpPr>
        <p:spPr>
          <a:xfrm>
            <a:off x="5486400" y="4379976"/>
            <a:ext cx="5973775" cy="749808"/>
          </a:xfrm>
          <a:prstGeom prst="rect">
            <a:avLst/>
          </a:prstGeom>
          <a:noFill/>
          <a:ln/>
        </p:spPr>
        <p:txBody>
          <a:bodyPr wrap="square" lIns="0" tIns="0" rIns="0" bIns="0" rtlCol="0" anchor="ctr"/>
          <a:lstStyle/>
          <a:p>
            <a:pPr indent="0" marL="0">
              <a:buNone/>
            </a:pPr>
            <a:r>
              <a:rPr lang="en-US" sz="1400" i="1" dirty="0">
                <a:solidFill>
                  <a:schemeClr val="accent5"/>
                </a:solidFill>
              </a:rPr>
              <a:t>[Answer: direction of the relationship and what benefit changes do]</a:t>
            </a:r>
            <a:endParaRPr lang="en-US" sz="1400" dirty="0"/>
          </a:p>
        </p:txBody>
      </p:sp>
      <p:sp>
        <p:nvSpPr>
          <p:cNvPr id="24" name="ex-row-89"/>
          <p:cNvSpPr/>
          <p:nvPr/>
        </p:nvSpPr>
        <p:spPr>
          <a:xfrm>
            <a:off x="548640" y="5276088"/>
            <a:ext cx="11094415" cy="749808"/>
          </a:xfrm>
          <a:prstGeom prst="roundRect">
            <a:avLst>
              <a:gd name="adj" fmla="val 12195"/>
            </a:avLst>
          </a:prstGeom>
          <a:solidFill>
            <a:schemeClr val="bg2"/>
          </a:solidFill>
          <a:ln/>
        </p:spPr>
      </p:sp>
      <p:sp>
        <p:nvSpPr>
          <p:cNvPr id="25" name="ex-badge-90"/>
          <p:cNvSpPr/>
          <p:nvPr/>
        </p:nvSpPr>
        <p:spPr>
          <a:xfrm>
            <a:off x="731520" y="5394960"/>
            <a:ext cx="512064" cy="512064"/>
          </a:xfrm>
          <a:prstGeom prst="ellipse">
            <a:avLst/>
          </a:prstGeom>
          <a:solidFill>
            <a:schemeClr val="tx2"/>
          </a:solidFill>
          <a:ln/>
        </p:spPr>
      </p:sp>
      <p:sp>
        <p:nvSpPr>
          <p:cNvPr id="26" name="ex-q-91"/>
          <p:cNvSpPr txBox="1"/>
          <p:nvPr/>
        </p:nvSpPr>
        <p:spPr>
          <a:xfrm>
            <a:off x="731520" y="5394960"/>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Q7</a:t>
            </a:r>
            <a:endParaRPr lang="en-US" sz="1300" dirty="0"/>
          </a:p>
        </p:txBody>
      </p:sp>
      <p:sp>
        <p:nvSpPr>
          <p:cNvPr id="27" name="ex-ask-92"/>
          <p:cNvSpPr txBox="1"/>
          <p:nvPr/>
        </p:nvSpPr>
        <p:spPr>
          <a:xfrm>
            <a:off x="1463040" y="5276088"/>
            <a:ext cx="3931920" cy="749808"/>
          </a:xfrm>
          <a:prstGeom prst="rect">
            <a:avLst/>
          </a:prstGeom>
          <a:noFill/>
          <a:ln/>
        </p:spPr>
        <p:txBody>
          <a:bodyPr wrap="square" lIns="0" tIns="0" rIns="0" bIns="0" rtlCol="0" anchor="ctr"/>
          <a:lstStyle/>
          <a:p>
            <a:pPr indent="0" marL="0">
              <a:buNone/>
            </a:pPr>
            <a:r>
              <a:rPr lang="en-US" sz="1500" b="1" dirty="0">
                <a:solidFill>
                  <a:schemeClr val="tx2"/>
                </a:solidFill>
              </a:rPr>
              <a:t>What will August look like?</a:t>
            </a:r>
            <a:endParaRPr lang="en-US" sz="1500" dirty="0"/>
          </a:p>
        </p:txBody>
      </p:sp>
      <p:sp>
        <p:nvSpPr>
          <p:cNvPr id="28" name="ex-ans-93"/>
          <p:cNvSpPr txBox="1"/>
          <p:nvPr/>
        </p:nvSpPr>
        <p:spPr>
          <a:xfrm>
            <a:off x="5486400" y="5276088"/>
            <a:ext cx="5973775" cy="749808"/>
          </a:xfrm>
          <a:prstGeom prst="rect">
            <a:avLst/>
          </a:prstGeom>
          <a:noFill/>
          <a:ln/>
        </p:spPr>
        <p:txBody>
          <a:bodyPr wrap="square" lIns="0" tIns="0" rIns="0" bIns="0" rtlCol="0" anchor="ctr"/>
          <a:lstStyle/>
          <a:p>
            <a:pPr indent="0" marL="0">
              <a:buNone/>
            </a:pPr>
            <a:r>
              <a:rPr lang="en-US" sz="1400" i="1" dirty="0">
                <a:solidFill>
                  <a:schemeClr val="accent5"/>
                </a:solidFill>
              </a:rPr>
              <a:t>[Answer: statewide forecast and model accuracy]</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DATA &amp; APPROACH</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we joined Food Group data with public data]</a:t>
            </a:r>
            <a:endParaRPr lang="en-US" sz="3000" dirty="0"/>
          </a:p>
        </p:txBody>
      </p:sp>
      <p:sp>
        <p:nvSpPr>
          <p:cNvPr id="4" name="lbl-94"/>
          <p:cNvSpPr txBox="1"/>
          <p:nvPr/>
        </p:nvSpPr>
        <p:spPr>
          <a:xfrm>
            <a:off x="548640" y="1645920"/>
            <a:ext cx="530352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THE FOOD GROUP DATA</a:t>
            </a:r>
            <a:endParaRPr lang="en-US" sz="1200" dirty="0"/>
          </a:p>
        </p:txBody>
      </p:sp>
      <p:sp>
        <p:nvSpPr>
          <p:cNvPr id="5" name="lbl-95"/>
          <p:cNvSpPr txBox="1"/>
          <p:nvPr/>
        </p:nvSpPr>
        <p:spPr>
          <a:xfrm>
            <a:off x="6281928" y="1645920"/>
            <a:ext cx="530352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PUBLIC DATA</a:t>
            </a:r>
            <a:endParaRPr lang="en-US" sz="1200" dirty="0"/>
          </a:p>
        </p:txBody>
      </p:sp>
      <p:sp>
        <p:nvSpPr>
          <p:cNvPr id="6" name="src-badge-96"/>
          <p:cNvSpPr/>
          <p:nvPr/>
        </p:nvSpPr>
        <p:spPr>
          <a:xfrm>
            <a:off x="548640" y="2057400"/>
            <a:ext cx="457200" cy="457200"/>
          </a:xfrm>
          <a:prstGeom prst="ellipse">
            <a:avLst/>
          </a:prstGeom>
          <a:solidFill>
            <a:schemeClr val="bg2"/>
          </a:solidFill>
          <a:ln/>
        </p:spPr>
      </p:sp>
      <p:pic>
        <p:nvPicPr>
          <p:cNvPr id="7" name="src-icon-97" descr="Food shelf activity">    </p:cNvPr>
          <p:cNvPicPr>
            <a:picLocks noChangeAspect="1"/>
          </p:cNvPicPr>
          <p:nvPr/>
        </p:nvPicPr>
        <p:blipFill>
          <a:blip r:embed="rId1"/>
          <a:stretch>
            <a:fillRect/>
          </a:stretch>
        </p:blipFill>
        <p:spPr>
          <a:xfrm>
            <a:off x="667512" y="2176272"/>
            <a:ext cx="219456" cy="219456"/>
          </a:xfrm>
          <a:prstGeom prst="rect">
            <a:avLst/>
          </a:prstGeom>
        </p:spPr>
      </p:pic>
      <p:sp>
        <p:nvSpPr>
          <p:cNvPr id="8" name="src-text-98"/>
          <p:cNvSpPr txBox="1"/>
          <p:nvPr/>
        </p:nvSpPr>
        <p:spPr>
          <a:xfrm>
            <a:off x="1188720" y="2011680"/>
            <a:ext cx="4663440" cy="594360"/>
          </a:xfrm>
          <a:prstGeom prst="rect">
            <a:avLst/>
          </a:prstGeom>
          <a:noFill/>
          <a:ln/>
        </p:spPr>
        <p:txBody>
          <a:bodyPr wrap="square" lIns="0" tIns="0" rIns="0" bIns="0" rtlCol="0" anchor="t"/>
          <a:lstStyle/>
          <a:p>
            <a:pPr indent="0" marL="0">
              <a:buNone/>
            </a:pPr>
            <a:r>
              <a:rPr lang="en-US" sz="1400" b="1" dirty="0">
                <a:solidFill>
                  <a:schemeClr val="tx2"/>
                </a:solidFill>
              </a:rPr>
              <a:t>Food shelf activity</a:t>
            </a:r>
            <a:endParaRPr lang="en-US" sz="1400" dirty="0"/>
          </a:p>
          <a:p>
            <a:pPr indent="0" marL="0">
              <a:buNone/>
            </a:pPr>
            <a:r>
              <a:rPr lang="en-US" sz="1200" i="1" dirty="0">
                <a:solidFill>
                  <a:schemeClr val="accent5"/>
                </a:solidFill>
              </a:rPr>
              <a:t>[grain · years · # sites / counties]</a:t>
            </a:r>
            <a:endParaRPr lang="en-US" sz="1400" dirty="0"/>
          </a:p>
        </p:txBody>
      </p:sp>
      <p:sp>
        <p:nvSpPr>
          <p:cNvPr id="9" name="src-badge-99"/>
          <p:cNvSpPr/>
          <p:nvPr/>
        </p:nvSpPr>
        <p:spPr>
          <a:xfrm>
            <a:off x="548640" y="2743200"/>
            <a:ext cx="457200" cy="457200"/>
          </a:xfrm>
          <a:prstGeom prst="ellipse">
            <a:avLst/>
          </a:prstGeom>
          <a:solidFill>
            <a:schemeClr val="bg2"/>
          </a:solidFill>
          <a:ln/>
        </p:spPr>
      </p:sp>
      <p:pic>
        <p:nvPicPr>
          <p:cNvPr id="10" name="src-icon-100" descr="Call center &amp; organizations">    </p:cNvPr>
          <p:cNvPicPr>
            <a:picLocks noChangeAspect="1"/>
          </p:cNvPicPr>
          <p:nvPr/>
        </p:nvPicPr>
        <p:blipFill>
          <a:blip r:embed="rId2"/>
          <a:stretch>
            <a:fillRect/>
          </a:stretch>
        </p:blipFill>
        <p:spPr>
          <a:xfrm>
            <a:off x="667512" y="2862072"/>
            <a:ext cx="219456" cy="219456"/>
          </a:xfrm>
          <a:prstGeom prst="rect">
            <a:avLst/>
          </a:prstGeom>
        </p:spPr>
      </p:pic>
      <p:sp>
        <p:nvSpPr>
          <p:cNvPr id="11" name="src-text-101"/>
          <p:cNvSpPr txBox="1"/>
          <p:nvPr/>
        </p:nvSpPr>
        <p:spPr>
          <a:xfrm>
            <a:off x="1188720" y="2697480"/>
            <a:ext cx="4663440" cy="594360"/>
          </a:xfrm>
          <a:prstGeom prst="rect">
            <a:avLst/>
          </a:prstGeom>
          <a:noFill/>
          <a:ln/>
        </p:spPr>
        <p:txBody>
          <a:bodyPr wrap="square" lIns="0" tIns="0" rIns="0" bIns="0" rtlCol="0" anchor="t"/>
          <a:lstStyle/>
          <a:p>
            <a:pPr indent="0" marL="0">
              <a:buNone/>
            </a:pPr>
            <a:r>
              <a:rPr lang="en-US" sz="1400" b="1" dirty="0">
                <a:solidFill>
                  <a:schemeClr val="tx2"/>
                </a:solidFill>
              </a:rPr>
              <a:t>Call center &amp; organizations</a:t>
            </a:r>
            <a:endParaRPr lang="en-US" sz="1400" dirty="0"/>
          </a:p>
          <a:p>
            <a:pPr indent="0" marL="0">
              <a:buNone/>
            </a:pPr>
            <a:r>
              <a:rPr lang="en-US" sz="1200" i="1" dirty="0">
                <a:solidFill>
                  <a:schemeClr val="accent5"/>
                </a:solidFill>
              </a:rPr>
              <a:t>[how used, if at all]</a:t>
            </a:r>
            <a:endParaRPr lang="en-US" sz="1400" dirty="0"/>
          </a:p>
        </p:txBody>
      </p:sp>
      <p:sp>
        <p:nvSpPr>
          <p:cNvPr id="12" name="src-badge-102"/>
          <p:cNvSpPr/>
          <p:nvPr/>
        </p:nvSpPr>
        <p:spPr>
          <a:xfrm>
            <a:off x="6281928" y="2057400"/>
            <a:ext cx="457200" cy="457200"/>
          </a:xfrm>
          <a:prstGeom prst="ellipse">
            <a:avLst/>
          </a:prstGeom>
          <a:solidFill>
            <a:schemeClr val="bg2"/>
          </a:solidFill>
          <a:ln/>
        </p:spPr>
      </p:sp>
      <p:pic>
        <p:nvPicPr>
          <p:cNvPr id="13" name="src-icon-103" descr="Map the Meal Gap">    </p:cNvPr>
          <p:cNvPicPr>
            <a:picLocks noChangeAspect="1"/>
          </p:cNvPicPr>
          <p:nvPr/>
        </p:nvPicPr>
        <p:blipFill>
          <a:blip r:embed="rId3"/>
          <a:stretch>
            <a:fillRect/>
          </a:stretch>
        </p:blipFill>
        <p:spPr>
          <a:xfrm>
            <a:off x="6400800" y="2176272"/>
            <a:ext cx="219456" cy="219456"/>
          </a:xfrm>
          <a:prstGeom prst="rect">
            <a:avLst/>
          </a:prstGeom>
        </p:spPr>
      </p:pic>
      <p:sp>
        <p:nvSpPr>
          <p:cNvPr id="14" name="src-text-104"/>
          <p:cNvSpPr txBox="1"/>
          <p:nvPr/>
        </p:nvSpPr>
        <p:spPr>
          <a:xfrm>
            <a:off x="6922008" y="2011680"/>
            <a:ext cx="4663440" cy="594360"/>
          </a:xfrm>
          <a:prstGeom prst="rect">
            <a:avLst/>
          </a:prstGeom>
          <a:noFill/>
          <a:ln/>
        </p:spPr>
        <p:txBody>
          <a:bodyPr wrap="square" lIns="0" tIns="0" rIns="0" bIns="0" rtlCol="0" anchor="t"/>
          <a:lstStyle/>
          <a:p>
            <a:pPr indent="0" marL="0">
              <a:buNone/>
            </a:pPr>
            <a:r>
              <a:rPr lang="en-US" sz="1400" b="1" dirty="0">
                <a:solidFill>
                  <a:schemeClr val="tx2"/>
                </a:solidFill>
              </a:rPr>
              <a:t>Map the Meal Gap</a:t>
            </a:r>
            <a:endParaRPr lang="en-US" sz="1400" dirty="0"/>
          </a:p>
          <a:p>
            <a:pPr indent="0" marL="0">
              <a:buNone/>
            </a:pPr>
            <a:r>
              <a:rPr lang="en-US" sz="1200" i="1" dirty="0">
                <a:solidFill>
                  <a:schemeClr val="accent5"/>
                </a:solidFill>
              </a:rPr>
              <a:t>[years · county]</a:t>
            </a:r>
            <a:endParaRPr lang="en-US" sz="1400" dirty="0"/>
          </a:p>
        </p:txBody>
      </p:sp>
      <p:sp>
        <p:nvSpPr>
          <p:cNvPr id="15" name="src-badge-105"/>
          <p:cNvSpPr/>
          <p:nvPr/>
        </p:nvSpPr>
        <p:spPr>
          <a:xfrm>
            <a:off x="6281928" y="2743200"/>
            <a:ext cx="457200" cy="457200"/>
          </a:xfrm>
          <a:prstGeom prst="ellipse">
            <a:avLst/>
          </a:prstGeom>
          <a:solidFill>
            <a:schemeClr val="bg2"/>
          </a:solidFill>
          <a:ln/>
        </p:spPr>
      </p:sp>
      <p:pic>
        <p:nvPicPr>
          <p:cNvPr id="16" name="src-icon-106" descr="BLS CPI · MN DHS SNAP">    </p:cNvPr>
          <p:cNvPicPr>
            <a:picLocks noChangeAspect="1"/>
          </p:cNvPicPr>
          <p:nvPr/>
        </p:nvPicPr>
        <p:blipFill>
          <a:blip r:embed="rId4"/>
          <a:stretch>
            <a:fillRect/>
          </a:stretch>
        </p:blipFill>
        <p:spPr>
          <a:xfrm>
            <a:off x="6400800" y="2862072"/>
            <a:ext cx="219456" cy="219456"/>
          </a:xfrm>
          <a:prstGeom prst="rect">
            <a:avLst/>
          </a:prstGeom>
        </p:spPr>
      </p:pic>
      <p:sp>
        <p:nvSpPr>
          <p:cNvPr id="17" name="src-text-107"/>
          <p:cNvSpPr txBox="1"/>
          <p:nvPr/>
        </p:nvSpPr>
        <p:spPr>
          <a:xfrm>
            <a:off x="6922008" y="2697480"/>
            <a:ext cx="4663440" cy="594360"/>
          </a:xfrm>
          <a:prstGeom prst="rect">
            <a:avLst/>
          </a:prstGeom>
          <a:noFill/>
          <a:ln/>
        </p:spPr>
        <p:txBody>
          <a:bodyPr wrap="square" lIns="0" tIns="0" rIns="0" bIns="0" rtlCol="0" anchor="t"/>
          <a:lstStyle/>
          <a:p>
            <a:pPr indent="0" marL="0">
              <a:buNone/>
            </a:pPr>
            <a:r>
              <a:rPr lang="en-US" sz="1400" b="1" dirty="0">
                <a:solidFill>
                  <a:schemeClr val="tx2"/>
                </a:solidFill>
              </a:rPr>
              <a:t>BLS CPI · MN DHS SNAP</a:t>
            </a:r>
            <a:endParaRPr lang="en-US" sz="1400" dirty="0"/>
          </a:p>
          <a:p>
            <a:pPr indent="0" marL="0">
              <a:buNone/>
            </a:pPr>
            <a:r>
              <a:rPr lang="en-US" sz="1200" i="1" dirty="0">
                <a:solidFill>
                  <a:schemeClr val="accent5"/>
                </a:solidFill>
              </a:rPr>
              <a:t>[monthly · county / state]</a:t>
            </a:r>
            <a:endParaRPr lang="en-US" sz="1400" dirty="0"/>
          </a:p>
        </p:txBody>
      </p:sp>
      <p:sp>
        <p:nvSpPr>
          <p:cNvPr id="18" name="src-badge-108"/>
          <p:cNvSpPr/>
          <p:nvPr/>
        </p:nvSpPr>
        <p:spPr>
          <a:xfrm>
            <a:off x="6281928" y="3429000"/>
            <a:ext cx="457200" cy="457200"/>
          </a:xfrm>
          <a:prstGeom prst="ellipse">
            <a:avLst/>
          </a:prstGeom>
          <a:solidFill>
            <a:schemeClr val="bg2"/>
          </a:solidFill>
          <a:ln/>
        </p:spPr>
      </p:sp>
      <p:pic>
        <p:nvPicPr>
          <p:cNvPr id="19" name="src-icon-109" descr="Census, SAIPE, CDC SVI, USDA">    </p:cNvPr>
          <p:cNvPicPr>
            <a:picLocks noChangeAspect="1"/>
          </p:cNvPicPr>
          <p:nvPr/>
        </p:nvPicPr>
        <p:blipFill>
          <a:blip r:embed="rId5"/>
          <a:stretch>
            <a:fillRect/>
          </a:stretch>
        </p:blipFill>
        <p:spPr>
          <a:xfrm>
            <a:off x="6400800" y="3547872"/>
            <a:ext cx="219456" cy="219456"/>
          </a:xfrm>
          <a:prstGeom prst="rect">
            <a:avLst/>
          </a:prstGeom>
        </p:spPr>
      </p:pic>
      <p:sp>
        <p:nvSpPr>
          <p:cNvPr id="20" name="src-text-110"/>
          <p:cNvSpPr txBox="1"/>
          <p:nvPr/>
        </p:nvSpPr>
        <p:spPr>
          <a:xfrm>
            <a:off x="6922008" y="3383280"/>
            <a:ext cx="4663440" cy="594360"/>
          </a:xfrm>
          <a:prstGeom prst="rect">
            <a:avLst/>
          </a:prstGeom>
          <a:noFill/>
          <a:ln/>
        </p:spPr>
        <p:txBody>
          <a:bodyPr wrap="square" lIns="0" tIns="0" rIns="0" bIns="0" rtlCol="0" anchor="t"/>
          <a:lstStyle/>
          <a:p>
            <a:pPr indent="0" marL="0">
              <a:buNone/>
            </a:pPr>
            <a:r>
              <a:rPr lang="en-US" sz="1400" b="1" dirty="0">
                <a:solidFill>
                  <a:schemeClr val="tx2"/>
                </a:solidFill>
              </a:rPr>
              <a:t>Census, SAIPE, CDC SVI, USDA</a:t>
            </a:r>
            <a:endParaRPr lang="en-US" sz="1400" dirty="0"/>
          </a:p>
          <a:p>
            <a:pPr indent="0" marL="0">
              <a:buNone/>
            </a:pPr>
            <a:r>
              <a:rPr lang="en-US" sz="1200" i="1" dirty="0">
                <a:solidFill>
                  <a:schemeClr val="accent5"/>
                </a:solidFill>
              </a:rPr>
              <a:t>[county factors]</a:t>
            </a:r>
            <a:endParaRPr lang="en-US" sz="1400" dirty="0"/>
          </a:p>
        </p:txBody>
      </p:sp>
      <p:sp>
        <p:nvSpPr>
          <p:cNvPr id="21" name="flow-step-111"/>
          <p:cNvSpPr/>
          <p:nvPr/>
        </p:nvSpPr>
        <p:spPr>
          <a:xfrm>
            <a:off x="548640" y="4206240"/>
            <a:ext cx="2533574" cy="1920240"/>
          </a:xfrm>
          <a:prstGeom prst="roundRect">
            <a:avLst>
              <a:gd name="adj" fmla="val 5714"/>
            </a:avLst>
          </a:prstGeom>
          <a:solidFill>
            <a:schemeClr val="bg2"/>
          </a:solidFill>
          <a:ln/>
        </p:spPr>
      </p:sp>
      <p:sp>
        <p:nvSpPr>
          <p:cNvPr id="22" name="flow-num-112"/>
          <p:cNvSpPr txBox="1"/>
          <p:nvPr/>
        </p:nvSpPr>
        <p:spPr>
          <a:xfrm>
            <a:off x="777240" y="43891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01</a:t>
            </a:r>
            <a:endParaRPr lang="en-US" sz="2000" dirty="0"/>
          </a:p>
        </p:txBody>
      </p:sp>
      <p:sp>
        <p:nvSpPr>
          <p:cNvPr id="23" name="flow-head-113"/>
          <p:cNvSpPr txBox="1"/>
          <p:nvPr/>
        </p:nvSpPr>
        <p:spPr>
          <a:xfrm>
            <a:off x="777240" y="48006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Clean</a:t>
            </a:r>
            <a:endParaRPr lang="en-US" sz="1600" dirty="0"/>
          </a:p>
        </p:txBody>
      </p:sp>
      <p:sp>
        <p:nvSpPr>
          <p:cNvPr id="24" name="flow-body-114"/>
          <p:cNvSpPr txBox="1"/>
          <p:nvPr/>
        </p:nvSpPr>
        <p:spPr>
          <a:xfrm>
            <a:off x="777240" y="5212080"/>
            <a:ext cx="2076374" cy="731520"/>
          </a:xfrm>
          <a:prstGeom prst="rect">
            <a:avLst/>
          </a:prstGeom>
          <a:noFill/>
          <a:ln/>
        </p:spPr>
        <p:txBody>
          <a:bodyPr wrap="square" lIns="0" tIns="0" rIns="0" bIns="0" rtlCol="0" anchor="t"/>
          <a:lstStyle/>
          <a:p>
            <a:pPr indent="0" marL="0">
              <a:buNone/>
            </a:pPr>
            <a:r>
              <a:rPr lang="en-US" sz="1200" i="1" dirty="0">
                <a:solidFill>
                  <a:schemeClr val="accent5"/>
                </a:solidFill>
              </a:rPr>
              <a:t>[key cleaning decisions, e.g. site → county, outliers]</a:t>
            </a:r>
            <a:endParaRPr lang="en-US" sz="1200" dirty="0"/>
          </a:p>
        </p:txBody>
      </p:sp>
      <p:pic>
        <p:nvPicPr>
          <p:cNvPr id="25" name="flow-arrow-115" descr="next">    </p:cNvPr>
          <p:cNvPicPr>
            <a:picLocks noChangeAspect="1"/>
          </p:cNvPicPr>
          <p:nvPr/>
        </p:nvPicPr>
        <p:blipFill>
          <a:blip r:embed="rId6"/>
          <a:stretch>
            <a:fillRect/>
          </a:stretch>
        </p:blipFill>
        <p:spPr>
          <a:xfrm>
            <a:off x="3150794" y="5074920"/>
            <a:ext cx="182880" cy="182880"/>
          </a:xfrm>
          <a:prstGeom prst="rect">
            <a:avLst/>
          </a:prstGeom>
        </p:spPr>
      </p:pic>
      <p:sp>
        <p:nvSpPr>
          <p:cNvPr id="26" name="flow-step-116"/>
          <p:cNvSpPr/>
          <p:nvPr/>
        </p:nvSpPr>
        <p:spPr>
          <a:xfrm>
            <a:off x="3402254" y="4206240"/>
            <a:ext cx="2533574" cy="1920240"/>
          </a:xfrm>
          <a:prstGeom prst="roundRect">
            <a:avLst>
              <a:gd name="adj" fmla="val 5714"/>
            </a:avLst>
          </a:prstGeom>
          <a:solidFill>
            <a:schemeClr val="bg2"/>
          </a:solidFill>
          <a:ln/>
        </p:spPr>
      </p:sp>
      <p:sp>
        <p:nvSpPr>
          <p:cNvPr id="27" name="flow-num-117"/>
          <p:cNvSpPr txBox="1"/>
          <p:nvPr/>
        </p:nvSpPr>
        <p:spPr>
          <a:xfrm>
            <a:off x="3630854" y="43891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02</a:t>
            </a:r>
            <a:endParaRPr lang="en-US" sz="2000" dirty="0"/>
          </a:p>
        </p:txBody>
      </p:sp>
      <p:sp>
        <p:nvSpPr>
          <p:cNvPr id="28" name="flow-head-118"/>
          <p:cNvSpPr txBox="1"/>
          <p:nvPr/>
        </p:nvSpPr>
        <p:spPr>
          <a:xfrm>
            <a:off x="3630854" y="48006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Link</a:t>
            </a:r>
            <a:endParaRPr lang="en-US" sz="1600" dirty="0"/>
          </a:p>
        </p:txBody>
      </p:sp>
      <p:sp>
        <p:nvSpPr>
          <p:cNvPr id="29" name="flow-body-119"/>
          <p:cNvSpPr txBox="1"/>
          <p:nvPr/>
        </p:nvSpPr>
        <p:spPr>
          <a:xfrm>
            <a:off x="3630854" y="5212080"/>
            <a:ext cx="2076374" cy="731520"/>
          </a:xfrm>
          <a:prstGeom prst="rect">
            <a:avLst/>
          </a:prstGeom>
          <a:noFill/>
          <a:ln/>
        </p:spPr>
        <p:txBody>
          <a:bodyPr wrap="square" lIns="0" tIns="0" rIns="0" bIns="0" rtlCol="0" anchor="t"/>
          <a:lstStyle/>
          <a:p>
            <a:pPr indent="0" marL="0">
              <a:buNone/>
            </a:pPr>
            <a:r>
              <a:rPr lang="en-US" sz="1200" i="1" dirty="0">
                <a:solidFill>
                  <a:schemeClr val="accent5"/>
                </a:solidFill>
              </a:rPr>
              <a:t>[how datasets were joined: county FIPS, month]</a:t>
            </a:r>
            <a:endParaRPr lang="en-US" sz="1200" dirty="0"/>
          </a:p>
        </p:txBody>
      </p:sp>
      <p:pic>
        <p:nvPicPr>
          <p:cNvPr id="30" name="flow-arrow-120" descr="next">    </p:cNvPr>
          <p:cNvPicPr>
            <a:picLocks noChangeAspect="1"/>
          </p:cNvPicPr>
          <p:nvPr/>
        </p:nvPicPr>
        <p:blipFill>
          <a:blip r:embed="rId7"/>
          <a:stretch>
            <a:fillRect/>
          </a:stretch>
        </p:blipFill>
        <p:spPr>
          <a:xfrm>
            <a:off x="6004408" y="5074920"/>
            <a:ext cx="182880" cy="182880"/>
          </a:xfrm>
          <a:prstGeom prst="rect">
            <a:avLst/>
          </a:prstGeom>
        </p:spPr>
      </p:pic>
      <p:sp>
        <p:nvSpPr>
          <p:cNvPr id="31" name="flow-step-121"/>
          <p:cNvSpPr/>
          <p:nvPr/>
        </p:nvSpPr>
        <p:spPr>
          <a:xfrm>
            <a:off x="6255868" y="4206240"/>
            <a:ext cx="2533574" cy="1920240"/>
          </a:xfrm>
          <a:prstGeom prst="roundRect">
            <a:avLst>
              <a:gd name="adj" fmla="val 5714"/>
            </a:avLst>
          </a:prstGeom>
          <a:solidFill>
            <a:schemeClr val="bg2"/>
          </a:solidFill>
          <a:ln/>
        </p:spPr>
      </p:sp>
      <p:sp>
        <p:nvSpPr>
          <p:cNvPr id="32" name="flow-num-122"/>
          <p:cNvSpPr txBox="1"/>
          <p:nvPr/>
        </p:nvSpPr>
        <p:spPr>
          <a:xfrm>
            <a:off x="6484468" y="43891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03</a:t>
            </a:r>
            <a:endParaRPr lang="en-US" sz="2000" dirty="0"/>
          </a:p>
        </p:txBody>
      </p:sp>
      <p:sp>
        <p:nvSpPr>
          <p:cNvPr id="33" name="flow-head-123"/>
          <p:cNvSpPr txBox="1"/>
          <p:nvPr/>
        </p:nvSpPr>
        <p:spPr>
          <a:xfrm>
            <a:off x="6484468" y="48006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Analyze</a:t>
            </a:r>
            <a:endParaRPr lang="en-US" sz="1600" dirty="0"/>
          </a:p>
        </p:txBody>
      </p:sp>
      <p:sp>
        <p:nvSpPr>
          <p:cNvPr id="34" name="flow-body-124"/>
          <p:cNvSpPr txBox="1"/>
          <p:nvPr/>
        </p:nvSpPr>
        <p:spPr>
          <a:xfrm>
            <a:off x="6484468" y="5212080"/>
            <a:ext cx="2076374" cy="731520"/>
          </a:xfrm>
          <a:prstGeom prst="rect">
            <a:avLst/>
          </a:prstGeom>
          <a:noFill/>
          <a:ln/>
        </p:spPr>
        <p:txBody>
          <a:bodyPr wrap="square" lIns="0" tIns="0" rIns="0" bIns="0" rtlCol="0" anchor="t"/>
          <a:lstStyle/>
          <a:p>
            <a:pPr indent="0" marL="0">
              <a:buNone/>
            </a:pPr>
            <a:r>
              <a:rPr lang="en-US" sz="1200" i="1" dirty="0">
                <a:solidFill>
                  <a:schemeClr val="accent5"/>
                </a:solidFill>
              </a:rPr>
              <a:t>[correlation, lag tests, need index]</a:t>
            </a:r>
            <a:endParaRPr lang="en-US" sz="1200" dirty="0"/>
          </a:p>
        </p:txBody>
      </p:sp>
      <p:pic>
        <p:nvPicPr>
          <p:cNvPr id="35" name="flow-arrow-125" descr="next">    </p:cNvPr>
          <p:cNvPicPr>
            <a:picLocks noChangeAspect="1"/>
          </p:cNvPicPr>
          <p:nvPr/>
        </p:nvPicPr>
        <p:blipFill>
          <a:blip r:embed="rId8"/>
          <a:stretch>
            <a:fillRect/>
          </a:stretch>
        </p:blipFill>
        <p:spPr>
          <a:xfrm>
            <a:off x="8858021" y="5074920"/>
            <a:ext cx="182880" cy="182880"/>
          </a:xfrm>
          <a:prstGeom prst="rect">
            <a:avLst/>
          </a:prstGeom>
        </p:spPr>
      </p:pic>
      <p:sp>
        <p:nvSpPr>
          <p:cNvPr id="36" name="flow-step-126"/>
          <p:cNvSpPr/>
          <p:nvPr/>
        </p:nvSpPr>
        <p:spPr>
          <a:xfrm>
            <a:off x="9109481" y="4206240"/>
            <a:ext cx="2533574" cy="1920240"/>
          </a:xfrm>
          <a:prstGeom prst="roundRect">
            <a:avLst>
              <a:gd name="adj" fmla="val 5714"/>
            </a:avLst>
          </a:prstGeom>
          <a:solidFill>
            <a:schemeClr val="tx2"/>
          </a:solidFill>
          <a:ln/>
        </p:spPr>
      </p:sp>
      <p:sp>
        <p:nvSpPr>
          <p:cNvPr id="37" name="flow-num-127"/>
          <p:cNvSpPr txBox="1"/>
          <p:nvPr/>
        </p:nvSpPr>
        <p:spPr>
          <a:xfrm>
            <a:off x="9338081" y="43891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04</a:t>
            </a:r>
            <a:endParaRPr lang="en-US" sz="2000" dirty="0"/>
          </a:p>
        </p:txBody>
      </p:sp>
      <p:sp>
        <p:nvSpPr>
          <p:cNvPr id="38" name="flow-head-128"/>
          <p:cNvSpPr txBox="1"/>
          <p:nvPr/>
        </p:nvSpPr>
        <p:spPr>
          <a:xfrm>
            <a:off x="9338081" y="4800600"/>
            <a:ext cx="2076374" cy="365760"/>
          </a:xfrm>
          <a:prstGeom prst="rect">
            <a:avLst/>
          </a:prstGeom>
          <a:noFill/>
          <a:ln/>
        </p:spPr>
        <p:txBody>
          <a:bodyPr wrap="square" lIns="0" tIns="0" rIns="0" bIns="0" rtlCol="0" anchor="t"/>
          <a:lstStyle/>
          <a:p>
            <a:pPr indent="0" marL="0">
              <a:buNone/>
            </a:pPr>
            <a:r>
              <a:rPr lang="en-US" sz="1600" b="1" dirty="0">
                <a:solidFill>
                  <a:schemeClr val="bg1"/>
                </a:solidFill>
              </a:rPr>
              <a:t>Forecast</a:t>
            </a:r>
            <a:endParaRPr lang="en-US" sz="1600" dirty="0"/>
          </a:p>
        </p:txBody>
      </p:sp>
      <p:sp>
        <p:nvSpPr>
          <p:cNvPr id="39" name="flow-body-129"/>
          <p:cNvSpPr txBox="1"/>
          <p:nvPr/>
        </p:nvSpPr>
        <p:spPr>
          <a:xfrm>
            <a:off x="9338081" y="5212080"/>
            <a:ext cx="2076374" cy="731520"/>
          </a:xfrm>
          <a:prstGeom prst="rect">
            <a:avLst/>
          </a:prstGeom>
          <a:noFill/>
          <a:ln/>
        </p:spPr>
        <p:txBody>
          <a:bodyPr wrap="square" lIns="0" tIns="0" rIns="0" bIns="0" rtlCol="0" anchor="t"/>
          <a:lstStyle/>
          <a:p>
            <a:pPr indent="0" marL="0">
              <a:buNone/>
            </a:pPr>
            <a:r>
              <a:rPr lang="en-US" sz="1200" i="1" dirty="0">
                <a:solidFill>
                  <a:schemeClr val="accent4"/>
                </a:solidFill>
              </a:rPr>
              <a:t>[model selection by county]</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01</a:t>
            </a: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ACT I  ·  WHERE IS THE NEED?</a:t>
            </a: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Do need estimates match what food shelves see?</a:t>
            </a: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lIns="0" tIns="0" rIns="0" bIns="0" rtlCol="0" anchor="t"/>
          <a:lstStyle/>
          <a:p>
            <a:pPr indent="0" marL="0">
              <a:buNone/>
            </a:pPr>
            <a:r>
              <a:rPr lang="en-US" sz="1600" dirty="0">
                <a:solidFill>
                  <a:schemeClr val="accent4"/>
                </a:solidFill>
              </a:rPr>
              <a:t>[One-line answer preview]</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Q1  ·  NEED VS. ACTIVITY</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which metric tracks Map the Meal Gap best]</a:t>
            </a:r>
            <a:endParaRPr lang="en-US" sz="3000" dirty="0"/>
          </a:p>
        </p:txBody>
      </p:sp>
      <p:sp>
        <p:nvSpPr>
          <p:cNvPr id="4" name="stat-130"/>
          <p:cNvSpPr/>
          <p:nvPr/>
        </p:nvSpPr>
        <p:spPr>
          <a:xfrm>
            <a:off x="548640" y="1691640"/>
            <a:ext cx="2331720" cy="1417320"/>
          </a:xfrm>
          <a:prstGeom prst="roundRect">
            <a:avLst>
              <a:gd name="adj" fmla="val 7742"/>
            </a:avLst>
          </a:prstGeom>
          <a:solidFill>
            <a:schemeClr val="bg2"/>
          </a:solidFill>
          <a:ln/>
        </p:spPr>
      </p:sp>
      <p:sp>
        <p:nvSpPr>
          <p:cNvPr id="5" name="stat-value-131"/>
          <p:cNvSpPr txBox="1"/>
          <p:nvPr/>
        </p:nvSpPr>
        <p:spPr>
          <a:xfrm>
            <a:off x="777240" y="1801368"/>
            <a:ext cx="1874520" cy="566928"/>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ρ = [ ]</a:t>
            </a:r>
            <a:endParaRPr lang="en-US" sz="3000" dirty="0"/>
          </a:p>
        </p:txBody>
      </p:sp>
      <p:sp>
        <p:nvSpPr>
          <p:cNvPr id="6" name="stat-label-132"/>
          <p:cNvSpPr txBox="1"/>
          <p:nvPr/>
        </p:nvSpPr>
        <p:spPr>
          <a:xfrm>
            <a:off x="777240" y="2423160"/>
            <a:ext cx="1874520" cy="292608"/>
          </a:xfrm>
          <a:prstGeom prst="rect">
            <a:avLst/>
          </a:prstGeom>
          <a:noFill/>
          <a:ln/>
        </p:spPr>
        <p:txBody>
          <a:bodyPr wrap="square" lIns="0" tIns="0" rIns="0" bIns="0" rtlCol="0" anchor="t"/>
          <a:lstStyle/>
          <a:p>
            <a:pPr indent="0" marL="0">
              <a:buNone/>
            </a:pPr>
            <a:r>
              <a:rPr lang="en-US" sz="1500" b="1" dirty="0">
                <a:solidFill>
                  <a:schemeClr val="tx2"/>
                </a:solidFill>
              </a:rPr>
              <a:t>Visits</a:t>
            </a:r>
            <a:endParaRPr lang="en-US" sz="1500" dirty="0"/>
          </a:p>
        </p:txBody>
      </p:sp>
      <p:sp>
        <p:nvSpPr>
          <p:cNvPr id="7" name="stat-hint-133"/>
          <p:cNvSpPr txBox="1"/>
          <p:nvPr/>
        </p:nvSpPr>
        <p:spPr>
          <a:xfrm>
            <a:off x="777240" y="2715768"/>
            <a:ext cx="1874520" cy="301752"/>
          </a:xfrm>
          <a:prstGeom prst="rect">
            <a:avLst/>
          </a:prstGeom>
          <a:noFill/>
          <a:ln/>
        </p:spPr>
        <p:txBody>
          <a:bodyPr wrap="square" lIns="0" tIns="0" rIns="0" bIns="0" rtlCol="0" anchor="t"/>
          <a:lstStyle/>
          <a:p>
            <a:pPr indent="0" marL="0">
              <a:buNone/>
            </a:pPr>
            <a:r>
              <a:rPr lang="en-US" sz="1200" i="1" dirty="0">
                <a:solidFill>
                  <a:schemeClr val="accent5"/>
                </a:solidFill>
              </a:rPr>
              <a:t>[strength in words]</a:t>
            </a:r>
            <a:endParaRPr lang="en-US" sz="1200" dirty="0"/>
          </a:p>
        </p:txBody>
      </p:sp>
      <p:sp>
        <p:nvSpPr>
          <p:cNvPr id="8" name="stat-134"/>
          <p:cNvSpPr/>
          <p:nvPr/>
        </p:nvSpPr>
        <p:spPr>
          <a:xfrm>
            <a:off x="548640" y="3246120"/>
            <a:ext cx="2331720" cy="1417320"/>
          </a:xfrm>
          <a:prstGeom prst="roundRect">
            <a:avLst>
              <a:gd name="adj" fmla="val 7742"/>
            </a:avLst>
          </a:prstGeom>
          <a:solidFill>
            <a:schemeClr val="bg2"/>
          </a:solidFill>
          <a:ln/>
        </p:spPr>
      </p:sp>
      <p:sp>
        <p:nvSpPr>
          <p:cNvPr id="9" name="stat-value-135"/>
          <p:cNvSpPr txBox="1"/>
          <p:nvPr/>
        </p:nvSpPr>
        <p:spPr>
          <a:xfrm>
            <a:off x="777240" y="3355848"/>
            <a:ext cx="1874520" cy="566928"/>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ρ = [ ]</a:t>
            </a:r>
            <a:endParaRPr lang="en-US" sz="3000" dirty="0"/>
          </a:p>
        </p:txBody>
      </p:sp>
      <p:sp>
        <p:nvSpPr>
          <p:cNvPr id="10" name="stat-label-136"/>
          <p:cNvSpPr txBox="1"/>
          <p:nvPr/>
        </p:nvSpPr>
        <p:spPr>
          <a:xfrm>
            <a:off x="777240" y="3977640"/>
            <a:ext cx="1874520" cy="292608"/>
          </a:xfrm>
          <a:prstGeom prst="rect">
            <a:avLst/>
          </a:prstGeom>
          <a:noFill/>
          <a:ln/>
        </p:spPr>
        <p:txBody>
          <a:bodyPr wrap="square" lIns="0" tIns="0" rIns="0" bIns="0" rtlCol="0" anchor="t"/>
          <a:lstStyle/>
          <a:p>
            <a:pPr indent="0" marL="0">
              <a:buNone/>
            </a:pPr>
            <a:r>
              <a:rPr lang="en-US" sz="1500" b="1" dirty="0">
                <a:solidFill>
                  <a:schemeClr val="tx2"/>
                </a:solidFill>
              </a:rPr>
              <a:t>Pounds</a:t>
            </a:r>
            <a:endParaRPr lang="en-US" sz="1500" dirty="0"/>
          </a:p>
        </p:txBody>
      </p:sp>
      <p:sp>
        <p:nvSpPr>
          <p:cNvPr id="11" name="stat-hint-137"/>
          <p:cNvSpPr txBox="1"/>
          <p:nvPr/>
        </p:nvSpPr>
        <p:spPr>
          <a:xfrm>
            <a:off x="777240" y="4270248"/>
            <a:ext cx="1874520" cy="301752"/>
          </a:xfrm>
          <a:prstGeom prst="rect">
            <a:avLst/>
          </a:prstGeom>
          <a:noFill/>
          <a:ln/>
        </p:spPr>
        <p:txBody>
          <a:bodyPr wrap="square" lIns="0" tIns="0" rIns="0" bIns="0" rtlCol="0" anchor="t"/>
          <a:lstStyle/>
          <a:p>
            <a:pPr indent="0" marL="0">
              <a:buNone/>
            </a:pPr>
            <a:r>
              <a:rPr lang="en-US" sz="1200" i="1" dirty="0">
                <a:solidFill>
                  <a:schemeClr val="accent5"/>
                </a:solidFill>
              </a:rPr>
              <a:t>[strength in words]</a:t>
            </a:r>
            <a:endParaRPr lang="en-US" sz="1200" dirty="0"/>
          </a:p>
        </p:txBody>
      </p:sp>
      <p:sp>
        <p:nvSpPr>
          <p:cNvPr id="12" name="stat-138"/>
          <p:cNvSpPr/>
          <p:nvPr/>
        </p:nvSpPr>
        <p:spPr>
          <a:xfrm>
            <a:off x="548640" y="4800600"/>
            <a:ext cx="2331720" cy="1417320"/>
          </a:xfrm>
          <a:prstGeom prst="roundRect">
            <a:avLst>
              <a:gd name="adj" fmla="val 7742"/>
            </a:avLst>
          </a:prstGeom>
          <a:solidFill>
            <a:schemeClr val="bg2"/>
          </a:solidFill>
          <a:ln/>
        </p:spPr>
      </p:sp>
      <p:sp>
        <p:nvSpPr>
          <p:cNvPr id="13" name="stat-value-139"/>
          <p:cNvSpPr txBox="1"/>
          <p:nvPr/>
        </p:nvSpPr>
        <p:spPr>
          <a:xfrm>
            <a:off x="777240" y="4910328"/>
            <a:ext cx="1874520" cy="566928"/>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ρ = [ ]</a:t>
            </a:r>
            <a:endParaRPr lang="en-US" sz="3000" dirty="0"/>
          </a:p>
        </p:txBody>
      </p:sp>
      <p:sp>
        <p:nvSpPr>
          <p:cNvPr id="14" name="stat-label-140"/>
          <p:cNvSpPr txBox="1"/>
          <p:nvPr/>
        </p:nvSpPr>
        <p:spPr>
          <a:xfrm>
            <a:off x="777240" y="5532120"/>
            <a:ext cx="1874520" cy="292608"/>
          </a:xfrm>
          <a:prstGeom prst="rect">
            <a:avLst/>
          </a:prstGeom>
          <a:noFill/>
          <a:ln/>
        </p:spPr>
        <p:txBody>
          <a:bodyPr wrap="square" lIns="0" tIns="0" rIns="0" bIns="0" rtlCol="0" anchor="t"/>
          <a:lstStyle/>
          <a:p>
            <a:pPr indent="0" marL="0">
              <a:buNone/>
            </a:pPr>
            <a:r>
              <a:rPr lang="en-US" sz="1500" b="1" dirty="0">
                <a:solidFill>
                  <a:schemeClr val="tx2"/>
                </a:solidFill>
              </a:rPr>
              <a:t>Individuals</a:t>
            </a:r>
            <a:endParaRPr lang="en-US" sz="1500" dirty="0"/>
          </a:p>
        </p:txBody>
      </p:sp>
      <p:sp>
        <p:nvSpPr>
          <p:cNvPr id="15" name="stat-hint-141"/>
          <p:cNvSpPr txBox="1"/>
          <p:nvPr/>
        </p:nvSpPr>
        <p:spPr>
          <a:xfrm>
            <a:off x="777240" y="5824728"/>
            <a:ext cx="1874520" cy="301752"/>
          </a:xfrm>
          <a:prstGeom prst="rect">
            <a:avLst/>
          </a:prstGeom>
          <a:noFill/>
          <a:ln/>
        </p:spPr>
        <p:txBody>
          <a:bodyPr wrap="square" lIns="0" tIns="0" rIns="0" bIns="0" rtlCol="0" anchor="t"/>
          <a:lstStyle/>
          <a:p>
            <a:pPr indent="0" marL="0">
              <a:buNone/>
            </a:pPr>
            <a:r>
              <a:rPr lang="en-US" sz="1200" i="1" dirty="0">
                <a:solidFill>
                  <a:schemeClr val="accent5"/>
                </a:solidFill>
              </a:rPr>
              <a:t>[strength in words]</a:t>
            </a:r>
            <a:endParaRPr lang="en-US" sz="1200" dirty="0"/>
          </a:p>
        </p:txBody>
      </p:sp>
      <p:sp>
        <p:nvSpPr>
          <p:cNvPr id="16" name="visual-frame-142"/>
          <p:cNvSpPr/>
          <p:nvPr/>
        </p:nvSpPr>
        <p:spPr>
          <a:xfrm>
            <a:off x="3246120" y="1691640"/>
            <a:ext cx="8396935" cy="4069080"/>
          </a:xfrm>
          <a:prstGeom prst="roundRect">
            <a:avLst>
              <a:gd name="adj" fmla="val 2697"/>
            </a:avLst>
          </a:prstGeom>
          <a:solidFill>
            <a:schemeClr val="bg2"/>
          </a:solidFill>
          <a:ln w="15875">
            <a:solidFill>
              <a:schemeClr val="accent3"/>
            </a:solidFill>
            <a:prstDash val="dash"/>
          </a:ln>
        </p:spPr>
      </p:sp>
      <p:pic>
        <p:nvPicPr>
          <p:cNvPr id="17" name="visual-icon-143" descr="CHART  ·  Food-insecure people vs. food shelf activity, by county">    </p:cNvPr>
          <p:cNvPicPr>
            <a:picLocks noChangeAspect="1"/>
          </p:cNvPicPr>
          <p:nvPr/>
        </p:nvPicPr>
        <p:blipFill>
          <a:blip r:embed="rId1"/>
          <a:stretch>
            <a:fillRect/>
          </a:stretch>
        </p:blipFill>
        <p:spPr>
          <a:xfrm>
            <a:off x="7170268" y="2857500"/>
            <a:ext cx="548640" cy="548640"/>
          </a:xfrm>
          <a:prstGeom prst="rect">
            <a:avLst/>
          </a:prstGeom>
        </p:spPr>
      </p:pic>
      <p:sp>
        <p:nvSpPr>
          <p:cNvPr id="18" name="visual-label-144"/>
          <p:cNvSpPr txBox="1"/>
          <p:nvPr/>
        </p:nvSpPr>
        <p:spPr>
          <a:xfrm>
            <a:off x="3520440" y="3497580"/>
            <a:ext cx="7848295"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Food-insecure people vs. food shelf activity, by county</a:t>
            </a:r>
            <a:endParaRPr lang="en-US" sz="1400" dirty="0"/>
          </a:p>
        </p:txBody>
      </p:sp>
      <p:sp>
        <p:nvSpPr>
          <p:cNvPr id="19" name="visual-hint-145"/>
          <p:cNvSpPr txBox="1"/>
          <p:nvPr/>
        </p:nvSpPr>
        <p:spPr>
          <a:xfrm>
            <a:off x="3520440" y="3909060"/>
            <a:ext cx="7848295" cy="1668780"/>
          </a:xfrm>
          <a:prstGeom prst="rect">
            <a:avLst/>
          </a:prstGeom>
          <a:noFill/>
          <a:ln/>
        </p:spPr>
        <p:txBody>
          <a:bodyPr wrap="square" lIns="0" tIns="0" rIns="0" bIns="0" rtlCol="0" anchor="t"/>
          <a:lstStyle/>
          <a:p>
            <a:pPr algn="ctr" indent="0" marL="0">
              <a:buNone/>
            </a:pPr>
            <a:r>
              <a:rPr lang="en-US" sz="1200" i="1" dirty="0">
                <a:solidFill>
                  <a:schemeClr val="accent5"/>
                </a:solidFill>
              </a:rPr>
              <a:t>[scatter with fit line, one panel per metric, log scale, 2022–2024]</a:t>
            </a:r>
            <a:endParaRPr lang="en-US" sz="1200" dirty="0"/>
          </a:p>
        </p:txBody>
      </p:sp>
      <p:sp>
        <p:nvSpPr>
          <p:cNvPr id="20" name="cap-146"/>
          <p:cNvSpPr txBox="1"/>
          <p:nvPr/>
        </p:nvSpPr>
        <p:spPr>
          <a:xfrm>
            <a:off x="3246120" y="5852160"/>
            <a:ext cx="8396935" cy="365760"/>
          </a:xfrm>
          <a:prstGeom prst="rect">
            <a:avLst/>
          </a:prstGeom>
          <a:noFill/>
          <a:ln/>
        </p:spPr>
        <p:txBody>
          <a:bodyPr wrap="square" lIns="0" tIns="0" rIns="0" bIns="0" rtlCol="0" anchor="t"/>
          <a:lstStyle/>
          <a:p>
            <a:pPr indent="0" marL="0">
              <a:buNone/>
            </a:pPr>
            <a:r>
              <a:rPr lang="en-US" sz="1200" i="1" dirty="0">
                <a:solidFill>
                  <a:schemeClr val="accent5"/>
                </a:solidFill>
              </a:rPr>
              <a:t>[Caption: how to read the chart]</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Q1  ·  NEED VS. ACTIVITY</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where the match breaks down]</a:t>
            </a:r>
            <a:endParaRPr lang="en-US" sz="3000" dirty="0"/>
          </a:p>
        </p:txBody>
      </p:sp>
      <p:sp>
        <p:nvSpPr>
          <p:cNvPr id="4" name="visual-frame-147"/>
          <p:cNvSpPr/>
          <p:nvPr/>
        </p:nvSpPr>
        <p:spPr>
          <a:xfrm>
            <a:off x="548640" y="1691640"/>
            <a:ext cx="6766560" cy="4526280"/>
          </a:xfrm>
          <a:prstGeom prst="roundRect">
            <a:avLst>
              <a:gd name="adj" fmla="val 2424"/>
            </a:avLst>
          </a:prstGeom>
          <a:solidFill>
            <a:schemeClr val="bg2"/>
          </a:solidFill>
          <a:ln w="15875">
            <a:solidFill>
              <a:schemeClr val="accent3"/>
            </a:solidFill>
            <a:prstDash val="dash"/>
          </a:ln>
        </p:spPr>
      </p:sp>
      <p:pic>
        <p:nvPicPr>
          <p:cNvPr id="5" name="visual-icon-148" descr="MAP  ·  Minnesota counties by mismatch (gap)">    </p:cNvPr>
          <p:cNvPicPr>
            <a:picLocks noChangeAspect="1"/>
          </p:cNvPicPr>
          <p:nvPr/>
        </p:nvPicPr>
        <p:blipFill>
          <a:blip r:embed="rId1"/>
          <a:stretch>
            <a:fillRect/>
          </a:stretch>
        </p:blipFill>
        <p:spPr>
          <a:xfrm>
            <a:off x="3657600" y="3086100"/>
            <a:ext cx="548640" cy="548640"/>
          </a:xfrm>
          <a:prstGeom prst="rect">
            <a:avLst/>
          </a:prstGeom>
        </p:spPr>
      </p:pic>
      <p:sp>
        <p:nvSpPr>
          <p:cNvPr id="6" name="visual-label-149"/>
          <p:cNvSpPr txBox="1"/>
          <p:nvPr/>
        </p:nvSpPr>
        <p:spPr>
          <a:xfrm>
            <a:off x="822960" y="3726180"/>
            <a:ext cx="6217920" cy="365760"/>
          </a:xfrm>
          <a:prstGeom prst="rect">
            <a:avLst/>
          </a:prstGeom>
          <a:noFill/>
          <a:ln/>
        </p:spPr>
        <p:txBody>
          <a:bodyPr wrap="square" lIns="0" tIns="0" rIns="0" bIns="0" rtlCol="0" anchor="ctr"/>
          <a:lstStyle/>
          <a:p>
            <a:pPr algn="ctr" indent="0" marL="0">
              <a:buNone/>
            </a:pPr>
            <a:r>
              <a:rPr lang="en-US" sz="1400" b="1" dirty="0">
                <a:solidFill>
                  <a:schemeClr val="tx2"/>
                </a:solidFill>
              </a:rPr>
              <a:t>MAP  ·  Minnesota counties by mismatch (gap)</a:t>
            </a:r>
            <a:endParaRPr lang="en-US" sz="1400" dirty="0"/>
          </a:p>
        </p:txBody>
      </p:sp>
      <p:sp>
        <p:nvSpPr>
          <p:cNvPr id="7" name="visual-hint-150"/>
          <p:cNvSpPr txBox="1"/>
          <p:nvPr/>
        </p:nvSpPr>
        <p:spPr>
          <a:xfrm>
            <a:off x="822960" y="4137660"/>
            <a:ext cx="6217920" cy="1897380"/>
          </a:xfrm>
          <a:prstGeom prst="rect">
            <a:avLst/>
          </a:prstGeom>
          <a:noFill/>
          <a:ln/>
        </p:spPr>
        <p:txBody>
          <a:bodyPr wrap="square" lIns="0" tIns="0" rIns="0" bIns="0" rtlCol="0" anchor="t"/>
          <a:lstStyle/>
          <a:p>
            <a:pPr algn="ctr" indent="0" marL="0">
              <a:buNone/>
            </a:pPr>
            <a:r>
              <a:rPr lang="en-US" sz="1200" i="1" dirty="0">
                <a:solidFill>
                  <a:schemeClr val="accent5"/>
                </a:solidFill>
              </a:rPr>
              <a:t>[diverging color: above vs. below expected activity]</a:t>
            </a:r>
            <a:endParaRPr lang="en-US" sz="1200" dirty="0"/>
          </a:p>
        </p:txBody>
      </p:sp>
      <p:sp>
        <p:nvSpPr>
          <p:cNvPr id="8" name="lbl-151"/>
          <p:cNvSpPr txBox="1"/>
          <p:nvPr/>
        </p:nvSpPr>
        <p:spPr>
          <a:xfrm>
            <a:off x="7680960" y="1691640"/>
            <a:ext cx="393192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COUNTIES WHERE IT BREAKS DOWN</a:t>
            </a:r>
            <a:endParaRPr lang="en-US" sz="1200" dirty="0"/>
          </a:p>
        </p:txBody>
      </p:sp>
      <p:sp>
        <p:nvSpPr>
          <p:cNvPr id="9" name="row-badge-152"/>
          <p:cNvSpPr/>
          <p:nvPr/>
        </p:nvSpPr>
        <p:spPr>
          <a:xfrm>
            <a:off x="7680960" y="2148840"/>
            <a:ext cx="457200" cy="457200"/>
          </a:xfrm>
          <a:prstGeom prst="ellipse">
            <a:avLst/>
          </a:prstGeom>
          <a:solidFill>
            <a:schemeClr val="accent2"/>
          </a:solidFill>
          <a:ln/>
        </p:spPr>
      </p:sp>
      <p:sp>
        <p:nvSpPr>
          <p:cNvPr id="10" name="row-num-153"/>
          <p:cNvSpPr txBox="1"/>
          <p:nvPr/>
        </p:nvSpPr>
        <p:spPr>
          <a:xfrm>
            <a:off x="7680960" y="2148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row-text-154"/>
          <p:cNvSpPr txBox="1"/>
          <p:nvPr/>
        </p:nvSpPr>
        <p:spPr>
          <a:xfrm>
            <a:off x="8321040" y="2103120"/>
            <a:ext cx="3291840" cy="685800"/>
          </a:xfrm>
          <a:prstGeom prst="rect">
            <a:avLst/>
          </a:prstGeom>
          <a:noFill/>
          <a:ln/>
        </p:spPr>
        <p:txBody>
          <a:bodyPr wrap="square" lIns="0" tIns="0" rIns="0" bIns="0" rtlCol="0" anchor="t"/>
          <a:lstStyle/>
          <a:p>
            <a:pPr indent="0" marL="0">
              <a:buNone/>
            </a:pPr>
            <a:r>
              <a:rPr lang="en-US" sz="1400" b="1" dirty="0">
                <a:solidFill>
                  <a:schemeClr val="tx2"/>
                </a:solidFill>
              </a:rPr>
              <a:t>[County]</a:t>
            </a:r>
            <a:endParaRPr lang="en-US" sz="1400" dirty="0"/>
          </a:p>
          <a:p>
            <a:pPr indent="0" marL="0">
              <a:buNone/>
            </a:pPr>
            <a:r>
              <a:rPr lang="en-US" sz="1400" i="1" dirty="0">
                <a:solidFill>
                  <a:schemeClr val="accent5"/>
                </a:solidFill>
              </a:rPr>
              <a:t>[gap value · which metric · above/below]</a:t>
            </a:r>
            <a:endParaRPr lang="en-US" sz="1400" dirty="0"/>
          </a:p>
        </p:txBody>
      </p:sp>
      <p:sp>
        <p:nvSpPr>
          <p:cNvPr id="12" name="row-badge-155"/>
          <p:cNvSpPr/>
          <p:nvPr/>
        </p:nvSpPr>
        <p:spPr>
          <a:xfrm>
            <a:off x="7680960" y="2971800"/>
            <a:ext cx="457200" cy="457200"/>
          </a:xfrm>
          <a:prstGeom prst="ellipse">
            <a:avLst/>
          </a:prstGeom>
          <a:solidFill>
            <a:schemeClr val="accent2"/>
          </a:solidFill>
          <a:ln/>
        </p:spPr>
      </p:sp>
      <p:sp>
        <p:nvSpPr>
          <p:cNvPr id="13" name="row-num-156"/>
          <p:cNvSpPr txBox="1"/>
          <p:nvPr/>
        </p:nvSpPr>
        <p:spPr>
          <a:xfrm>
            <a:off x="7680960" y="2971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row-text-157"/>
          <p:cNvSpPr txBox="1"/>
          <p:nvPr/>
        </p:nvSpPr>
        <p:spPr>
          <a:xfrm>
            <a:off x="8321040" y="2926080"/>
            <a:ext cx="3291840" cy="685800"/>
          </a:xfrm>
          <a:prstGeom prst="rect">
            <a:avLst/>
          </a:prstGeom>
          <a:noFill/>
          <a:ln/>
        </p:spPr>
        <p:txBody>
          <a:bodyPr wrap="square" lIns="0" tIns="0" rIns="0" bIns="0" rtlCol="0" anchor="t"/>
          <a:lstStyle/>
          <a:p>
            <a:pPr indent="0" marL="0">
              <a:buNone/>
            </a:pPr>
            <a:r>
              <a:rPr lang="en-US" sz="1400" b="1" dirty="0">
                <a:solidFill>
                  <a:schemeClr val="tx2"/>
                </a:solidFill>
              </a:rPr>
              <a:t>[County]</a:t>
            </a:r>
            <a:endParaRPr lang="en-US" sz="1400" dirty="0"/>
          </a:p>
          <a:p>
            <a:pPr indent="0" marL="0">
              <a:buNone/>
            </a:pPr>
            <a:r>
              <a:rPr lang="en-US" sz="1400" i="1" dirty="0">
                <a:solidFill>
                  <a:schemeClr val="accent5"/>
                </a:solidFill>
              </a:rPr>
              <a:t>[gap value · which metric · above/below]</a:t>
            </a:r>
            <a:endParaRPr lang="en-US" sz="1400" dirty="0"/>
          </a:p>
        </p:txBody>
      </p:sp>
      <p:sp>
        <p:nvSpPr>
          <p:cNvPr id="15" name="row-badge-158"/>
          <p:cNvSpPr/>
          <p:nvPr/>
        </p:nvSpPr>
        <p:spPr>
          <a:xfrm>
            <a:off x="7680960" y="3794760"/>
            <a:ext cx="457200" cy="457200"/>
          </a:xfrm>
          <a:prstGeom prst="ellipse">
            <a:avLst/>
          </a:prstGeom>
          <a:solidFill>
            <a:schemeClr val="accent2"/>
          </a:solidFill>
          <a:ln/>
        </p:spPr>
      </p:sp>
      <p:sp>
        <p:nvSpPr>
          <p:cNvPr id="16" name="row-num-159"/>
          <p:cNvSpPr txBox="1"/>
          <p:nvPr/>
        </p:nvSpPr>
        <p:spPr>
          <a:xfrm>
            <a:off x="7680960" y="3794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row-text-160"/>
          <p:cNvSpPr txBox="1"/>
          <p:nvPr/>
        </p:nvSpPr>
        <p:spPr>
          <a:xfrm>
            <a:off x="8321040" y="3749040"/>
            <a:ext cx="3291840" cy="685800"/>
          </a:xfrm>
          <a:prstGeom prst="rect">
            <a:avLst/>
          </a:prstGeom>
          <a:noFill/>
          <a:ln/>
        </p:spPr>
        <p:txBody>
          <a:bodyPr wrap="square" lIns="0" tIns="0" rIns="0" bIns="0" rtlCol="0" anchor="t"/>
          <a:lstStyle/>
          <a:p>
            <a:pPr indent="0" marL="0">
              <a:buNone/>
            </a:pPr>
            <a:r>
              <a:rPr lang="en-US" sz="1400" b="1" dirty="0">
                <a:solidFill>
                  <a:schemeClr val="tx2"/>
                </a:solidFill>
              </a:rPr>
              <a:t>[County]</a:t>
            </a:r>
            <a:endParaRPr lang="en-US" sz="1400" dirty="0"/>
          </a:p>
          <a:p>
            <a:pPr indent="0" marL="0">
              <a:buNone/>
            </a:pPr>
            <a:r>
              <a:rPr lang="en-US" sz="1400" i="1" dirty="0">
                <a:solidFill>
                  <a:schemeClr val="accent5"/>
                </a:solidFill>
              </a:rPr>
              <a:t>[gap value · which metric · above/below]</a:t>
            </a:r>
            <a:endParaRPr lang="en-US" sz="1400" dirty="0"/>
          </a:p>
        </p:txBody>
      </p:sp>
      <p:sp>
        <p:nvSpPr>
          <p:cNvPr id="18" name="row-badge-161"/>
          <p:cNvSpPr/>
          <p:nvPr/>
        </p:nvSpPr>
        <p:spPr>
          <a:xfrm>
            <a:off x="7680960" y="4617720"/>
            <a:ext cx="457200" cy="457200"/>
          </a:xfrm>
          <a:prstGeom prst="ellipse">
            <a:avLst/>
          </a:prstGeom>
          <a:solidFill>
            <a:schemeClr val="accent2"/>
          </a:solidFill>
          <a:ln/>
        </p:spPr>
      </p:sp>
      <p:sp>
        <p:nvSpPr>
          <p:cNvPr id="19" name="row-num-162"/>
          <p:cNvSpPr txBox="1"/>
          <p:nvPr/>
        </p:nvSpPr>
        <p:spPr>
          <a:xfrm>
            <a:off x="7680960" y="4617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row-text-163"/>
          <p:cNvSpPr txBox="1"/>
          <p:nvPr/>
        </p:nvSpPr>
        <p:spPr>
          <a:xfrm>
            <a:off x="8321040" y="4572000"/>
            <a:ext cx="3291840" cy="685800"/>
          </a:xfrm>
          <a:prstGeom prst="rect">
            <a:avLst/>
          </a:prstGeom>
          <a:noFill/>
          <a:ln/>
        </p:spPr>
        <p:txBody>
          <a:bodyPr wrap="square" lIns="0" tIns="0" rIns="0" bIns="0" rtlCol="0" anchor="t"/>
          <a:lstStyle/>
          <a:p>
            <a:pPr indent="0" marL="0">
              <a:buNone/>
            </a:pPr>
            <a:r>
              <a:rPr lang="en-US" sz="1400" b="1" dirty="0">
                <a:solidFill>
                  <a:schemeClr val="tx2"/>
                </a:solidFill>
              </a:rPr>
              <a:t>[County]</a:t>
            </a:r>
            <a:endParaRPr lang="en-US" sz="1400" dirty="0"/>
          </a:p>
          <a:p>
            <a:pPr indent="0" marL="0">
              <a:buNone/>
            </a:pPr>
            <a:r>
              <a:rPr lang="en-US" sz="1400" i="1" dirty="0">
                <a:solidFill>
                  <a:schemeClr val="accent5"/>
                </a:solidFill>
              </a:rPr>
              <a:t>[gap value · which metric · above/below]</a:t>
            </a:r>
            <a:endParaRPr lang="en-US" sz="1400" dirty="0"/>
          </a:p>
        </p:txBody>
      </p:sp>
      <p:sp>
        <p:nvSpPr>
          <p:cNvPr id="21" name="pattern-164"/>
          <p:cNvSpPr txBox="1"/>
          <p:nvPr/>
        </p:nvSpPr>
        <p:spPr>
          <a:xfrm>
            <a:off x="7680960" y="5532120"/>
            <a:ext cx="3931920" cy="685800"/>
          </a:xfrm>
          <a:prstGeom prst="rect">
            <a:avLst/>
          </a:prstGeom>
          <a:noFill/>
          <a:ln/>
        </p:spPr>
        <p:txBody>
          <a:bodyPr wrap="square" lIns="0" tIns="0" rIns="0" bIns="0" rtlCol="0" anchor="t"/>
          <a:lstStyle/>
          <a:p>
            <a:pPr indent="0" marL="0">
              <a:buNone/>
            </a:pPr>
            <a:r>
              <a:rPr lang="en-US" sz="1400" i="1" dirty="0">
                <a:solidFill>
                  <a:schemeClr val="accent5"/>
                </a:solidFill>
              </a:rPr>
              <a:t>[Pattern: e.g. what these counties have in common]</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Q1  ·  NEED VS. ACTIVITY</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what county traits explain the mismatch]</a:t>
            </a:r>
            <a:endParaRPr lang="en-US" sz="3000" dirty="0"/>
          </a:p>
        </p:txBody>
      </p:sp>
      <p:sp>
        <p:nvSpPr>
          <p:cNvPr id="4" name="visual-frame-165"/>
          <p:cNvSpPr/>
          <p:nvPr/>
        </p:nvSpPr>
        <p:spPr>
          <a:xfrm>
            <a:off x="548640" y="1691640"/>
            <a:ext cx="6035040" cy="4526280"/>
          </a:xfrm>
          <a:prstGeom prst="roundRect">
            <a:avLst>
              <a:gd name="adj" fmla="val 2424"/>
            </a:avLst>
          </a:prstGeom>
          <a:solidFill>
            <a:schemeClr val="bg2"/>
          </a:solidFill>
          <a:ln w="15875">
            <a:solidFill>
              <a:schemeClr val="accent3"/>
            </a:solidFill>
            <a:prstDash val="dash"/>
          </a:ln>
        </p:spPr>
      </p:sp>
      <p:pic>
        <p:nvPicPr>
          <p:cNvPr id="5" name="visual-icon-166" descr="CHART  ·  Factor tests or model coefficients">    </p:cNvPr>
          <p:cNvPicPr>
            <a:picLocks noChangeAspect="1"/>
          </p:cNvPicPr>
          <p:nvPr/>
        </p:nvPicPr>
        <p:blipFill>
          <a:blip r:embed="rId1"/>
          <a:stretch>
            <a:fillRect/>
          </a:stretch>
        </p:blipFill>
        <p:spPr>
          <a:xfrm>
            <a:off x="3291840" y="3086100"/>
            <a:ext cx="548640" cy="548640"/>
          </a:xfrm>
          <a:prstGeom prst="rect">
            <a:avLst/>
          </a:prstGeom>
        </p:spPr>
      </p:pic>
      <p:sp>
        <p:nvSpPr>
          <p:cNvPr id="6" name="visual-label-167"/>
          <p:cNvSpPr txBox="1"/>
          <p:nvPr/>
        </p:nvSpPr>
        <p:spPr>
          <a:xfrm>
            <a:off x="822960" y="3726180"/>
            <a:ext cx="5486400"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Factor tests or model coefficients</a:t>
            </a:r>
            <a:endParaRPr lang="en-US" sz="1400" dirty="0"/>
          </a:p>
        </p:txBody>
      </p:sp>
      <p:sp>
        <p:nvSpPr>
          <p:cNvPr id="7" name="visual-hint-168"/>
          <p:cNvSpPr txBox="1"/>
          <p:nvPr/>
        </p:nvSpPr>
        <p:spPr>
          <a:xfrm>
            <a:off x="822960" y="4137660"/>
            <a:ext cx="5486400" cy="1897380"/>
          </a:xfrm>
          <a:prstGeom prst="rect">
            <a:avLst/>
          </a:prstGeom>
          <a:noFill/>
          <a:ln/>
        </p:spPr>
        <p:txBody>
          <a:bodyPr wrap="square" lIns="0" tIns="0" rIns="0" bIns="0" rtlCol="0" anchor="t"/>
          <a:lstStyle/>
          <a:p>
            <a:pPr algn="ctr" indent="0" marL="0">
              <a:buNone/>
            </a:pPr>
            <a:r>
              <a:rPr lang="en-US" sz="1200" i="1" dirty="0">
                <a:solidFill>
                  <a:schemeClr val="accent5"/>
                </a:solidFill>
              </a:rPr>
              <a:t>[e.g. outputs/q1b/q1b_factor_heatmap.png or q1b_coefficients.png]</a:t>
            </a:r>
            <a:endParaRPr lang="en-US" sz="1200" dirty="0"/>
          </a:p>
        </p:txBody>
      </p:sp>
      <p:sp>
        <p:nvSpPr>
          <p:cNvPr id="8" name="card-169"/>
          <p:cNvSpPr/>
          <p:nvPr/>
        </p:nvSpPr>
        <p:spPr>
          <a:xfrm>
            <a:off x="6949440" y="1691640"/>
            <a:ext cx="4693615" cy="1417320"/>
          </a:xfrm>
          <a:prstGeom prst="roundRect">
            <a:avLst>
              <a:gd name="adj" fmla="val 7742"/>
            </a:avLst>
          </a:prstGeom>
          <a:solidFill>
            <a:schemeClr val="bg2"/>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9" name="card-badge-170"/>
          <p:cNvSpPr/>
          <p:nvPr/>
        </p:nvSpPr>
        <p:spPr>
          <a:xfrm>
            <a:off x="7223760" y="1965960"/>
            <a:ext cx="566928" cy="566928"/>
          </a:xfrm>
          <a:prstGeom prst="ellipse">
            <a:avLst/>
          </a:prstGeom>
          <a:solidFill>
            <a:schemeClr val="tx2"/>
          </a:solidFill>
          <a:ln/>
        </p:spPr>
      </p:sp>
      <p:pic>
        <p:nvPicPr>
          <p:cNvPr id="10" name="card-icon-171" descr="[Factor 1, e.g. rurality]">    </p:cNvPr>
          <p:cNvPicPr>
            <a:picLocks noChangeAspect="1"/>
          </p:cNvPicPr>
          <p:nvPr/>
        </p:nvPicPr>
        <p:blipFill>
          <a:blip r:embed="rId2"/>
          <a:stretch>
            <a:fillRect/>
          </a:stretch>
        </p:blipFill>
        <p:spPr>
          <a:xfrm>
            <a:off x="7359823" y="2102023"/>
            <a:ext cx="294803" cy="294803"/>
          </a:xfrm>
          <a:prstGeom prst="rect">
            <a:avLst/>
          </a:prstGeom>
        </p:spPr>
      </p:pic>
      <p:sp>
        <p:nvSpPr>
          <p:cNvPr id="11" name="card-head-172"/>
          <p:cNvSpPr txBox="1"/>
          <p:nvPr/>
        </p:nvSpPr>
        <p:spPr>
          <a:xfrm>
            <a:off x="8001000" y="1947672"/>
            <a:ext cx="3367735" cy="365760"/>
          </a:xfrm>
          <a:prstGeom prst="rect">
            <a:avLst/>
          </a:prstGeom>
          <a:noFill/>
          <a:ln/>
        </p:spPr>
        <p:txBody>
          <a:bodyPr wrap="square" lIns="0" tIns="0" rIns="0" bIns="0" rtlCol="0" anchor="t"/>
          <a:lstStyle/>
          <a:p>
            <a:pPr indent="0" marL="0">
              <a:buNone/>
            </a:pPr>
            <a:r>
              <a:rPr lang="en-US" sz="1800" b="1" dirty="0">
                <a:solidFill>
                  <a:schemeClr val="tx2"/>
                </a:solidFill>
              </a:rPr>
              <a:t>[Factor 1, e.g. rurality]</a:t>
            </a:r>
            <a:endParaRPr lang="en-US" sz="1800" dirty="0"/>
          </a:p>
        </p:txBody>
      </p:sp>
      <p:sp>
        <p:nvSpPr>
          <p:cNvPr id="12" name="card-body-173"/>
          <p:cNvSpPr txBox="1"/>
          <p:nvPr/>
        </p:nvSpPr>
        <p:spPr>
          <a:xfrm>
            <a:off x="8001000" y="2350008"/>
            <a:ext cx="3367735" cy="548640"/>
          </a:xfrm>
          <a:prstGeom prst="rect">
            <a:avLst/>
          </a:prstGeom>
          <a:noFill/>
          <a:ln/>
        </p:spPr>
        <p:txBody>
          <a:bodyPr wrap="square" lIns="0" tIns="0" rIns="0" bIns="0" rtlCol="0" anchor="t"/>
          <a:lstStyle/>
          <a:p>
            <a:pPr indent="0" marL="0">
              <a:buNone/>
            </a:pPr>
            <a:r>
              <a:rPr lang="en-US" sz="1400" i="1" dirty="0">
                <a:solidFill>
                  <a:schemeClr val="accent5"/>
                </a:solidFill>
              </a:rPr>
              <a:t>[direction + effect size]</a:t>
            </a:r>
            <a:endParaRPr lang="en-US" sz="1400" dirty="0"/>
          </a:p>
        </p:txBody>
      </p:sp>
      <p:sp>
        <p:nvSpPr>
          <p:cNvPr id="13" name="card-174"/>
          <p:cNvSpPr/>
          <p:nvPr/>
        </p:nvSpPr>
        <p:spPr>
          <a:xfrm>
            <a:off x="6949440" y="3246120"/>
            <a:ext cx="4693615" cy="1417320"/>
          </a:xfrm>
          <a:prstGeom prst="roundRect">
            <a:avLst>
              <a:gd name="adj" fmla="val 7742"/>
            </a:avLst>
          </a:prstGeom>
          <a:solidFill>
            <a:schemeClr val="bg2"/>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4" name="card-badge-175"/>
          <p:cNvSpPr/>
          <p:nvPr/>
        </p:nvSpPr>
        <p:spPr>
          <a:xfrm>
            <a:off x="7223760" y="3520440"/>
            <a:ext cx="566928" cy="566928"/>
          </a:xfrm>
          <a:prstGeom prst="ellipse">
            <a:avLst/>
          </a:prstGeom>
          <a:solidFill>
            <a:schemeClr val="tx2"/>
          </a:solidFill>
          <a:ln/>
        </p:spPr>
      </p:sp>
      <p:pic>
        <p:nvPicPr>
          <p:cNvPr id="15" name="card-icon-176" descr="[Factor 2, e.g. poverty]">    </p:cNvPr>
          <p:cNvPicPr>
            <a:picLocks noChangeAspect="1"/>
          </p:cNvPicPr>
          <p:nvPr/>
        </p:nvPicPr>
        <p:blipFill>
          <a:blip r:embed="rId3"/>
          <a:stretch>
            <a:fillRect/>
          </a:stretch>
        </p:blipFill>
        <p:spPr>
          <a:xfrm>
            <a:off x="7359823" y="3656503"/>
            <a:ext cx="294803" cy="294803"/>
          </a:xfrm>
          <a:prstGeom prst="rect">
            <a:avLst/>
          </a:prstGeom>
        </p:spPr>
      </p:pic>
      <p:sp>
        <p:nvSpPr>
          <p:cNvPr id="16" name="card-head-177"/>
          <p:cNvSpPr txBox="1"/>
          <p:nvPr/>
        </p:nvSpPr>
        <p:spPr>
          <a:xfrm>
            <a:off x="8001000" y="3502152"/>
            <a:ext cx="3367735" cy="365760"/>
          </a:xfrm>
          <a:prstGeom prst="rect">
            <a:avLst/>
          </a:prstGeom>
          <a:noFill/>
          <a:ln/>
        </p:spPr>
        <p:txBody>
          <a:bodyPr wrap="square" lIns="0" tIns="0" rIns="0" bIns="0" rtlCol="0" anchor="t"/>
          <a:lstStyle/>
          <a:p>
            <a:pPr indent="0" marL="0">
              <a:buNone/>
            </a:pPr>
            <a:r>
              <a:rPr lang="en-US" sz="1800" b="1" dirty="0">
                <a:solidFill>
                  <a:schemeClr val="tx2"/>
                </a:solidFill>
              </a:rPr>
              <a:t>[Factor 2, e.g. poverty]</a:t>
            </a:r>
            <a:endParaRPr lang="en-US" sz="1800" dirty="0"/>
          </a:p>
        </p:txBody>
      </p:sp>
      <p:sp>
        <p:nvSpPr>
          <p:cNvPr id="17" name="card-body-178"/>
          <p:cNvSpPr txBox="1"/>
          <p:nvPr/>
        </p:nvSpPr>
        <p:spPr>
          <a:xfrm>
            <a:off x="8001000" y="3904488"/>
            <a:ext cx="3367735" cy="548640"/>
          </a:xfrm>
          <a:prstGeom prst="rect">
            <a:avLst/>
          </a:prstGeom>
          <a:noFill/>
          <a:ln/>
        </p:spPr>
        <p:txBody>
          <a:bodyPr wrap="square" lIns="0" tIns="0" rIns="0" bIns="0" rtlCol="0" anchor="t"/>
          <a:lstStyle/>
          <a:p>
            <a:pPr indent="0" marL="0">
              <a:buNone/>
            </a:pPr>
            <a:r>
              <a:rPr lang="en-US" sz="1400" i="1" dirty="0">
                <a:solidFill>
                  <a:schemeClr val="accent5"/>
                </a:solidFill>
              </a:rPr>
              <a:t>[direction + effect size]</a:t>
            </a:r>
            <a:endParaRPr lang="en-US" sz="1400" dirty="0"/>
          </a:p>
        </p:txBody>
      </p:sp>
      <p:sp>
        <p:nvSpPr>
          <p:cNvPr id="18" name="card-179"/>
          <p:cNvSpPr/>
          <p:nvPr/>
        </p:nvSpPr>
        <p:spPr>
          <a:xfrm>
            <a:off x="6949440" y="4800600"/>
            <a:ext cx="4693615" cy="1417320"/>
          </a:xfrm>
          <a:prstGeom prst="roundRect">
            <a:avLst>
              <a:gd name="adj" fmla="val 7742"/>
            </a:avLst>
          </a:prstGeom>
          <a:solidFill>
            <a:schemeClr val="bg2"/>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9" name="card-badge-180"/>
          <p:cNvSpPr/>
          <p:nvPr/>
        </p:nvSpPr>
        <p:spPr>
          <a:xfrm>
            <a:off x="7223760" y="5074920"/>
            <a:ext cx="566928" cy="566928"/>
          </a:xfrm>
          <a:prstGeom prst="ellipse">
            <a:avLst/>
          </a:prstGeom>
          <a:solidFill>
            <a:schemeClr val="tx2"/>
          </a:solidFill>
          <a:ln/>
        </p:spPr>
      </p:sp>
      <p:pic>
        <p:nvPicPr>
          <p:cNvPr id="20" name="card-icon-181" descr="[Factor 3, e.g. access]">    </p:cNvPr>
          <p:cNvPicPr>
            <a:picLocks noChangeAspect="1"/>
          </p:cNvPicPr>
          <p:nvPr/>
        </p:nvPicPr>
        <p:blipFill>
          <a:blip r:embed="rId4"/>
          <a:stretch>
            <a:fillRect/>
          </a:stretch>
        </p:blipFill>
        <p:spPr>
          <a:xfrm>
            <a:off x="7359823" y="5210983"/>
            <a:ext cx="294803" cy="294803"/>
          </a:xfrm>
          <a:prstGeom prst="rect">
            <a:avLst/>
          </a:prstGeom>
        </p:spPr>
      </p:pic>
      <p:sp>
        <p:nvSpPr>
          <p:cNvPr id="21" name="card-head-182"/>
          <p:cNvSpPr txBox="1"/>
          <p:nvPr/>
        </p:nvSpPr>
        <p:spPr>
          <a:xfrm>
            <a:off x="8001000" y="5056632"/>
            <a:ext cx="3367735" cy="365760"/>
          </a:xfrm>
          <a:prstGeom prst="rect">
            <a:avLst/>
          </a:prstGeom>
          <a:noFill/>
          <a:ln/>
        </p:spPr>
        <p:txBody>
          <a:bodyPr wrap="square" lIns="0" tIns="0" rIns="0" bIns="0" rtlCol="0" anchor="t"/>
          <a:lstStyle/>
          <a:p>
            <a:pPr indent="0" marL="0">
              <a:buNone/>
            </a:pPr>
            <a:r>
              <a:rPr lang="en-US" sz="1800" b="1" dirty="0">
                <a:solidFill>
                  <a:schemeClr val="tx2"/>
                </a:solidFill>
              </a:rPr>
              <a:t>[Factor 3, e.g. access]</a:t>
            </a:r>
            <a:endParaRPr lang="en-US" sz="1800" dirty="0"/>
          </a:p>
        </p:txBody>
      </p:sp>
      <p:sp>
        <p:nvSpPr>
          <p:cNvPr id="22" name="card-body-183"/>
          <p:cNvSpPr txBox="1"/>
          <p:nvPr/>
        </p:nvSpPr>
        <p:spPr>
          <a:xfrm>
            <a:off x="8001000" y="5458968"/>
            <a:ext cx="3367735" cy="548640"/>
          </a:xfrm>
          <a:prstGeom prst="rect">
            <a:avLst/>
          </a:prstGeom>
          <a:noFill/>
          <a:ln/>
        </p:spPr>
        <p:txBody>
          <a:bodyPr wrap="square" lIns="0" tIns="0" rIns="0" bIns="0" rtlCol="0" anchor="t"/>
          <a:lstStyle/>
          <a:p>
            <a:pPr indent="0" marL="0">
              <a:buNone/>
            </a:pPr>
            <a:r>
              <a:rPr lang="en-US" sz="1400" i="1" dirty="0">
                <a:solidFill>
                  <a:schemeClr val="accent5"/>
                </a:solidFill>
              </a:rPr>
              <a:t>[direction + effect size]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06</a:t>
            </a: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ACT I  ·  WHERE IS THE NEED?</a:t>
            </a: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Where is need larger than activity shows?</a:t>
            </a: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lIns="0" tIns="0" rIns="0" bIns="0" rtlCol="0" anchor="t"/>
          <a:lstStyle/>
          <a:p>
            <a:pPr indent="0" marL="0">
              <a:buNone/>
            </a:pPr>
            <a:r>
              <a:rPr lang="en-US" sz="1600" dirty="0">
                <a:solidFill>
                  <a:schemeClr val="accent4"/>
                </a:solidFill>
              </a:rPr>
              <a:t>[One-line answer preview]</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Q6  ·  DIVERGENCE MEASURE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we built a need index from public data only]</a:t>
            </a:r>
            <a:endParaRPr lang="en-US" sz="3000" dirty="0"/>
          </a:p>
        </p:txBody>
      </p:sp>
      <p:sp>
        <p:nvSpPr>
          <p:cNvPr id="4" name="flow-step-184"/>
          <p:cNvSpPr/>
          <p:nvPr/>
        </p:nvSpPr>
        <p:spPr>
          <a:xfrm>
            <a:off x="548640" y="1691640"/>
            <a:ext cx="2533574" cy="2377440"/>
          </a:xfrm>
          <a:prstGeom prst="roundRect">
            <a:avLst>
              <a:gd name="adj" fmla="val 4615"/>
            </a:avLst>
          </a:prstGeom>
          <a:solidFill>
            <a:schemeClr val="bg2"/>
          </a:solidFill>
          <a:ln/>
        </p:spPr>
      </p:sp>
      <p:sp>
        <p:nvSpPr>
          <p:cNvPr id="5" name="flow-num-185"/>
          <p:cNvSpPr txBox="1"/>
          <p:nvPr/>
        </p:nvSpPr>
        <p:spPr>
          <a:xfrm>
            <a:off x="777240"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01</a:t>
            </a:r>
            <a:endParaRPr lang="en-US" sz="2000" dirty="0"/>
          </a:p>
        </p:txBody>
      </p:sp>
      <p:sp>
        <p:nvSpPr>
          <p:cNvPr id="6" name="flow-head-186"/>
          <p:cNvSpPr txBox="1"/>
          <p:nvPr/>
        </p:nvSpPr>
        <p:spPr>
          <a:xfrm>
            <a:off x="777240" y="22860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Hardship indicators</a:t>
            </a:r>
            <a:endParaRPr lang="en-US" sz="1600" dirty="0"/>
          </a:p>
        </p:txBody>
      </p:sp>
      <p:sp>
        <p:nvSpPr>
          <p:cNvPr id="7" name="flow-body-187"/>
          <p:cNvSpPr txBox="1"/>
          <p:nvPr/>
        </p:nvSpPr>
        <p:spPr>
          <a:xfrm>
            <a:off x="777240" y="2697480"/>
            <a:ext cx="2076374" cy="1188720"/>
          </a:xfrm>
          <a:prstGeom prst="rect">
            <a:avLst/>
          </a:prstGeom>
          <a:noFill/>
          <a:ln/>
        </p:spPr>
        <p:txBody>
          <a:bodyPr wrap="square" lIns="0" tIns="0" rIns="0" bIns="0" rtlCol="0" anchor="t"/>
          <a:lstStyle/>
          <a:p>
            <a:pPr indent="0" marL="0">
              <a:buNone/>
            </a:pPr>
            <a:r>
              <a:rPr lang="en-US" sz="1200" i="1" dirty="0">
                <a:solidFill>
                  <a:schemeClr val="accent5"/>
                </a:solidFill>
              </a:rPr>
              <a:t>[the 8 dimensions kept, and why access barriers stay out]</a:t>
            </a:r>
            <a:endParaRPr lang="en-US" sz="1200" dirty="0"/>
          </a:p>
        </p:txBody>
      </p:sp>
      <p:pic>
        <p:nvPicPr>
          <p:cNvPr id="8" name="flow-arrow-188" descr="next">    </p:cNvPr>
          <p:cNvPicPr>
            <a:picLocks noChangeAspect="1"/>
          </p:cNvPicPr>
          <p:nvPr/>
        </p:nvPicPr>
        <p:blipFill>
          <a:blip r:embed="rId1"/>
          <a:stretch>
            <a:fillRect/>
          </a:stretch>
        </p:blipFill>
        <p:spPr>
          <a:xfrm>
            <a:off x="3150794" y="2788920"/>
            <a:ext cx="182880" cy="182880"/>
          </a:xfrm>
          <a:prstGeom prst="rect">
            <a:avLst/>
          </a:prstGeom>
        </p:spPr>
      </p:pic>
      <p:sp>
        <p:nvSpPr>
          <p:cNvPr id="9" name="flow-step-189"/>
          <p:cNvSpPr/>
          <p:nvPr/>
        </p:nvSpPr>
        <p:spPr>
          <a:xfrm>
            <a:off x="3402254" y="1691640"/>
            <a:ext cx="2533574" cy="2377440"/>
          </a:xfrm>
          <a:prstGeom prst="roundRect">
            <a:avLst>
              <a:gd name="adj" fmla="val 4615"/>
            </a:avLst>
          </a:prstGeom>
          <a:solidFill>
            <a:schemeClr val="bg2"/>
          </a:solidFill>
          <a:ln/>
        </p:spPr>
      </p:sp>
      <p:sp>
        <p:nvSpPr>
          <p:cNvPr id="10" name="flow-num-190"/>
          <p:cNvSpPr txBox="1"/>
          <p:nvPr/>
        </p:nvSpPr>
        <p:spPr>
          <a:xfrm>
            <a:off x="3630854"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02</a:t>
            </a:r>
            <a:endParaRPr lang="en-US" sz="2000" dirty="0"/>
          </a:p>
        </p:txBody>
      </p:sp>
      <p:sp>
        <p:nvSpPr>
          <p:cNvPr id="11" name="flow-head-191"/>
          <p:cNvSpPr txBox="1"/>
          <p:nvPr/>
        </p:nvSpPr>
        <p:spPr>
          <a:xfrm>
            <a:off x="3630854" y="22860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Need index</a:t>
            </a:r>
            <a:endParaRPr lang="en-US" sz="1600" dirty="0"/>
          </a:p>
        </p:txBody>
      </p:sp>
      <p:sp>
        <p:nvSpPr>
          <p:cNvPr id="12" name="flow-body-192"/>
          <p:cNvSpPr txBox="1"/>
          <p:nvPr/>
        </p:nvSpPr>
        <p:spPr>
          <a:xfrm>
            <a:off x="3630854" y="2697480"/>
            <a:ext cx="2076374" cy="1188720"/>
          </a:xfrm>
          <a:prstGeom prst="rect">
            <a:avLst/>
          </a:prstGeom>
          <a:noFill/>
          <a:ln/>
        </p:spPr>
        <p:txBody>
          <a:bodyPr wrap="square" lIns="0" tIns="0" rIns="0" bIns="0" rtlCol="0" anchor="t"/>
          <a:lstStyle/>
          <a:p>
            <a:pPr indent="0" marL="0">
              <a:buNone/>
            </a:pPr>
            <a:r>
              <a:rPr lang="en-US" sz="1200" i="1" dirty="0">
                <a:solidFill>
                  <a:schemeClr val="accent5"/>
                </a:solidFill>
              </a:rPr>
              <a:t>[equal weight vs. PCA vs. MMG; which is headline]</a:t>
            </a:r>
            <a:endParaRPr lang="en-US" sz="1200" dirty="0"/>
          </a:p>
        </p:txBody>
      </p:sp>
      <p:pic>
        <p:nvPicPr>
          <p:cNvPr id="13" name="flow-arrow-193" descr="next">    </p:cNvPr>
          <p:cNvPicPr>
            <a:picLocks noChangeAspect="1"/>
          </p:cNvPicPr>
          <p:nvPr/>
        </p:nvPicPr>
        <p:blipFill>
          <a:blip r:embed="rId2"/>
          <a:stretch>
            <a:fillRect/>
          </a:stretch>
        </p:blipFill>
        <p:spPr>
          <a:xfrm>
            <a:off x="6004408" y="2788920"/>
            <a:ext cx="182880" cy="182880"/>
          </a:xfrm>
          <a:prstGeom prst="rect">
            <a:avLst/>
          </a:prstGeom>
        </p:spPr>
      </p:pic>
      <p:sp>
        <p:nvSpPr>
          <p:cNvPr id="14" name="flow-step-194"/>
          <p:cNvSpPr/>
          <p:nvPr/>
        </p:nvSpPr>
        <p:spPr>
          <a:xfrm>
            <a:off x="6255868" y="1691640"/>
            <a:ext cx="2533574" cy="2377440"/>
          </a:xfrm>
          <a:prstGeom prst="roundRect">
            <a:avLst>
              <a:gd name="adj" fmla="val 4615"/>
            </a:avLst>
          </a:prstGeom>
          <a:solidFill>
            <a:schemeClr val="bg2"/>
          </a:solidFill>
          <a:ln/>
        </p:spPr>
      </p:sp>
      <p:sp>
        <p:nvSpPr>
          <p:cNvPr id="15" name="flow-num-195"/>
          <p:cNvSpPr txBox="1"/>
          <p:nvPr/>
        </p:nvSpPr>
        <p:spPr>
          <a:xfrm>
            <a:off x="6484468"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03</a:t>
            </a:r>
            <a:endParaRPr lang="en-US" sz="2000" dirty="0"/>
          </a:p>
        </p:txBody>
      </p:sp>
      <p:sp>
        <p:nvSpPr>
          <p:cNvPr id="16" name="flow-head-196"/>
          <p:cNvSpPr txBox="1"/>
          <p:nvPr/>
        </p:nvSpPr>
        <p:spPr>
          <a:xfrm>
            <a:off x="6484468" y="22860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Compare to demand</a:t>
            </a:r>
            <a:endParaRPr lang="en-US" sz="1600" dirty="0"/>
          </a:p>
        </p:txBody>
      </p:sp>
      <p:sp>
        <p:nvSpPr>
          <p:cNvPr id="17" name="flow-body-197"/>
          <p:cNvSpPr txBox="1"/>
          <p:nvPr/>
        </p:nvSpPr>
        <p:spPr>
          <a:xfrm>
            <a:off x="6484468" y="2697480"/>
            <a:ext cx="2076374" cy="1188720"/>
          </a:xfrm>
          <a:prstGeom prst="rect">
            <a:avLst/>
          </a:prstGeom>
          <a:noFill/>
          <a:ln/>
        </p:spPr>
        <p:txBody>
          <a:bodyPr wrap="square" lIns="0" tIns="0" rIns="0" bIns="0" rtlCol="0" anchor="t"/>
          <a:lstStyle/>
          <a:p>
            <a:pPr indent="0" marL="0">
              <a:buNone/>
            </a:pPr>
            <a:r>
              <a:rPr lang="en-US" sz="1200" i="1" dirty="0">
                <a:solidFill>
                  <a:schemeClr val="accent5"/>
                </a:solidFill>
              </a:rPr>
              <a:t>[visits, pounds, individuals per capita]</a:t>
            </a:r>
            <a:endParaRPr lang="en-US" sz="1200" dirty="0"/>
          </a:p>
        </p:txBody>
      </p:sp>
      <p:pic>
        <p:nvPicPr>
          <p:cNvPr id="18" name="flow-arrow-198" descr="next">    </p:cNvPr>
          <p:cNvPicPr>
            <a:picLocks noChangeAspect="1"/>
          </p:cNvPicPr>
          <p:nvPr/>
        </p:nvPicPr>
        <p:blipFill>
          <a:blip r:embed="rId3"/>
          <a:stretch>
            <a:fillRect/>
          </a:stretch>
        </p:blipFill>
        <p:spPr>
          <a:xfrm>
            <a:off x="8858021" y="2788920"/>
            <a:ext cx="182880" cy="182880"/>
          </a:xfrm>
          <a:prstGeom prst="rect">
            <a:avLst/>
          </a:prstGeom>
        </p:spPr>
      </p:pic>
      <p:sp>
        <p:nvSpPr>
          <p:cNvPr id="19" name="flow-step-199"/>
          <p:cNvSpPr/>
          <p:nvPr/>
        </p:nvSpPr>
        <p:spPr>
          <a:xfrm>
            <a:off x="9109481" y="1691640"/>
            <a:ext cx="2533574" cy="2377440"/>
          </a:xfrm>
          <a:prstGeom prst="roundRect">
            <a:avLst>
              <a:gd name="adj" fmla="val 4615"/>
            </a:avLst>
          </a:prstGeom>
          <a:solidFill>
            <a:schemeClr val="tx2"/>
          </a:solidFill>
          <a:ln/>
        </p:spPr>
      </p:sp>
      <p:sp>
        <p:nvSpPr>
          <p:cNvPr id="20" name="flow-num-200"/>
          <p:cNvSpPr txBox="1"/>
          <p:nvPr/>
        </p:nvSpPr>
        <p:spPr>
          <a:xfrm>
            <a:off x="9338081"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04</a:t>
            </a:r>
            <a:endParaRPr lang="en-US" sz="2000" dirty="0"/>
          </a:p>
        </p:txBody>
      </p:sp>
      <p:sp>
        <p:nvSpPr>
          <p:cNvPr id="21" name="flow-head-201"/>
          <p:cNvSpPr txBox="1"/>
          <p:nvPr/>
        </p:nvSpPr>
        <p:spPr>
          <a:xfrm>
            <a:off x="9338081" y="2286000"/>
            <a:ext cx="2076374" cy="365760"/>
          </a:xfrm>
          <a:prstGeom prst="rect">
            <a:avLst/>
          </a:prstGeom>
          <a:noFill/>
          <a:ln/>
        </p:spPr>
        <p:txBody>
          <a:bodyPr wrap="square" lIns="0" tIns="0" rIns="0" bIns="0" rtlCol="0" anchor="t"/>
          <a:lstStyle/>
          <a:p>
            <a:pPr indent="0" marL="0">
              <a:buNone/>
            </a:pPr>
            <a:r>
              <a:rPr lang="en-US" sz="1600" b="1" dirty="0">
                <a:solidFill>
                  <a:schemeClr val="bg1"/>
                </a:solidFill>
              </a:rPr>
              <a:t>Divergence score</a:t>
            </a:r>
            <a:endParaRPr lang="en-US" sz="1600" dirty="0"/>
          </a:p>
        </p:txBody>
      </p:sp>
      <p:sp>
        <p:nvSpPr>
          <p:cNvPr id="22" name="flow-body-202"/>
          <p:cNvSpPr txBox="1"/>
          <p:nvPr/>
        </p:nvSpPr>
        <p:spPr>
          <a:xfrm>
            <a:off x="9338081" y="2697480"/>
            <a:ext cx="2076374" cy="1188720"/>
          </a:xfrm>
          <a:prstGeom prst="rect">
            <a:avLst/>
          </a:prstGeom>
          <a:noFill/>
          <a:ln/>
        </p:spPr>
        <p:txBody>
          <a:bodyPr wrap="square" lIns="0" tIns="0" rIns="0" bIns="0" rtlCol="0" anchor="t"/>
          <a:lstStyle/>
          <a:p>
            <a:pPr indent="0" marL="0">
              <a:buNone/>
            </a:pPr>
            <a:r>
              <a:rPr lang="en-US" sz="1200" i="1" dirty="0">
                <a:solidFill>
                  <a:schemeClr val="accent4"/>
                </a:solidFill>
              </a:rPr>
              <a:t>[need rank minus activity rank, or similar]</a:t>
            </a:r>
            <a:endParaRPr lang="en-US" sz="1200" dirty="0"/>
          </a:p>
        </p:txBody>
      </p:sp>
      <p:sp>
        <p:nvSpPr>
          <p:cNvPr id="23" name="visual-frame-203"/>
          <p:cNvSpPr/>
          <p:nvPr/>
        </p:nvSpPr>
        <p:spPr>
          <a:xfrm>
            <a:off x="548640" y="4343400"/>
            <a:ext cx="6766560" cy="1874520"/>
          </a:xfrm>
          <a:prstGeom prst="roundRect">
            <a:avLst>
              <a:gd name="adj" fmla="val 5854"/>
            </a:avLst>
          </a:prstGeom>
          <a:solidFill>
            <a:schemeClr val="bg2"/>
          </a:solidFill>
          <a:ln w="15875">
            <a:solidFill>
              <a:schemeClr val="accent3"/>
            </a:solidFill>
            <a:prstDash val="dash"/>
          </a:ln>
        </p:spPr>
      </p:sp>
      <p:pic>
        <p:nvPicPr>
          <p:cNvPr id="24" name="visual-icon-204" descr="VISUAL  ·  Indicator weights / PCA loadings">    </p:cNvPr>
          <p:cNvPicPr>
            <a:picLocks noChangeAspect="1"/>
          </p:cNvPicPr>
          <p:nvPr/>
        </p:nvPicPr>
        <p:blipFill>
          <a:blip r:embed="rId4"/>
          <a:stretch>
            <a:fillRect/>
          </a:stretch>
        </p:blipFill>
        <p:spPr>
          <a:xfrm>
            <a:off x="3725723" y="4548226"/>
            <a:ext cx="412394" cy="412394"/>
          </a:xfrm>
          <a:prstGeom prst="rect">
            <a:avLst/>
          </a:prstGeom>
        </p:spPr>
      </p:pic>
      <p:sp>
        <p:nvSpPr>
          <p:cNvPr id="25" name="visual-label-205"/>
          <p:cNvSpPr txBox="1"/>
          <p:nvPr/>
        </p:nvSpPr>
        <p:spPr>
          <a:xfrm>
            <a:off x="822960" y="5052060"/>
            <a:ext cx="6217920" cy="365760"/>
          </a:xfrm>
          <a:prstGeom prst="rect">
            <a:avLst/>
          </a:prstGeom>
          <a:noFill/>
          <a:ln/>
        </p:spPr>
        <p:txBody>
          <a:bodyPr wrap="square" lIns="0" tIns="0" rIns="0" bIns="0" rtlCol="0" anchor="ctr"/>
          <a:lstStyle/>
          <a:p>
            <a:pPr algn="ctr" indent="0" marL="0">
              <a:buNone/>
            </a:pPr>
            <a:r>
              <a:rPr lang="en-US" sz="1400" b="1" dirty="0">
                <a:solidFill>
                  <a:schemeClr val="tx2"/>
                </a:solidFill>
              </a:rPr>
              <a:t>VISUAL  ·  Indicator weights / PCA loadings</a:t>
            </a:r>
            <a:endParaRPr lang="en-US" sz="1400" dirty="0"/>
          </a:p>
        </p:txBody>
      </p:sp>
      <p:sp>
        <p:nvSpPr>
          <p:cNvPr id="26" name="visual-hint-206"/>
          <p:cNvSpPr txBox="1"/>
          <p:nvPr/>
        </p:nvSpPr>
        <p:spPr>
          <a:xfrm>
            <a:off x="822960" y="5463540"/>
            <a:ext cx="6217920" cy="571500"/>
          </a:xfrm>
          <a:prstGeom prst="rect">
            <a:avLst/>
          </a:prstGeom>
          <a:noFill/>
          <a:ln/>
        </p:spPr>
        <p:txBody>
          <a:bodyPr wrap="square" lIns="0" tIns="0" rIns="0" bIns="0" rtlCol="0" anchor="t"/>
          <a:lstStyle/>
          <a:p>
            <a:pPr algn="ctr" indent="0" marL="0">
              <a:buNone/>
            </a:pPr>
            <a:r>
              <a:rPr lang="en-US" sz="1200" i="1" dirty="0">
                <a:solidFill>
                  <a:schemeClr val="accent5"/>
                </a:solidFill>
              </a:rPr>
              <a:t>[e.g. outputs/q6/q6_need_index_pca.png]</a:t>
            </a:r>
            <a:endParaRPr lang="en-US" sz="1200" dirty="0"/>
          </a:p>
        </p:txBody>
      </p:sp>
      <p:sp>
        <p:nvSpPr>
          <p:cNvPr id="27" name="why-box-207"/>
          <p:cNvSpPr/>
          <p:nvPr/>
        </p:nvSpPr>
        <p:spPr>
          <a:xfrm>
            <a:off x="7680960" y="4343400"/>
            <a:ext cx="3962095" cy="1874520"/>
          </a:xfrm>
          <a:prstGeom prst="roundRect">
            <a:avLst>
              <a:gd name="adj" fmla="val 5854"/>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28" name="why-text-208"/>
          <p:cNvSpPr txBox="1"/>
          <p:nvPr/>
        </p:nvSpPr>
        <p:spPr>
          <a:xfrm>
            <a:off x="7955280" y="4572000"/>
            <a:ext cx="3413455" cy="146304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Why this is need, not demand</a:t>
            </a:r>
            <a:endParaRPr lang="en-US" sz="1400" dirty="0"/>
          </a:p>
          <a:p>
            <a:pPr indent="0" marL="0">
              <a:spcAft>
                <a:spcPts val="600"/>
              </a:spcAft>
              <a:buNone/>
            </a:pPr>
            <a:r>
              <a:rPr lang="en-US" sz="1400" i="1" dirty="0">
                <a:solidFill>
                  <a:schemeClr val="accent5"/>
                </a:solidFill>
              </a:rPr>
              <a:t>[1–2 sentences: no food shelf data inside the index, so divergence is not circular]</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Q6  ·  DIVERGENCE MEASURE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these counties have more need than activity shows]</a:t>
            </a:r>
            <a:endParaRPr lang="en-US" sz="3000" dirty="0"/>
          </a:p>
        </p:txBody>
      </p:sp>
      <p:sp>
        <p:nvSpPr>
          <p:cNvPr id="4" name="visual-frame-209"/>
          <p:cNvSpPr/>
          <p:nvPr/>
        </p:nvSpPr>
        <p:spPr>
          <a:xfrm>
            <a:off x="548640" y="1691640"/>
            <a:ext cx="5486400" cy="4526280"/>
          </a:xfrm>
          <a:prstGeom prst="roundRect">
            <a:avLst>
              <a:gd name="adj" fmla="val 2424"/>
            </a:avLst>
          </a:prstGeom>
          <a:solidFill>
            <a:schemeClr val="bg2"/>
          </a:solidFill>
          <a:ln w="15875">
            <a:solidFill>
              <a:schemeClr val="accent3"/>
            </a:solidFill>
            <a:prstDash val="dash"/>
          </a:ln>
        </p:spPr>
      </p:sp>
      <p:pic>
        <p:nvPicPr>
          <p:cNvPr id="5" name="visual-icon-210" descr="MAP  ·  Divergence by county">    </p:cNvPr>
          <p:cNvPicPr>
            <a:picLocks noChangeAspect="1"/>
          </p:cNvPicPr>
          <p:nvPr/>
        </p:nvPicPr>
        <p:blipFill>
          <a:blip r:embed="rId1"/>
          <a:stretch>
            <a:fillRect/>
          </a:stretch>
        </p:blipFill>
        <p:spPr>
          <a:xfrm>
            <a:off x="3017520" y="3086100"/>
            <a:ext cx="548640" cy="548640"/>
          </a:xfrm>
          <a:prstGeom prst="rect">
            <a:avLst/>
          </a:prstGeom>
        </p:spPr>
      </p:pic>
      <p:sp>
        <p:nvSpPr>
          <p:cNvPr id="6" name="visual-label-211"/>
          <p:cNvSpPr txBox="1"/>
          <p:nvPr/>
        </p:nvSpPr>
        <p:spPr>
          <a:xfrm>
            <a:off x="822960" y="3726180"/>
            <a:ext cx="4937760" cy="365760"/>
          </a:xfrm>
          <a:prstGeom prst="rect">
            <a:avLst/>
          </a:prstGeom>
          <a:noFill/>
          <a:ln/>
        </p:spPr>
        <p:txBody>
          <a:bodyPr wrap="square" lIns="0" tIns="0" rIns="0" bIns="0" rtlCol="0" anchor="ctr"/>
          <a:lstStyle/>
          <a:p>
            <a:pPr algn="ctr" indent="0" marL="0">
              <a:buNone/>
            </a:pPr>
            <a:r>
              <a:rPr lang="en-US" sz="1400" b="1" dirty="0">
                <a:solidFill>
                  <a:schemeClr val="tx2"/>
                </a:solidFill>
              </a:rPr>
              <a:t>MAP  ·  Divergence by county</a:t>
            </a:r>
            <a:endParaRPr lang="en-US" sz="1400" dirty="0"/>
          </a:p>
        </p:txBody>
      </p:sp>
      <p:sp>
        <p:nvSpPr>
          <p:cNvPr id="7" name="visual-hint-212"/>
          <p:cNvSpPr txBox="1"/>
          <p:nvPr/>
        </p:nvSpPr>
        <p:spPr>
          <a:xfrm>
            <a:off x="822960" y="4137660"/>
            <a:ext cx="4937760" cy="1897380"/>
          </a:xfrm>
          <a:prstGeom prst="rect">
            <a:avLst/>
          </a:prstGeom>
          <a:noFill/>
          <a:ln/>
        </p:spPr>
        <p:txBody>
          <a:bodyPr wrap="square" lIns="0" tIns="0" rIns="0" bIns="0" rtlCol="0" anchor="t"/>
          <a:lstStyle/>
          <a:p>
            <a:pPr algn="ctr" indent="0" marL="0">
              <a:buNone/>
            </a:pPr>
            <a:r>
              <a:rPr lang="en-US" sz="1200" i="1" dirty="0">
                <a:solidFill>
                  <a:schemeClr val="accent5"/>
                </a:solidFill>
              </a:rPr>
              <a:t>[e.g. outputs/q6/q6_divergence_map.png]</a:t>
            </a:r>
            <a:endParaRPr lang="en-US" sz="1200" dirty="0"/>
          </a:p>
        </p:txBody>
      </p:sp>
      <p:sp>
        <p:nvSpPr>
          <p:cNvPr id="8" name="visual-frame-213"/>
          <p:cNvSpPr/>
          <p:nvPr/>
        </p:nvSpPr>
        <p:spPr>
          <a:xfrm>
            <a:off x="6400800" y="1691640"/>
            <a:ext cx="5242255" cy="4526280"/>
          </a:xfrm>
          <a:prstGeom prst="roundRect">
            <a:avLst>
              <a:gd name="adj" fmla="val 2424"/>
            </a:avLst>
          </a:prstGeom>
          <a:solidFill>
            <a:schemeClr val="bg2"/>
          </a:solidFill>
          <a:ln w="15875">
            <a:solidFill>
              <a:schemeClr val="accent3"/>
            </a:solidFill>
            <a:prstDash val="dash"/>
          </a:ln>
        </p:spPr>
      </p:sp>
      <p:pic>
        <p:nvPicPr>
          <p:cNvPr id="9" name="visual-icon-214" descr="TABLE  ·  Top 10 potentially underserved counties">    </p:cNvPr>
          <p:cNvPicPr>
            <a:picLocks noChangeAspect="1"/>
          </p:cNvPicPr>
          <p:nvPr/>
        </p:nvPicPr>
        <p:blipFill>
          <a:blip r:embed="rId2"/>
          <a:stretch>
            <a:fillRect/>
          </a:stretch>
        </p:blipFill>
        <p:spPr>
          <a:xfrm>
            <a:off x="8747608" y="3086100"/>
            <a:ext cx="548640" cy="548640"/>
          </a:xfrm>
          <a:prstGeom prst="rect">
            <a:avLst/>
          </a:prstGeom>
        </p:spPr>
      </p:pic>
      <p:sp>
        <p:nvSpPr>
          <p:cNvPr id="10" name="visual-label-215"/>
          <p:cNvSpPr txBox="1"/>
          <p:nvPr/>
        </p:nvSpPr>
        <p:spPr>
          <a:xfrm>
            <a:off x="6675120" y="3726180"/>
            <a:ext cx="4693615" cy="365760"/>
          </a:xfrm>
          <a:prstGeom prst="rect">
            <a:avLst/>
          </a:prstGeom>
          <a:noFill/>
          <a:ln/>
        </p:spPr>
        <p:txBody>
          <a:bodyPr wrap="square" lIns="0" tIns="0" rIns="0" bIns="0" rtlCol="0" anchor="ctr"/>
          <a:lstStyle/>
          <a:p>
            <a:pPr algn="ctr" indent="0" marL="0">
              <a:buNone/>
            </a:pPr>
            <a:r>
              <a:rPr lang="en-US" sz="1400" b="1" dirty="0">
                <a:solidFill>
                  <a:schemeClr val="tx2"/>
                </a:solidFill>
              </a:rPr>
              <a:t>TABLE  ·  Top 10 potentially underserved counties</a:t>
            </a:r>
            <a:endParaRPr lang="en-US" sz="1400" dirty="0"/>
          </a:p>
        </p:txBody>
      </p:sp>
      <p:sp>
        <p:nvSpPr>
          <p:cNvPr id="11" name="visual-hint-216"/>
          <p:cNvSpPr txBox="1"/>
          <p:nvPr/>
        </p:nvSpPr>
        <p:spPr>
          <a:xfrm>
            <a:off x="6675120" y="4137660"/>
            <a:ext cx="4693615" cy="1897380"/>
          </a:xfrm>
          <a:prstGeom prst="rect">
            <a:avLst/>
          </a:prstGeom>
          <a:noFill/>
          <a:ln/>
        </p:spPr>
        <p:txBody>
          <a:bodyPr wrap="square" lIns="0" tIns="0" rIns="0" bIns="0" rtlCol="0" anchor="t"/>
          <a:lstStyle/>
          <a:p>
            <a:pPr algn="ctr" indent="0" marL="0">
              <a:buNone/>
            </a:pPr>
            <a:r>
              <a:rPr lang="en-US" sz="1200" i="1" dirty="0">
                <a:solidFill>
                  <a:schemeClr val="accent5"/>
                </a:solidFill>
              </a:rPr>
              <a:t>[county · need rank · visits / pounds / individuals rank · divergence]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Q6  ·  DIVERGENCE MEASURE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access barriers explain most of the gap]</a:t>
            </a:r>
            <a:endParaRPr lang="en-US" sz="3000" dirty="0"/>
          </a:p>
        </p:txBody>
      </p:sp>
      <p:sp>
        <p:nvSpPr>
          <p:cNvPr id="4" name="visual-frame-217"/>
          <p:cNvSpPr/>
          <p:nvPr/>
        </p:nvSpPr>
        <p:spPr>
          <a:xfrm>
            <a:off x="548640" y="1691640"/>
            <a:ext cx="6035040" cy="3886200"/>
          </a:xfrm>
          <a:prstGeom prst="roundRect">
            <a:avLst>
              <a:gd name="adj" fmla="val 2824"/>
            </a:avLst>
          </a:prstGeom>
          <a:solidFill>
            <a:schemeClr val="bg2"/>
          </a:solidFill>
          <a:ln w="15875">
            <a:solidFill>
              <a:schemeClr val="accent3"/>
            </a:solidFill>
            <a:prstDash val="dash"/>
          </a:ln>
        </p:spPr>
      </p:sp>
      <p:pic>
        <p:nvPicPr>
          <p:cNvPr id="5" name="visual-icon-218" descr="CHART  ·  What explains divergence">    </p:cNvPr>
          <p:cNvPicPr>
            <a:picLocks noChangeAspect="1"/>
          </p:cNvPicPr>
          <p:nvPr/>
        </p:nvPicPr>
        <p:blipFill>
          <a:blip r:embed="rId1"/>
          <a:stretch>
            <a:fillRect/>
          </a:stretch>
        </p:blipFill>
        <p:spPr>
          <a:xfrm>
            <a:off x="3291840" y="2766060"/>
            <a:ext cx="548640" cy="548640"/>
          </a:xfrm>
          <a:prstGeom prst="rect">
            <a:avLst/>
          </a:prstGeom>
        </p:spPr>
      </p:pic>
      <p:sp>
        <p:nvSpPr>
          <p:cNvPr id="6" name="visual-label-219"/>
          <p:cNvSpPr txBox="1"/>
          <p:nvPr/>
        </p:nvSpPr>
        <p:spPr>
          <a:xfrm>
            <a:off x="822960" y="3406140"/>
            <a:ext cx="5486400"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What explains divergence</a:t>
            </a:r>
            <a:endParaRPr lang="en-US" sz="1400" dirty="0"/>
          </a:p>
        </p:txBody>
      </p:sp>
      <p:sp>
        <p:nvSpPr>
          <p:cNvPr id="7" name="visual-hint-220"/>
          <p:cNvSpPr txBox="1"/>
          <p:nvPr/>
        </p:nvSpPr>
        <p:spPr>
          <a:xfrm>
            <a:off x="822960" y="3817620"/>
            <a:ext cx="5486400" cy="1577340"/>
          </a:xfrm>
          <a:prstGeom prst="rect">
            <a:avLst/>
          </a:prstGeom>
          <a:noFill/>
          <a:ln/>
        </p:spPr>
        <p:txBody>
          <a:bodyPr wrap="square" lIns="0" tIns="0" rIns="0" bIns="0" rtlCol="0" anchor="t"/>
          <a:lstStyle/>
          <a:p>
            <a:pPr algn="ctr" indent="0" marL="0">
              <a:buNone/>
            </a:pPr>
            <a:r>
              <a:rPr lang="en-US" sz="1200" i="1" dirty="0">
                <a:solidFill>
                  <a:schemeClr val="accent5"/>
                </a:solidFill>
              </a:rPr>
              <a:t>[e.g. outputs/q6/q6_divergence_explainers.png]</a:t>
            </a:r>
            <a:endParaRPr lang="en-US" sz="1200" dirty="0"/>
          </a:p>
        </p:txBody>
      </p:sp>
      <p:sp>
        <p:nvSpPr>
          <p:cNvPr id="8" name="visual-frame-221"/>
          <p:cNvSpPr/>
          <p:nvPr/>
        </p:nvSpPr>
        <p:spPr>
          <a:xfrm>
            <a:off x="6949440" y="1691640"/>
            <a:ext cx="4693615" cy="3886200"/>
          </a:xfrm>
          <a:prstGeom prst="roundRect">
            <a:avLst>
              <a:gd name="adj" fmla="val 2824"/>
            </a:avLst>
          </a:prstGeom>
          <a:solidFill>
            <a:schemeClr val="bg2"/>
          </a:solidFill>
          <a:ln w="15875">
            <a:solidFill>
              <a:schemeClr val="accent3"/>
            </a:solidFill>
            <a:prstDash val="dash"/>
          </a:ln>
        </p:spPr>
      </p:sp>
      <p:pic>
        <p:nvPicPr>
          <p:cNvPr id="9" name="visual-icon-222" descr="CHART  ·  Need vs. activity quadrant">    </p:cNvPr>
          <p:cNvPicPr>
            <a:picLocks noChangeAspect="1"/>
          </p:cNvPicPr>
          <p:nvPr/>
        </p:nvPicPr>
        <p:blipFill>
          <a:blip r:embed="rId2"/>
          <a:stretch>
            <a:fillRect/>
          </a:stretch>
        </p:blipFill>
        <p:spPr>
          <a:xfrm>
            <a:off x="9021928" y="2766060"/>
            <a:ext cx="548640" cy="548640"/>
          </a:xfrm>
          <a:prstGeom prst="rect">
            <a:avLst/>
          </a:prstGeom>
        </p:spPr>
      </p:pic>
      <p:sp>
        <p:nvSpPr>
          <p:cNvPr id="10" name="visual-label-223"/>
          <p:cNvSpPr txBox="1"/>
          <p:nvPr/>
        </p:nvSpPr>
        <p:spPr>
          <a:xfrm>
            <a:off x="7223760" y="3406140"/>
            <a:ext cx="4144975"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Need vs. activity quadrant</a:t>
            </a:r>
            <a:endParaRPr lang="en-US" sz="1400" dirty="0"/>
          </a:p>
        </p:txBody>
      </p:sp>
      <p:sp>
        <p:nvSpPr>
          <p:cNvPr id="11" name="visual-hint-224"/>
          <p:cNvSpPr txBox="1"/>
          <p:nvPr/>
        </p:nvSpPr>
        <p:spPr>
          <a:xfrm>
            <a:off x="7223760" y="3817620"/>
            <a:ext cx="4144975" cy="1577340"/>
          </a:xfrm>
          <a:prstGeom prst="rect">
            <a:avLst/>
          </a:prstGeom>
          <a:noFill/>
          <a:ln/>
        </p:spPr>
        <p:txBody>
          <a:bodyPr wrap="square" lIns="0" tIns="0" rIns="0" bIns="0" rtlCol="0" anchor="t"/>
          <a:lstStyle/>
          <a:p>
            <a:pPr algn="ctr" indent="0" marL="0">
              <a:buNone/>
            </a:pPr>
            <a:r>
              <a:rPr lang="en-US" sz="1200" i="1" dirty="0">
                <a:solidFill>
                  <a:schemeClr val="accent5"/>
                </a:solidFill>
              </a:rPr>
              <a:t>[e.g. outputs/q6/q6_need_vs_activity_quadrant.png]</a:t>
            </a:r>
            <a:endParaRPr lang="en-US" sz="1200" dirty="0"/>
          </a:p>
        </p:txBody>
      </p:sp>
      <p:sp>
        <p:nvSpPr>
          <p:cNvPr id="12" name="takeaway-225"/>
          <p:cNvSpPr/>
          <p:nvPr/>
        </p:nvSpPr>
        <p:spPr>
          <a:xfrm>
            <a:off x="548640" y="5715000"/>
            <a:ext cx="11094415" cy="548640"/>
          </a:xfrm>
          <a:prstGeom prst="roundRect">
            <a:avLst>
              <a:gd name="adj" fmla="val 50000"/>
            </a:avLst>
          </a:prstGeom>
          <a:solidFill>
            <a:schemeClr val="tx2"/>
          </a:solidFill>
          <a:ln/>
        </p:spPr>
      </p:sp>
      <p:pic>
        <p:nvPicPr>
          <p:cNvPr id="13" name="takeaway-icon-226" descr="Takeaway">    </p:cNvPr>
          <p:cNvPicPr>
            <a:picLocks noChangeAspect="1"/>
          </p:cNvPicPr>
          <p:nvPr/>
        </p:nvPicPr>
        <p:blipFill>
          <a:blip r:embed="rId3"/>
          <a:stretch>
            <a:fillRect/>
          </a:stretch>
        </p:blipFill>
        <p:spPr>
          <a:xfrm>
            <a:off x="749808" y="5852160"/>
            <a:ext cx="274320" cy="274320"/>
          </a:xfrm>
          <a:prstGeom prst="rect">
            <a:avLst/>
          </a:prstGeom>
        </p:spPr>
      </p:pic>
      <p:sp>
        <p:nvSpPr>
          <p:cNvPr id="14" name="takeaway-text-227"/>
          <p:cNvSpPr txBox="1"/>
          <p:nvPr/>
        </p:nvSpPr>
        <p:spPr>
          <a:xfrm>
            <a:off x="1143000" y="5715000"/>
            <a:ext cx="10317175" cy="548640"/>
          </a:xfrm>
          <a:prstGeom prst="rect">
            <a:avLst/>
          </a:prstGeom>
          <a:noFill/>
          <a:ln/>
        </p:spPr>
        <p:txBody>
          <a:bodyPr wrap="square" lIns="0" tIns="0" rIns="0" bIns="0" rtlCol="0" anchor="ctr"/>
          <a:lstStyle/>
          <a:p>
            <a:pPr indent="0" marL="0">
              <a:buNone/>
            </a:pPr>
            <a:r>
              <a:rPr lang="en-US" sz="1400" b="1" dirty="0">
                <a:solidFill>
                  <a:schemeClr val="accent2"/>
                </a:solidFill>
              </a:rPr>
              <a:t>So what:  </a:t>
            </a:r>
            <a:pPr indent="0" marL="0">
              <a:buNone/>
            </a:pPr>
            <a:r>
              <a:rPr lang="en-US" sz="1400" i="1" dirty="0">
                <a:solidFill>
                  <a:schemeClr val="bg1"/>
                </a:solidFill>
              </a:rPr>
              <a:t>[One line: the main reason need and activity disagree, and what it implies]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04</a:t>
            </a: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ACT II  ·  WHAT MOVES DEMAND?</a:t>
            </a: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Do rising grocery prices bring more people to food shelves?</a:t>
            </a: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lIns="0" tIns="0" rIns="0" bIns="0" rtlCol="0" anchor="t"/>
          <a:lstStyle/>
          <a:p>
            <a:pPr indent="0" marL="0">
              <a:buNone/>
            </a:pPr>
            <a:r>
              <a:rPr lang="en-US" sz="1600" dirty="0">
                <a:solidFill>
                  <a:schemeClr val="accent4"/>
                </a:solidFill>
              </a:rPr>
              <a:t>[One-line answer preview]</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Q4  ·  FOOD PRICES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activity follows prices after a delay]</a:t>
            </a:r>
            <a:endParaRPr lang="en-US" sz="3000" dirty="0"/>
          </a:p>
        </p:txBody>
      </p:sp>
      <p:sp>
        <p:nvSpPr>
          <p:cNvPr id="4" name="visual-frame-228"/>
          <p:cNvSpPr/>
          <p:nvPr/>
        </p:nvSpPr>
        <p:spPr>
          <a:xfrm>
            <a:off x="548640" y="1691640"/>
            <a:ext cx="7863840" cy="4526280"/>
          </a:xfrm>
          <a:prstGeom prst="roundRect">
            <a:avLst>
              <a:gd name="adj" fmla="val 2424"/>
            </a:avLst>
          </a:prstGeom>
          <a:solidFill>
            <a:schemeClr val="bg2"/>
          </a:solidFill>
          <a:ln w="15875">
            <a:solidFill>
              <a:schemeClr val="accent3"/>
            </a:solidFill>
            <a:prstDash val="dash"/>
          </a:ln>
        </p:spPr>
      </p:sp>
      <p:pic>
        <p:nvPicPr>
          <p:cNvPr id="5" name="visual-icon-229" descr="CHART  ·  Food-at-home inflation vs. food shelf growth">    </p:cNvPr>
          <p:cNvPicPr>
            <a:picLocks noChangeAspect="1"/>
          </p:cNvPicPr>
          <p:nvPr/>
        </p:nvPicPr>
        <p:blipFill>
          <a:blip r:embed="rId1"/>
          <a:stretch>
            <a:fillRect/>
          </a:stretch>
        </p:blipFill>
        <p:spPr>
          <a:xfrm>
            <a:off x="4206240" y="3086100"/>
            <a:ext cx="548640" cy="548640"/>
          </a:xfrm>
          <a:prstGeom prst="rect">
            <a:avLst/>
          </a:prstGeom>
        </p:spPr>
      </p:pic>
      <p:sp>
        <p:nvSpPr>
          <p:cNvPr id="6" name="visual-label-230"/>
          <p:cNvSpPr txBox="1"/>
          <p:nvPr/>
        </p:nvSpPr>
        <p:spPr>
          <a:xfrm>
            <a:off x="822960" y="3726180"/>
            <a:ext cx="7315200"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Food-at-home inflation vs. food shelf growth</a:t>
            </a:r>
            <a:endParaRPr lang="en-US" sz="1400" dirty="0"/>
          </a:p>
        </p:txBody>
      </p:sp>
      <p:sp>
        <p:nvSpPr>
          <p:cNvPr id="7" name="visual-hint-231"/>
          <p:cNvSpPr txBox="1"/>
          <p:nvPr/>
        </p:nvSpPr>
        <p:spPr>
          <a:xfrm>
            <a:off x="822960" y="4137660"/>
            <a:ext cx="7315200" cy="1897380"/>
          </a:xfrm>
          <a:prstGeom prst="rect">
            <a:avLst/>
          </a:prstGeom>
          <a:noFill/>
          <a:ln/>
        </p:spPr>
        <p:txBody>
          <a:bodyPr wrap="square" lIns="0" tIns="0" rIns="0" bIns="0" rtlCol="0" anchor="t"/>
          <a:lstStyle/>
          <a:p>
            <a:pPr algn="ctr" indent="0" marL="0">
              <a:buNone/>
            </a:pPr>
            <a:r>
              <a:rPr lang="en-US" sz="1200" i="1" dirty="0">
                <a:solidFill>
                  <a:schemeClr val="accent5"/>
                </a:solidFill>
              </a:rPr>
              <a:t>[e.g. outputs/q4/q4_1_inflation_vs_growth.png]</a:t>
            </a:r>
            <a:endParaRPr lang="en-US" sz="1200" dirty="0"/>
          </a:p>
        </p:txBody>
      </p:sp>
      <p:sp>
        <p:nvSpPr>
          <p:cNvPr id="8" name="stat-232"/>
          <p:cNvSpPr/>
          <p:nvPr/>
        </p:nvSpPr>
        <p:spPr>
          <a:xfrm>
            <a:off x="8778240" y="1691640"/>
            <a:ext cx="2864815" cy="2148840"/>
          </a:xfrm>
          <a:prstGeom prst="roundRect">
            <a:avLst>
              <a:gd name="adj" fmla="val 5106"/>
            </a:avLst>
          </a:prstGeom>
          <a:solidFill>
            <a:schemeClr val="bg2"/>
          </a:solidFill>
          <a:ln/>
        </p:spPr>
      </p:sp>
      <p:sp>
        <p:nvSpPr>
          <p:cNvPr id="9" name="stat-value-233"/>
          <p:cNvSpPr txBox="1"/>
          <p:nvPr/>
        </p:nvSpPr>
        <p:spPr>
          <a:xfrm>
            <a:off x="9006840" y="1874520"/>
            <a:ext cx="2407615" cy="1031443"/>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X ] mo</a:t>
            </a:r>
            <a:endParaRPr lang="en-US" sz="4000" dirty="0"/>
          </a:p>
        </p:txBody>
      </p:sp>
      <p:sp>
        <p:nvSpPr>
          <p:cNvPr id="10" name="stat-label-234"/>
          <p:cNvSpPr txBox="1"/>
          <p:nvPr/>
        </p:nvSpPr>
        <p:spPr>
          <a:xfrm>
            <a:off x="9006840" y="2951683"/>
            <a:ext cx="2407615" cy="320040"/>
          </a:xfrm>
          <a:prstGeom prst="rect">
            <a:avLst/>
          </a:prstGeom>
          <a:noFill/>
          <a:ln/>
        </p:spPr>
        <p:txBody>
          <a:bodyPr wrap="square" lIns="0" tIns="0" rIns="0" bIns="0" rtlCol="0" anchor="t"/>
          <a:lstStyle/>
          <a:p>
            <a:pPr indent="0" marL="0">
              <a:buNone/>
            </a:pPr>
            <a:r>
              <a:rPr lang="en-US" sz="1500" b="1" dirty="0">
                <a:solidFill>
                  <a:schemeClr val="tx2"/>
                </a:solidFill>
              </a:rPr>
              <a:t>Delay to response</a:t>
            </a:r>
            <a:endParaRPr lang="en-US" sz="1500" dirty="0"/>
          </a:p>
        </p:txBody>
      </p:sp>
      <p:sp>
        <p:nvSpPr>
          <p:cNvPr id="11" name="stat-hint-235"/>
          <p:cNvSpPr txBox="1"/>
          <p:nvPr/>
        </p:nvSpPr>
        <p:spPr>
          <a:xfrm>
            <a:off x="9006840" y="3290011"/>
            <a:ext cx="2407615" cy="385877"/>
          </a:xfrm>
          <a:prstGeom prst="rect">
            <a:avLst/>
          </a:prstGeom>
          <a:noFill/>
          <a:ln/>
        </p:spPr>
        <p:txBody>
          <a:bodyPr wrap="square" lIns="0" tIns="0" rIns="0" bIns="0" rtlCol="0" anchor="t"/>
          <a:lstStyle/>
          <a:p>
            <a:pPr indent="0" marL="0">
              <a:buNone/>
            </a:pPr>
            <a:r>
              <a:rPr lang="en-US" sz="1200" i="1" dirty="0">
                <a:solidFill>
                  <a:schemeClr val="accent5"/>
                </a:solidFill>
              </a:rPr>
              <a:t>[lag at which the link is strongest]</a:t>
            </a:r>
            <a:endParaRPr lang="en-US" sz="1200" dirty="0"/>
          </a:p>
        </p:txBody>
      </p:sp>
      <p:sp>
        <p:nvSpPr>
          <p:cNvPr id="12" name="stat-236"/>
          <p:cNvSpPr/>
          <p:nvPr/>
        </p:nvSpPr>
        <p:spPr>
          <a:xfrm>
            <a:off x="8778240" y="4069080"/>
            <a:ext cx="2864815" cy="2148840"/>
          </a:xfrm>
          <a:prstGeom prst="roundRect">
            <a:avLst>
              <a:gd name="adj" fmla="val 5106"/>
            </a:avLst>
          </a:prstGeom>
          <a:solidFill>
            <a:schemeClr val="bg2"/>
          </a:solidFill>
          <a:ln/>
        </p:spPr>
      </p:sp>
      <p:sp>
        <p:nvSpPr>
          <p:cNvPr id="13" name="stat-value-237"/>
          <p:cNvSpPr txBox="1"/>
          <p:nvPr/>
        </p:nvSpPr>
        <p:spPr>
          <a:xfrm>
            <a:off x="9006840" y="4251960"/>
            <a:ext cx="2407615" cy="1031443"/>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ρ / % ]</a:t>
            </a:r>
            <a:endParaRPr lang="en-US" sz="4000" dirty="0"/>
          </a:p>
        </p:txBody>
      </p:sp>
      <p:sp>
        <p:nvSpPr>
          <p:cNvPr id="14" name="stat-label-238"/>
          <p:cNvSpPr txBox="1"/>
          <p:nvPr/>
        </p:nvSpPr>
        <p:spPr>
          <a:xfrm>
            <a:off x="9006840" y="5329123"/>
            <a:ext cx="2407615" cy="320040"/>
          </a:xfrm>
          <a:prstGeom prst="rect">
            <a:avLst/>
          </a:prstGeom>
          <a:noFill/>
          <a:ln/>
        </p:spPr>
        <p:txBody>
          <a:bodyPr wrap="square" lIns="0" tIns="0" rIns="0" bIns="0" rtlCol="0" anchor="t"/>
          <a:lstStyle/>
          <a:p>
            <a:pPr indent="0" marL="0">
              <a:buNone/>
            </a:pPr>
            <a:r>
              <a:rPr lang="en-US" sz="1500" b="1" dirty="0">
                <a:solidFill>
                  <a:schemeClr val="tx2"/>
                </a:solidFill>
              </a:rPr>
              <a:t>Strength</a:t>
            </a:r>
            <a:endParaRPr lang="en-US" sz="1500" dirty="0"/>
          </a:p>
        </p:txBody>
      </p:sp>
      <p:sp>
        <p:nvSpPr>
          <p:cNvPr id="15" name="stat-hint-239"/>
          <p:cNvSpPr txBox="1"/>
          <p:nvPr/>
        </p:nvSpPr>
        <p:spPr>
          <a:xfrm>
            <a:off x="9006840" y="5667451"/>
            <a:ext cx="2407615" cy="385877"/>
          </a:xfrm>
          <a:prstGeom prst="rect">
            <a:avLst/>
          </a:prstGeom>
          <a:noFill/>
          <a:ln/>
        </p:spPr>
        <p:txBody>
          <a:bodyPr wrap="square" lIns="0" tIns="0" rIns="0" bIns="0" rtlCol="0" anchor="t"/>
          <a:lstStyle/>
          <a:p>
            <a:pPr indent="0" marL="0">
              <a:buNone/>
            </a:pPr>
            <a:r>
              <a:rPr lang="en-US" sz="1200" i="1" dirty="0">
                <a:solidFill>
                  <a:schemeClr val="accent5"/>
                </a:solidFill>
              </a:rPr>
              <a:t>[e.g. +1 pt inflation ≈ +X% visits]</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Q4  ·  FOOD PRICES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not every metric responds the same way]</a:t>
            </a:r>
            <a:endParaRPr lang="en-US" sz="3000" dirty="0"/>
          </a:p>
        </p:txBody>
      </p:sp>
      <p:sp>
        <p:nvSpPr>
          <p:cNvPr id="4" name="lbl-240"/>
          <p:cNvSpPr txBox="1"/>
          <p:nvPr/>
        </p:nvSpPr>
        <p:spPr>
          <a:xfrm>
            <a:off x="548640" y="1691640"/>
            <a:ext cx="493776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RESPONSE BY METRIC</a:t>
            </a:r>
            <a:endParaRPr lang="en-US" sz="1200" dirty="0"/>
          </a:p>
        </p:txBody>
      </p:sp>
      <p:sp>
        <p:nvSpPr>
          <p:cNvPr id="5" name="visual-frame-241"/>
          <p:cNvSpPr/>
          <p:nvPr/>
        </p:nvSpPr>
        <p:spPr>
          <a:xfrm>
            <a:off x="548640" y="2103120"/>
            <a:ext cx="4937760" cy="2194560"/>
          </a:xfrm>
          <a:prstGeom prst="roundRect">
            <a:avLst>
              <a:gd name="adj" fmla="val 5000"/>
            </a:avLst>
          </a:prstGeom>
          <a:solidFill>
            <a:schemeClr val="bg2"/>
          </a:solidFill>
          <a:ln w="15875">
            <a:solidFill>
              <a:schemeClr val="accent3"/>
            </a:solidFill>
            <a:prstDash val="dash"/>
          </a:ln>
        </p:spPr>
      </p:sp>
      <p:pic>
        <p:nvPicPr>
          <p:cNvPr id="6" name="visual-icon-242" descr="CHART  ·  Lag profile">    </p:cNvPr>
          <p:cNvPicPr>
            <a:picLocks noChangeAspect="1"/>
          </p:cNvPicPr>
          <p:nvPr/>
        </p:nvPicPr>
        <p:blipFill>
          <a:blip r:embed="rId1"/>
          <a:stretch>
            <a:fillRect/>
          </a:stretch>
        </p:blipFill>
        <p:spPr>
          <a:xfrm>
            <a:off x="2776118" y="2397557"/>
            <a:ext cx="482803" cy="482803"/>
          </a:xfrm>
          <a:prstGeom prst="rect">
            <a:avLst/>
          </a:prstGeom>
        </p:spPr>
      </p:pic>
      <p:sp>
        <p:nvSpPr>
          <p:cNvPr id="7" name="visual-label-243"/>
          <p:cNvSpPr txBox="1"/>
          <p:nvPr/>
        </p:nvSpPr>
        <p:spPr>
          <a:xfrm>
            <a:off x="822960" y="2971800"/>
            <a:ext cx="4389120"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Lag profile</a:t>
            </a:r>
            <a:endParaRPr lang="en-US" sz="1400" dirty="0"/>
          </a:p>
        </p:txBody>
      </p:sp>
      <p:sp>
        <p:nvSpPr>
          <p:cNvPr id="8" name="visual-hint-244"/>
          <p:cNvSpPr txBox="1"/>
          <p:nvPr/>
        </p:nvSpPr>
        <p:spPr>
          <a:xfrm>
            <a:off x="822960" y="3383280"/>
            <a:ext cx="4389120" cy="731520"/>
          </a:xfrm>
          <a:prstGeom prst="rect">
            <a:avLst/>
          </a:prstGeom>
          <a:noFill/>
          <a:ln/>
        </p:spPr>
        <p:txBody>
          <a:bodyPr wrap="square" lIns="0" tIns="0" rIns="0" bIns="0" rtlCol="0" anchor="t"/>
          <a:lstStyle/>
          <a:p>
            <a:pPr algn="ctr" indent="0" marL="0">
              <a:buNone/>
            </a:pPr>
            <a:r>
              <a:rPr lang="en-US" sz="1200" i="1" dirty="0">
                <a:solidFill>
                  <a:schemeClr val="accent5"/>
                </a:solidFill>
              </a:rPr>
              <a:t>[e.g. outputs/q4/q4_2_lag_profile.png]</a:t>
            </a:r>
            <a:endParaRPr lang="en-US" sz="1200" dirty="0"/>
          </a:p>
        </p:txBody>
      </p:sp>
      <p:sp>
        <p:nvSpPr>
          <p:cNvPr id="9" name="row-badge-245"/>
          <p:cNvSpPr/>
          <p:nvPr/>
        </p:nvSpPr>
        <p:spPr>
          <a:xfrm>
            <a:off x="548640" y="4526280"/>
            <a:ext cx="457200" cy="457200"/>
          </a:xfrm>
          <a:prstGeom prst="ellipse">
            <a:avLst/>
          </a:prstGeom>
          <a:solidFill>
            <a:schemeClr val="accent2"/>
          </a:solidFill>
          <a:ln/>
        </p:spPr>
      </p:sp>
      <p:sp>
        <p:nvSpPr>
          <p:cNvPr id="10" name="row-num-246"/>
          <p:cNvSpPr txBox="1"/>
          <p:nvPr/>
        </p:nvSpPr>
        <p:spPr>
          <a:xfrm>
            <a:off x="548640" y="45262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V</a:t>
            </a:r>
            <a:endParaRPr lang="en-US" sz="1400" dirty="0"/>
          </a:p>
        </p:txBody>
      </p:sp>
      <p:sp>
        <p:nvSpPr>
          <p:cNvPr id="11" name="row-text-247"/>
          <p:cNvSpPr txBox="1"/>
          <p:nvPr/>
        </p:nvSpPr>
        <p:spPr>
          <a:xfrm>
            <a:off x="1188720" y="4480560"/>
            <a:ext cx="4297680" cy="685800"/>
          </a:xfrm>
          <a:prstGeom prst="rect">
            <a:avLst/>
          </a:prstGeom>
          <a:noFill/>
          <a:ln/>
        </p:spPr>
        <p:txBody>
          <a:bodyPr wrap="square" lIns="0" tIns="0" rIns="0" bIns="0" rtlCol="0" anchor="t"/>
          <a:lstStyle/>
          <a:p>
            <a:pPr indent="0" marL="0">
              <a:buNone/>
            </a:pPr>
            <a:r>
              <a:rPr lang="en-US" sz="1400" b="1" dirty="0">
                <a:solidFill>
                  <a:schemeClr val="tx2"/>
                </a:solidFill>
              </a:rPr>
              <a:t>Visits</a:t>
            </a:r>
            <a:endParaRPr lang="en-US" sz="1400" dirty="0"/>
          </a:p>
          <a:p>
            <a:pPr indent="0" marL="0">
              <a:buNone/>
            </a:pPr>
            <a:r>
              <a:rPr lang="en-US" sz="1400" i="1" dirty="0">
                <a:solidFill>
                  <a:schemeClr val="accent5"/>
                </a:solidFill>
              </a:rPr>
              <a:t>[responds? lag? strength?]</a:t>
            </a:r>
            <a:endParaRPr lang="en-US" sz="1400" dirty="0"/>
          </a:p>
        </p:txBody>
      </p:sp>
      <p:sp>
        <p:nvSpPr>
          <p:cNvPr id="12" name="row-badge-248"/>
          <p:cNvSpPr/>
          <p:nvPr/>
        </p:nvSpPr>
        <p:spPr>
          <a:xfrm>
            <a:off x="548640" y="5120640"/>
            <a:ext cx="457200" cy="457200"/>
          </a:xfrm>
          <a:prstGeom prst="ellipse">
            <a:avLst/>
          </a:prstGeom>
          <a:solidFill>
            <a:schemeClr val="accent2"/>
          </a:solidFill>
          <a:ln/>
        </p:spPr>
      </p:sp>
      <p:sp>
        <p:nvSpPr>
          <p:cNvPr id="13" name="row-num-249"/>
          <p:cNvSpPr txBox="1"/>
          <p:nvPr/>
        </p:nvSpPr>
        <p:spPr>
          <a:xfrm>
            <a:off x="548640" y="5120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14" name="row-text-250"/>
          <p:cNvSpPr txBox="1"/>
          <p:nvPr/>
        </p:nvSpPr>
        <p:spPr>
          <a:xfrm>
            <a:off x="1188720" y="5074920"/>
            <a:ext cx="4297680" cy="685800"/>
          </a:xfrm>
          <a:prstGeom prst="rect">
            <a:avLst/>
          </a:prstGeom>
          <a:noFill/>
          <a:ln/>
        </p:spPr>
        <p:txBody>
          <a:bodyPr wrap="square" lIns="0" tIns="0" rIns="0" bIns="0" rtlCol="0" anchor="t"/>
          <a:lstStyle/>
          <a:p>
            <a:pPr indent="0" marL="0">
              <a:buNone/>
            </a:pPr>
            <a:r>
              <a:rPr lang="en-US" sz="1400" b="1" dirty="0">
                <a:solidFill>
                  <a:schemeClr val="tx2"/>
                </a:solidFill>
              </a:rPr>
              <a:t>Pounds</a:t>
            </a:r>
            <a:endParaRPr lang="en-US" sz="1400" dirty="0"/>
          </a:p>
          <a:p>
            <a:pPr indent="0" marL="0">
              <a:buNone/>
            </a:pPr>
            <a:r>
              <a:rPr lang="en-US" sz="1400" i="1" dirty="0">
                <a:solidFill>
                  <a:schemeClr val="accent5"/>
                </a:solidFill>
              </a:rPr>
              <a:t>[responds? lag? strength?]</a:t>
            </a:r>
            <a:endParaRPr lang="en-US" sz="1400" dirty="0"/>
          </a:p>
        </p:txBody>
      </p:sp>
      <p:sp>
        <p:nvSpPr>
          <p:cNvPr id="15" name="row-badge-251"/>
          <p:cNvSpPr/>
          <p:nvPr/>
        </p:nvSpPr>
        <p:spPr>
          <a:xfrm>
            <a:off x="548640" y="5715000"/>
            <a:ext cx="457200" cy="457200"/>
          </a:xfrm>
          <a:prstGeom prst="ellipse">
            <a:avLst/>
          </a:prstGeom>
          <a:solidFill>
            <a:schemeClr val="accent2"/>
          </a:solidFill>
          <a:ln/>
        </p:spPr>
      </p:sp>
      <p:sp>
        <p:nvSpPr>
          <p:cNvPr id="16" name="row-num-252"/>
          <p:cNvSpPr txBox="1"/>
          <p:nvPr/>
        </p:nvSpPr>
        <p:spPr>
          <a:xfrm>
            <a:off x="548640" y="57150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I</a:t>
            </a:r>
            <a:endParaRPr lang="en-US" sz="1400" dirty="0"/>
          </a:p>
        </p:txBody>
      </p:sp>
      <p:sp>
        <p:nvSpPr>
          <p:cNvPr id="17" name="row-text-253"/>
          <p:cNvSpPr txBox="1"/>
          <p:nvPr/>
        </p:nvSpPr>
        <p:spPr>
          <a:xfrm>
            <a:off x="1188720" y="5669280"/>
            <a:ext cx="4297680" cy="685800"/>
          </a:xfrm>
          <a:prstGeom prst="rect">
            <a:avLst/>
          </a:prstGeom>
          <a:noFill/>
          <a:ln/>
        </p:spPr>
        <p:txBody>
          <a:bodyPr wrap="square" lIns="0" tIns="0" rIns="0" bIns="0" rtlCol="0" anchor="t"/>
          <a:lstStyle/>
          <a:p>
            <a:pPr indent="0" marL="0">
              <a:buNone/>
            </a:pPr>
            <a:r>
              <a:rPr lang="en-US" sz="1400" b="1" dirty="0">
                <a:solidFill>
                  <a:schemeClr val="tx2"/>
                </a:solidFill>
              </a:rPr>
              <a:t>Individuals</a:t>
            </a:r>
            <a:endParaRPr lang="en-US" sz="1400" dirty="0"/>
          </a:p>
          <a:p>
            <a:pPr indent="0" marL="0">
              <a:buNone/>
            </a:pPr>
            <a:r>
              <a:rPr lang="en-US" sz="1400" i="1" dirty="0">
                <a:solidFill>
                  <a:schemeClr val="accent5"/>
                </a:solidFill>
              </a:rPr>
              <a:t>[responds? lag? strength?]</a:t>
            </a:r>
            <a:endParaRPr lang="en-US" sz="1400" dirty="0"/>
          </a:p>
        </p:txBody>
      </p:sp>
      <p:sp>
        <p:nvSpPr>
          <p:cNvPr id="18" name="lbl-254"/>
          <p:cNvSpPr txBox="1"/>
          <p:nvPr/>
        </p:nvSpPr>
        <p:spPr>
          <a:xfrm>
            <a:off x="5943600" y="1691640"/>
            <a:ext cx="566928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CYCLES PRICES DON'T EXPLAIN</a:t>
            </a:r>
            <a:endParaRPr lang="en-US" sz="1200" dirty="0"/>
          </a:p>
        </p:txBody>
      </p:sp>
      <p:sp>
        <p:nvSpPr>
          <p:cNvPr id="19" name="visual-frame-255"/>
          <p:cNvSpPr/>
          <p:nvPr/>
        </p:nvSpPr>
        <p:spPr>
          <a:xfrm>
            <a:off x="5943600" y="2103120"/>
            <a:ext cx="5699455" cy="3200400"/>
          </a:xfrm>
          <a:prstGeom prst="roundRect">
            <a:avLst>
              <a:gd name="adj" fmla="val 3429"/>
            </a:avLst>
          </a:prstGeom>
          <a:solidFill>
            <a:schemeClr val="bg2"/>
          </a:solidFill>
          <a:ln w="15875">
            <a:solidFill>
              <a:schemeClr val="accent3"/>
            </a:solidFill>
            <a:prstDash val="dash"/>
          </a:ln>
        </p:spPr>
      </p:sp>
      <p:pic>
        <p:nvPicPr>
          <p:cNvPr id="20" name="visual-icon-256" descr="CHART  ·  Seasonal profile by month">    </p:cNvPr>
          <p:cNvPicPr>
            <a:picLocks noChangeAspect="1"/>
          </p:cNvPicPr>
          <p:nvPr/>
        </p:nvPicPr>
        <p:blipFill>
          <a:blip r:embed="rId2"/>
          <a:stretch>
            <a:fillRect/>
          </a:stretch>
        </p:blipFill>
        <p:spPr>
          <a:xfrm>
            <a:off x="8519008" y="2834640"/>
            <a:ext cx="548640" cy="548640"/>
          </a:xfrm>
          <a:prstGeom prst="rect">
            <a:avLst/>
          </a:prstGeom>
        </p:spPr>
      </p:pic>
      <p:sp>
        <p:nvSpPr>
          <p:cNvPr id="21" name="visual-label-257"/>
          <p:cNvSpPr txBox="1"/>
          <p:nvPr/>
        </p:nvSpPr>
        <p:spPr>
          <a:xfrm>
            <a:off x="6217920" y="3474720"/>
            <a:ext cx="5150815"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Seasonal profile by month</a:t>
            </a:r>
            <a:endParaRPr lang="en-US" sz="1400" dirty="0"/>
          </a:p>
        </p:txBody>
      </p:sp>
      <p:sp>
        <p:nvSpPr>
          <p:cNvPr id="22" name="visual-hint-258"/>
          <p:cNvSpPr txBox="1"/>
          <p:nvPr/>
        </p:nvSpPr>
        <p:spPr>
          <a:xfrm>
            <a:off x="6217920" y="3886200"/>
            <a:ext cx="5150815" cy="1234440"/>
          </a:xfrm>
          <a:prstGeom prst="rect">
            <a:avLst/>
          </a:prstGeom>
          <a:noFill/>
          <a:ln/>
        </p:spPr>
        <p:txBody>
          <a:bodyPr wrap="square" lIns="0" tIns="0" rIns="0" bIns="0" rtlCol="0" anchor="t"/>
          <a:lstStyle/>
          <a:p>
            <a:pPr algn="ctr" indent="0" marL="0">
              <a:buNone/>
            </a:pPr>
            <a:r>
              <a:rPr lang="en-US" sz="1200" i="1" dirty="0">
                <a:solidFill>
                  <a:schemeClr val="accent5"/>
                </a:solidFill>
              </a:rPr>
              <a:t>[e.g. outputs/q4/q4_3_seasonal_profile.png]</a:t>
            </a:r>
            <a:endParaRPr lang="en-US" sz="1200" dirty="0"/>
          </a:p>
        </p:txBody>
      </p:sp>
      <p:sp>
        <p:nvSpPr>
          <p:cNvPr id="23" name="season-259"/>
          <p:cNvSpPr txBox="1"/>
          <p:nvPr/>
        </p:nvSpPr>
        <p:spPr>
          <a:xfrm>
            <a:off x="5943600" y="5486400"/>
            <a:ext cx="5699455" cy="731520"/>
          </a:xfrm>
          <a:prstGeom prst="rect">
            <a:avLst/>
          </a:prstGeom>
          <a:noFill/>
          <a:ln/>
        </p:spPr>
        <p:txBody>
          <a:bodyPr wrap="square" lIns="0" tIns="0" rIns="0" bIns="0" rtlCol="0" anchor="t"/>
          <a:lstStyle/>
          <a:p>
            <a:pPr indent="0" marL="0">
              <a:buNone/>
            </a:pPr>
            <a:r>
              <a:rPr lang="en-US" sz="1400" i="1" dirty="0">
                <a:solidFill>
                  <a:schemeClr val="accent5"/>
                </a:solidFill>
              </a:rPr>
              <a:t>[Seasonal pattern in one sentence: e.g. summer / holiday peaks, school calendar]</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05</a:t>
            </a: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ACT II  ·  WHAT MOVES DEMAND?</a:t>
            </a: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Do SNAP and food shelves move together, or replace each other?</a:t>
            </a: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lIns="0" tIns="0" rIns="0" bIns="0" rtlCol="0" anchor="t"/>
          <a:lstStyle/>
          <a:p>
            <a:pPr indent="0" marL="0">
              <a:buNone/>
            </a:pPr>
            <a:r>
              <a:rPr lang="en-US" sz="1600" dirty="0">
                <a:solidFill>
                  <a:schemeClr val="accent4"/>
                </a:solidFill>
              </a:rPr>
              <a:t>[One-line answer preview]</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Q5  ·  SNAP AND FOOD SHELF USE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SNAP and food shelves move together / replace]</a:t>
            </a:r>
            <a:endParaRPr lang="en-US" sz="3000" dirty="0"/>
          </a:p>
        </p:txBody>
      </p:sp>
      <p:sp>
        <p:nvSpPr>
          <p:cNvPr id="4" name="card-260"/>
          <p:cNvSpPr/>
          <p:nvPr/>
        </p:nvSpPr>
        <p:spPr>
          <a:xfrm>
            <a:off x="548640" y="1691640"/>
            <a:ext cx="2743200" cy="2148840"/>
          </a:xfrm>
          <a:prstGeom prst="roundRect">
            <a:avLst>
              <a:gd name="adj" fmla="val 5106"/>
            </a:avLst>
          </a:prstGeom>
          <a:solidFill>
            <a:schemeClr val="bg2"/>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5" name="card-badge-261"/>
          <p:cNvSpPr/>
          <p:nvPr/>
        </p:nvSpPr>
        <p:spPr>
          <a:xfrm>
            <a:off x="822960" y="1965960"/>
            <a:ext cx="566928" cy="566928"/>
          </a:xfrm>
          <a:prstGeom prst="ellipse">
            <a:avLst/>
          </a:prstGeom>
          <a:solidFill>
            <a:schemeClr val="tx2"/>
          </a:solidFill>
          <a:ln/>
        </p:spPr>
      </p:sp>
      <p:pic>
        <p:nvPicPr>
          <p:cNvPr id="6" name="card-icon-262" descr="Replace">    </p:cNvPr>
          <p:cNvPicPr>
            <a:picLocks noChangeAspect="1"/>
          </p:cNvPicPr>
          <p:nvPr/>
        </p:nvPicPr>
        <p:blipFill>
          <a:blip r:embed="rId1"/>
          <a:stretch>
            <a:fillRect/>
          </a:stretch>
        </p:blipFill>
        <p:spPr>
          <a:xfrm>
            <a:off x="959023" y="2102023"/>
            <a:ext cx="294803" cy="294803"/>
          </a:xfrm>
          <a:prstGeom prst="rect">
            <a:avLst/>
          </a:prstGeom>
        </p:spPr>
      </p:pic>
      <p:sp>
        <p:nvSpPr>
          <p:cNvPr id="7" name="card-head-263"/>
          <p:cNvSpPr txBox="1"/>
          <p:nvPr/>
        </p:nvSpPr>
        <p:spPr>
          <a:xfrm>
            <a:off x="822960" y="2651760"/>
            <a:ext cx="2194560" cy="640080"/>
          </a:xfrm>
          <a:prstGeom prst="rect">
            <a:avLst/>
          </a:prstGeom>
          <a:noFill/>
          <a:ln/>
        </p:spPr>
        <p:txBody>
          <a:bodyPr wrap="square" lIns="0" tIns="0" rIns="0" bIns="0" rtlCol="0" anchor="t"/>
          <a:lstStyle/>
          <a:p>
            <a:pPr indent="0" marL="0">
              <a:buNone/>
            </a:pPr>
            <a:r>
              <a:rPr lang="en-US" sz="1800" b="1" dirty="0">
                <a:solidFill>
                  <a:schemeClr val="tx2"/>
                </a:solidFill>
              </a:rPr>
              <a:t>Replace</a:t>
            </a:r>
            <a:endParaRPr lang="en-US" sz="1800" dirty="0"/>
          </a:p>
        </p:txBody>
      </p:sp>
      <p:sp>
        <p:nvSpPr>
          <p:cNvPr id="8" name="card-body-264"/>
          <p:cNvSpPr txBox="1"/>
          <p:nvPr/>
        </p:nvSpPr>
        <p:spPr>
          <a:xfrm>
            <a:off x="822960" y="3337560"/>
            <a:ext cx="2194560" cy="274320"/>
          </a:xfrm>
          <a:prstGeom prst="rect">
            <a:avLst/>
          </a:prstGeom>
          <a:noFill/>
          <a:ln/>
        </p:spPr>
        <p:txBody>
          <a:bodyPr wrap="square" lIns="0" tIns="0" rIns="0" bIns="0" rtlCol="0" anchor="t"/>
          <a:lstStyle/>
          <a:p>
            <a:pPr indent="0" marL="0">
              <a:buNone/>
            </a:pPr>
            <a:r>
              <a:rPr lang="en-US" sz="1400" i="1" dirty="0">
                <a:solidFill>
                  <a:schemeClr val="accent5"/>
                </a:solidFill>
              </a:rPr>
              <a:t>[SNAP down → food shelf up. Evidence for/against]</a:t>
            </a:r>
            <a:endParaRPr lang="en-US" sz="1400" dirty="0"/>
          </a:p>
        </p:txBody>
      </p:sp>
      <p:sp>
        <p:nvSpPr>
          <p:cNvPr id="9" name="card-265"/>
          <p:cNvSpPr/>
          <p:nvPr/>
        </p:nvSpPr>
        <p:spPr>
          <a:xfrm>
            <a:off x="548640" y="4069080"/>
            <a:ext cx="2743200" cy="2148840"/>
          </a:xfrm>
          <a:prstGeom prst="roundRect">
            <a:avLst>
              <a:gd name="adj" fmla="val 5106"/>
            </a:avLst>
          </a:prstGeom>
          <a:solidFill>
            <a:schemeClr val="bg2"/>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0" name="card-badge-266"/>
          <p:cNvSpPr/>
          <p:nvPr/>
        </p:nvSpPr>
        <p:spPr>
          <a:xfrm>
            <a:off x="822960" y="4343400"/>
            <a:ext cx="566928" cy="566928"/>
          </a:xfrm>
          <a:prstGeom prst="ellipse">
            <a:avLst/>
          </a:prstGeom>
          <a:solidFill>
            <a:schemeClr val="tx2"/>
          </a:solidFill>
          <a:ln/>
        </p:spPr>
      </p:sp>
      <p:pic>
        <p:nvPicPr>
          <p:cNvPr id="11" name="card-icon-267" descr="Together">    </p:cNvPr>
          <p:cNvPicPr>
            <a:picLocks noChangeAspect="1"/>
          </p:cNvPicPr>
          <p:nvPr/>
        </p:nvPicPr>
        <p:blipFill>
          <a:blip r:embed="rId2"/>
          <a:stretch>
            <a:fillRect/>
          </a:stretch>
        </p:blipFill>
        <p:spPr>
          <a:xfrm>
            <a:off x="959023" y="4479463"/>
            <a:ext cx="294803" cy="294803"/>
          </a:xfrm>
          <a:prstGeom prst="rect">
            <a:avLst/>
          </a:prstGeom>
        </p:spPr>
      </p:pic>
      <p:sp>
        <p:nvSpPr>
          <p:cNvPr id="12" name="card-head-268"/>
          <p:cNvSpPr txBox="1"/>
          <p:nvPr/>
        </p:nvSpPr>
        <p:spPr>
          <a:xfrm>
            <a:off x="822960" y="5029200"/>
            <a:ext cx="2194560" cy="640080"/>
          </a:xfrm>
          <a:prstGeom prst="rect">
            <a:avLst/>
          </a:prstGeom>
          <a:noFill/>
          <a:ln/>
        </p:spPr>
        <p:txBody>
          <a:bodyPr wrap="square" lIns="0" tIns="0" rIns="0" bIns="0" rtlCol="0" anchor="t"/>
          <a:lstStyle/>
          <a:p>
            <a:pPr indent="0" marL="0">
              <a:buNone/>
            </a:pPr>
            <a:r>
              <a:rPr lang="en-US" sz="1800" b="1" dirty="0">
                <a:solidFill>
                  <a:schemeClr val="tx2"/>
                </a:solidFill>
              </a:rPr>
              <a:t>Together</a:t>
            </a:r>
            <a:endParaRPr lang="en-US" sz="1800" dirty="0"/>
          </a:p>
        </p:txBody>
      </p:sp>
      <p:sp>
        <p:nvSpPr>
          <p:cNvPr id="13" name="card-body-269"/>
          <p:cNvSpPr txBox="1"/>
          <p:nvPr/>
        </p:nvSpPr>
        <p:spPr>
          <a:xfrm>
            <a:off x="822960" y="5715000"/>
            <a:ext cx="2194560" cy="274320"/>
          </a:xfrm>
          <a:prstGeom prst="rect">
            <a:avLst/>
          </a:prstGeom>
          <a:noFill/>
          <a:ln/>
        </p:spPr>
        <p:txBody>
          <a:bodyPr wrap="square" lIns="0" tIns="0" rIns="0" bIns="0" rtlCol="0" anchor="t"/>
          <a:lstStyle/>
          <a:p>
            <a:pPr indent="0" marL="0">
              <a:buNone/>
            </a:pPr>
            <a:r>
              <a:rPr lang="en-US" sz="1400" i="1" dirty="0">
                <a:solidFill>
                  <a:schemeClr val="accent5"/>
                </a:solidFill>
              </a:rPr>
              <a:t>[Both rise and fall together. Evidence for/against]</a:t>
            </a:r>
            <a:endParaRPr lang="en-US" sz="1400" dirty="0"/>
          </a:p>
        </p:txBody>
      </p:sp>
      <p:sp>
        <p:nvSpPr>
          <p:cNvPr id="14" name="visual-frame-270"/>
          <p:cNvSpPr/>
          <p:nvPr/>
        </p:nvSpPr>
        <p:spPr>
          <a:xfrm>
            <a:off x="3657600" y="1691640"/>
            <a:ext cx="7985455" cy="3931920"/>
          </a:xfrm>
          <a:prstGeom prst="roundRect">
            <a:avLst>
              <a:gd name="adj" fmla="val 2791"/>
            </a:avLst>
          </a:prstGeom>
          <a:solidFill>
            <a:schemeClr val="bg2"/>
          </a:solidFill>
          <a:ln w="15875">
            <a:solidFill>
              <a:schemeClr val="accent3"/>
            </a:solidFill>
            <a:prstDash val="dash"/>
          </a:ln>
        </p:spPr>
      </p:sp>
      <p:pic>
        <p:nvPicPr>
          <p:cNvPr id="15" name="visual-icon-271" descr="CHART  ·  SNAP enrollment vs. food shelf visits (indexed)">    </p:cNvPr>
          <p:cNvPicPr>
            <a:picLocks noChangeAspect="1"/>
          </p:cNvPicPr>
          <p:nvPr/>
        </p:nvPicPr>
        <p:blipFill>
          <a:blip r:embed="rId3"/>
          <a:stretch>
            <a:fillRect/>
          </a:stretch>
        </p:blipFill>
        <p:spPr>
          <a:xfrm>
            <a:off x="7376008" y="2788920"/>
            <a:ext cx="548640" cy="548640"/>
          </a:xfrm>
          <a:prstGeom prst="rect">
            <a:avLst/>
          </a:prstGeom>
        </p:spPr>
      </p:pic>
      <p:sp>
        <p:nvSpPr>
          <p:cNvPr id="16" name="visual-label-272"/>
          <p:cNvSpPr txBox="1"/>
          <p:nvPr/>
        </p:nvSpPr>
        <p:spPr>
          <a:xfrm>
            <a:off x="3931920" y="3429000"/>
            <a:ext cx="7436815"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SNAP enrollment vs. food shelf visits (indexed)</a:t>
            </a:r>
            <a:endParaRPr lang="en-US" sz="1400" dirty="0"/>
          </a:p>
        </p:txBody>
      </p:sp>
      <p:sp>
        <p:nvSpPr>
          <p:cNvPr id="17" name="visual-hint-273"/>
          <p:cNvSpPr txBox="1"/>
          <p:nvPr/>
        </p:nvSpPr>
        <p:spPr>
          <a:xfrm>
            <a:off x="3931920" y="3840480"/>
            <a:ext cx="7436815" cy="1600200"/>
          </a:xfrm>
          <a:prstGeom prst="rect">
            <a:avLst/>
          </a:prstGeom>
          <a:noFill/>
          <a:ln/>
        </p:spPr>
        <p:txBody>
          <a:bodyPr wrap="square" lIns="0" tIns="0" rIns="0" bIns="0" rtlCol="0" anchor="t"/>
          <a:lstStyle/>
          <a:p>
            <a:pPr algn="ctr" indent="0" marL="0">
              <a:buNone/>
            </a:pPr>
            <a:r>
              <a:rPr lang="en-US" sz="1200" i="1" dirty="0">
                <a:solidFill>
                  <a:schemeClr val="accent5"/>
                </a:solidFill>
              </a:rPr>
              <a:t>[e.g. outputs/q5/q5_a1_snap_vs_visits_index.png]</a:t>
            </a:r>
            <a:endParaRPr lang="en-US" sz="1200" dirty="0"/>
          </a:p>
        </p:txBody>
      </p:sp>
      <p:sp>
        <p:nvSpPr>
          <p:cNvPr id="18" name="takeaway-274"/>
          <p:cNvSpPr/>
          <p:nvPr/>
        </p:nvSpPr>
        <p:spPr>
          <a:xfrm>
            <a:off x="3657600" y="5669280"/>
            <a:ext cx="7985455" cy="548640"/>
          </a:xfrm>
          <a:prstGeom prst="roundRect">
            <a:avLst>
              <a:gd name="adj" fmla="val 50000"/>
            </a:avLst>
          </a:prstGeom>
          <a:solidFill>
            <a:schemeClr val="tx2"/>
          </a:solidFill>
          <a:ln/>
        </p:spPr>
      </p:sp>
      <p:pic>
        <p:nvPicPr>
          <p:cNvPr id="19" name="takeaway-icon-275" descr="Takeaway">    </p:cNvPr>
          <p:cNvPicPr>
            <a:picLocks noChangeAspect="1"/>
          </p:cNvPicPr>
          <p:nvPr/>
        </p:nvPicPr>
        <p:blipFill>
          <a:blip r:embed="rId4"/>
          <a:stretch>
            <a:fillRect/>
          </a:stretch>
        </p:blipFill>
        <p:spPr>
          <a:xfrm>
            <a:off x="3858768" y="5806440"/>
            <a:ext cx="274320" cy="274320"/>
          </a:xfrm>
          <a:prstGeom prst="rect">
            <a:avLst/>
          </a:prstGeom>
        </p:spPr>
      </p:pic>
      <p:sp>
        <p:nvSpPr>
          <p:cNvPr id="20" name="takeaway-text-276"/>
          <p:cNvSpPr txBox="1"/>
          <p:nvPr/>
        </p:nvSpPr>
        <p:spPr>
          <a:xfrm>
            <a:off x="4251960" y="5669280"/>
            <a:ext cx="7208215" cy="548640"/>
          </a:xfrm>
          <a:prstGeom prst="rect">
            <a:avLst/>
          </a:prstGeom>
          <a:noFill/>
          <a:ln/>
        </p:spPr>
        <p:txBody>
          <a:bodyPr wrap="square" lIns="0" tIns="0" rIns="0" bIns="0" rtlCol="0" anchor="ctr"/>
          <a:lstStyle/>
          <a:p>
            <a:pPr indent="0" marL="0">
              <a:buNone/>
            </a:pPr>
            <a:r>
              <a:rPr lang="en-US" sz="1400" b="1" dirty="0">
                <a:solidFill>
                  <a:schemeClr val="accent2"/>
                </a:solidFill>
              </a:rPr>
              <a:t>So what:  </a:t>
            </a:r>
            <a:pPr indent="0" marL="0">
              <a:buNone/>
            </a:pPr>
            <a:r>
              <a:rPr lang="en-US" sz="1400" i="1" dirty="0">
                <a:solidFill>
                  <a:schemeClr val="bg1"/>
                </a:solidFill>
              </a:rPr>
              <a:t>[Verdict in one line, with the correlation]</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Q5  ·  SNAP AND FOOD SHELF USE</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what happens when SNAP benefits change]</a:t>
            </a:r>
            <a:endParaRPr lang="en-US" sz="3000" dirty="0"/>
          </a:p>
        </p:txBody>
      </p:sp>
      <p:sp>
        <p:nvSpPr>
          <p:cNvPr id="4" name="visual-frame-277"/>
          <p:cNvSpPr/>
          <p:nvPr/>
        </p:nvSpPr>
        <p:spPr>
          <a:xfrm>
            <a:off x="548640" y="1691640"/>
            <a:ext cx="5394960" cy="3566160"/>
          </a:xfrm>
          <a:prstGeom prst="roundRect">
            <a:avLst>
              <a:gd name="adj" fmla="val 3077"/>
            </a:avLst>
          </a:prstGeom>
          <a:solidFill>
            <a:schemeClr val="bg2"/>
          </a:solidFill>
          <a:ln w="15875">
            <a:solidFill>
              <a:schemeClr val="accent3"/>
            </a:solidFill>
            <a:prstDash val="dash"/>
          </a:ln>
        </p:spPr>
      </p:sp>
      <p:pic>
        <p:nvPicPr>
          <p:cNvPr id="5" name="visual-icon-278" descr="CHART  ·  Food shelf activity around a benefit change">    </p:cNvPr>
          <p:cNvPicPr>
            <a:picLocks noChangeAspect="1"/>
          </p:cNvPicPr>
          <p:nvPr/>
        </p:nvPicPr>
        <p:blipFill>
          <a:blip r:embed="rId1"/>
          <a:stretch>
            <a:fillRect/>
          </a:stretch>
        </p:blipFill>
        <p:spPr>
          <a:xfrm>
            <a:off x="2971800" y="2606040"/>
            <a:ext cx="548640" cy="548640"/>
          </a:xfrm>
          <a:prstGeom prst="rect">
            <a:avLst/>
          </a:prstGeom>
        </p:spPr>
      </p:pic>
      <p:sp>
        <p:nvSpPr>
          <p:cNvPr id="6" name="visual-label-279"/>
          <p:cNvSpPr txBox="1"/>
          <p:nvPr/>
        </p:nvSpPr>
        <p:spPr>
          <a:xfrm>
            <a:off x="822960" y="3246120"/>
            <a:ext cx="4846320"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Food shelf activity around a benefit change</a:t>
            </a:r>
            <a:endParaRPr lang="en-US" sz="1400" dirty="0"/>
          </a:p>
        </p:txBody>
      </p:sp>
      <p:sp>
        <p:nvSpPr>
          <p:cNvPr id="7" name="visual-hint-280"/>
          <p:cNvSpPr txBox="1"/>
          <p:nvPr/>
        </p:nvSpPr>
        <p:spPr>
          <a:xfrm>
            <a:off x="822960" y="3657600"/>
            <a:ext cx="4846320" cy="1417320"/>
          </a:xfrm>
          <a:prstGeom prst="rect">
            <a:avLst/>
          </a:prstGeom>
          <a:noFill/>
          <a:ln/>
        </p:spPr>
        <p:txBody>
          <a:bodyPr wrap="square" lIns="0" tIns="0" rIns="0" bIns="0" rtlCol="0" anchor="t"/>
          <a:lstStyle/>
          <a:p>
            <a:pPr algn="ctr" indent="0" marL="0">
              <a:buNone/>
            </a:pPr>
            <a:r>
              <a:rPr lang="en-US" sz="1200" i="1" dirty="0">
                <a:solidFill>
                  <a:schemeClr val="accent5"/>
                </a:solidFill>
              </a:rPr>
              <a:t>[e.g. end of emergency allotments; outputs/q5/q5_b1_visits_yoy.png]</a:t>
            </a:r>
            <a:endParaRPr lang="en-US" sz="1200" dirty="0"/>
          </a:p>
        </p:txBody>
      </p:sp>
      <p:sp>
        <p:nvSpPr>
          <p:cNvPr id="8" name="visual-frame-281"/>
          <p:cNvSpPr/>
          <p:nvPr/>
        </p:nvSpPr>
        <p:spPr>
          <a:xfrm>
            <a:off x="6281928" y="1691640"/>
            <a:ext cx="5361127" cy="3566160"/>
          </a:xfrm>
          <a:prstGeom prst="roundRect">
            <a:avLst>
              <a:gd name="adj" fmla="val 3077"/>
            </a:avLst>
          </a:prstGeom>
          <a:solidFill>
            <a:schemeClr val="bg2"/>
          </a:solidFill>
          <a:ln w="15875">
            <a:solidFill>
              <a:schemeClr val="accent3"/>
            </a:solidFill>
            <a:prstDash val="dash"/>
          </a:ln>
        </p:spPr>
      </p:sp>
      <p:pic>
        <p:nvPicPr>
          <p:cNvPr id="9" name="visual-icon-282" descr="CHART  ·  The relationship differs across counties">    </p:cNvPr>
          <p:cNvPicPr>
            <a:picLocks noChangeAspect="1"/>
          </p:cNvPicPr>
          <p:nvPr/>
        </p:nvPicPr>
        <p:blipFill>
          <a:blip r:embed="rId2"/>
          <a:stretch>
            <a:fillRect/>
          </a:stretch>
        </p:blipFill>
        <p:spPr>
          <a:xfrm>
            <a:off x="8688172" y="2606040"/>
            <a:ext cx="548640" cy="548640"/>
          </a:xfrm>
          <a:prstGeom prst="rect">
            <a:avLst/>
          </a:prstGeom>
        </p:spPr>
      </p:pic>
      <p:sp>
        <p:nvSpPr>
          <p:cNvPr id="10" name="visual-label-283"/>
          <p:cNvSpPr txBox="1"/>
          <p:nvPr/>
        </p:nvSpPr>
        <p:spPr>
          <a:xfrm>
            <a:off x="6556248" y="3246120"/>
            <a:ext cx="4812487"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The relationship differs across counties</a:t>
            </a:r>
            <a:endParaRPr lang="en-US" sz="1400" dirty="0"/>
          </a:p>
        </p:txBody>
      </p:sp>
      <p:sp>
        <p:nvSpPr>
          <p:cNvPr id="11" name="visual-hint-284"/>
          <p:cNvSpPr txBox="1"/>
          <p:nvPr/>
        </p:nvSpPr>
        <p:spPr>
          <a:xfrm>
            <a:off x="6556248" y="3657600"/>
            <a:ext cx="4812487" cy="1417320"/>
          </a:xfrm>
          <a:prstGeom prst="rect">
            <a:avLst/>
          </a:prstGeom>
          <a:noFill/>
          <a:ln/>
        </p:spPr>
        <p:txBody>
          <a:bodyPr wrap="square" lIns="0" tIns="0" rIns="0" bIns="0" rtlCol="0" anchor="t"/>
          <a:lstStyle/>
          <a:p>
            <a:pPr algn="ctr" indent="0" marL="0">
              <a:buNone/>
            </a:pPr>
            <a:r>
              <a:rPr lang="en-US" sz="1200" i="1" dirty="0">
                <a:solidFill>
                  <a:schemeClr val="accent5"/>
                </a:solidFill>
              </a:rPr>
              <a:t>[e.g. outputs/q5/q5_c3_county_dose_response.png]</a:t>
            </a:r>
            <a:endParaRPr lang="en-US" sz="1200" dirty="0"/>
          </a:p>
        </p:txBody>
      </p:sp>
      <p:sp>
        <p:nvSpPr>
          <p:cNvPr id="12" name="cap-285"/>
          <p:cNvSpPr txBox="1"/>
          <p:nvPr/>
        </p:nvSpPr>
        <p:spPr>
          <a:xfrm>
            <a:off x="548640" y="5440680"/>
            <a:ext cx="5394960" cy="777240"/>
          </a:xfrm>
          <a:prstGeom prst="rect">
            <a:avLst/>
          </a:prstGeom>
          <a:noFill/>
          <a:ln/>
        </p:spPr>
        <p:txBody>
          <a:bodyPr wrap="square" lIns="0" tIns="0" rIns="0" bIns="0" rtlCol="0" anchor="t"/>
          <a:lstStyle/>
          <a:p>
            <a:pPr indent="0" marL="0">
              <a:buNone/>
            </a:pPr>
            <a:r>
              <a:rPr lang="en-US" sz="1400" i="1" dirty="0">
                <a:solidFill>
                  <a:schemeClr val="accent5"/>
                </a:solidFill>
              </a:rPr>
              <a:t>[What happened after the benefit change: size and timing]</a:t>
            </a:r>
            <a:endParaRPr lang="en-US" sz="1400" dirty="0"/>
          </a:p>
        </p:txBody>
      </p:sp>
      <p:sp>
        <p:nvSpPr>
          <p:cNvPr id="13" name="cap-286"/>
          <p:cNvSpPr txBox="1"/>
          <p:nvPr/>
        </p:nvSpPr>
        <p:spPr>
          <a:xfrm>
            <a:off x="6281928" y="5440680"/>
            <a:ext cx="5361127" cy="777240"/>
          </a:xfrm>
          <a:prstGeom prst="rect">
            <a:avLst/>
          </a:prstGeom>
          <a:noFill/>
          <a:ln/>
        </p:spPr>
        <p:txBody>
          <a:bodyPr wrap="square" lIns="0" tIns="0" rIns="0" bIns="0" rtlCol="0" anchor="t"/>
          <a:lstStyle/>
          <a:p>
            <a:pPr indent="0" marL="0">
              <a:buNone/>
            </a:pPr>
            <a:r>
              <a:rPr lang="en-US" sz="1400" i="1" dirty="0">
                <a:solidFill>
                  <a:schemeClr val="accent5"/>
                </a:solidFill>
              </a:rPr>
              <a:t>[Where the link is strongest / weakest, and why]</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07</a:t>
            </a: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ACT III  ·  WHAT COMES NEXT?</a:t>
            </a: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What will August 2026 look like?</a:t>
            </a: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lIns="0" tIns="0" rIns="0" bIns="0" rtlCol="0" anchor="t"/>
          <a:lstStyle/>
          <a:p>
            <a:pPr indent="0" marL="0">
              <a:buNone/>
            </a:pPr>
            <a:r>
              <a:rPr lang="en-US" sz="1600" dirty="0">
                <a:solidFill>
                  <a:schemeClr val="accent4"/>
                </a:solidFill>
              </a:rPr>
              <a:t>[One-line answer preview]</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Q7  ·  AUGUST FORECAST</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a county-by-county model, tested on past Augusts]</a:t>
            </a:r>
            <a:endParaRPr lang="en-US" sz="3000" dirty="0"/>
          </a:p>
        </p:txBody>
      </p:sp>
      <p:sp>
        <p:nvSpPr>
          <p:cNvPr id="4" name="flow-step-287"/>
          <p:cNvSpPr/>
          <p:nvPr/>
        </p:nvSpPr>
        <p:spPr>
          <a:xfrm>
            <a:off x="548640" y="1691640"/>
            <a:ext cx="2533574" cy="2103120"/>
          </a:xfrm>
          <a:prstGeom prst="roundRect">
            <a:avLst>
              <a:gd name="adj" fmla="val 5217"/>
            </a:avLst>
          </a:prstGeom>
          <a:solidFill>
            <a:schemeClr val="bg2"/>
          </a:solidFill>
          <a:ln/>
        </p:spPr>
      </p:sp>
      <p:sp>
        <p:nvSpPr>
          <p:cNvPr id="5" name="flow-num-288"/>
          <p:cNvSpPr txBox="1"/>
          <p:nvPr/>
        </p:nvSpPr>
        <p:spPr>
          <a:xfrm>
            <a:off x="777240"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01</a:t>
            </a:r>
            <a:endParaRPr lang="en-US" sz="2000" dirty="0"/>
          </a:p>
        </p:txBody>
      </p:sp>
      <p:sp>
        <p:nvSpPr>
          <p:cNvPr id="6" name="flow-head-289"/>
          <p:cNvSpPr txBox="1"/>
          <p:nvPr/>
        </p:nvSpPr>
        <p:spPr>
          <a:xfrm>
            <a:off x="777240" y="22860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Data to July 2026</a:t>
            </a:r>
            <a:endParaRPr lang="en-US" sz="1600" dirty="0"/>
          </a:p>
        </p:txBody>
      </p:sp>
      <p:sp>
        <p:nvSpPr>
          <p:cNvPr id="7" name="flow-body-290"/>
          <p:cNvSpPr txBox="1"/>
          <p:nvPr/>
        </p:nvSpPr>
        <p:spPr>
          <a:xfrm>
            <a:off x="777240" y="2697480"/>
            <a:ext cx="2076374" cy="914400"/>
          </a:xfrm>
          <a:prstGeom prst="rect">
            <a:avLst/>
          </a:prstGeom>
          <a:noFill/>
          <a:ln/>
        </p:spPr>
        <p:txBody>
          <a:bodyPr wrap="square" lIns="0" tIns="0" rIns="0" bIns="0" rtlCol="0" anchor="t"/>
          <a:lstStyle/>
          <a:p>
            <a:pPr indent="0" marL="0">
              <a:buNone/>
            </a:pPr>
            <a:r>
              <a:rPr lang="en-US" sz="1200" i="1" dirty="0">
                <a:solidFill>
                  <a:schemeClr val="accent5"/>
                </a:solidFill>
              </a:rPr>
              <a:t>[cutoff check: no August data used]</a:t>
            </a:r>
            <a:endParaRPr lang="en-US" sz="1200" dirty="0"/>
          </a:p>
        </p:txBody>
      </p:sp>
      <p:pic>
        <p:nvPicPr>
          <p:cNvPr id="8" name="flow-arrow-291" descr="next">    </p:cNvPr>
          <p:cNvPicPr>
            <a:picLocks noChangeAspect="1"/>
          </p:cNvPicPr>
          <p:nvPr/>
        </p:nvPicPr>
        <p:blipFill>
          <a:blip r:embed="rId1"/>
          <a:stretch>
            <a:fillRect/>
          </a:stretch>
        </p:blipFill>
        <p:spPr>
          <a:xfrm>
            <a:off x="3150794" y="2651760"/>
            <a:ext cx="182880" cy="182880"/>
          </a:xfrm>
          <a:prstGeom prst="rect">
            <a:avLst/>
          </a:prstGeom>
        </p:spPr>
      </p:pic>
      <p:sp>
        <p:nvSpPr>
          <p:cNvPr id="9" name="flow-step-292"/>
          <p:cNvSpPr/>
          <p:nvPr/>
        </p:nvSpPr>
        <p:spPr>
          <a:xfrm>
            <a:off x="3402254" y="1691640"/>
            <a:ext cx="2533574" cy="2103120"/>
          </a:xfrm>
          <a:prstGeom prst="roundRect">
            <a:avLst>
              <a:gd name="adj" fmla="val 5217"/>
            </a:avLst>
          </a:prstGeom>
          <a:solidFill>
            <a:schemeClr val="bg2"/>
          </a:solidFill>
          <a:ln/>
        </p:spPr>
      </p:sp>
      <p:sp>
        <p:nvSpPr>
          <p:cNvPr id="10" name="flow-num-293"/>
          <p:cNvSpPr txBox="1"/>
          <p:nvPr/>
        </p:nvSpPr>
        <p:spPr>
          <a:xfrm>
            <a:off x="3630854"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02</a:t>
            </a:r>
            <a:endParaRPr lang="en-US" sz="2000" dirty="0"/>
          </a:p>
        </p:txBody>
      </p:sp>
      <p:sp>
        <p:nvSpPr>
          <p:cNvPr id="11" name="flow-head-294"/>
          <p:cNvSpPr txBox="1"/>
          <p:nvPr/>
        </p:nvSpPr>
        <p:spPr>
          <a:xfrm>
            <a:off x="3630854" y="22860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Candidate models</a:t>
            </a:r>
            <a:endParaRPr lang="en-US" sz="1600" dirty="0"/>
          </a:p>
        </p:txBody>
      </p:sp>
      <p:sp>
        <p:nvSpPr>
          <p:cNvPr id="12" name="flow-body-295"/>
          <p:cNvSpPr txBox="1"/>
          <p:nvPr/>
        </p:nvSpPr>
        <p:spPr>
          <a:xfrm>
            <a:off x="3630854" y="2697480"/>
            <a:ext cx="2076374" cy="914400"/>
          </a:xfrm>
          <a:prstGeom prst="rect">
            <a:avLst/>
          </a:prstGeom>
          <a:noFill/>
          <a:ln/>
        </p:spPr>
        <p:txBody>
          <a:bodyPr wrap="square" lIns="0" tIns="0" rIns="0" bIns="0" rtlCol="0" anchor="t"/>
          <a:lstStyle/>
          <a:p>
            <a:pPr indent="0" marL="0">
              <a:buNone/>
            </a:pPr>
            <a:r>
              <a:rPr lang="en-US" sz="1200" i="1" dirty="0">
                <a:solidFill>
                  <a:schemeClr val="accent5"/>
                </a:solidFill>
              </a:rPr>
              <a:t>[e.g. seasonal naive, ETS, regression]</a:t>
            </a:r>
            <a:endParaRPr lang="en-US" sz="1200" dirty="0"/>
          </a:p>
        </p:txBody>
      </p:sp>
      <p:pic>
        <p:nvPicPr>
          <p:cNvPr id="13" name="flow-arrow-296" descr="next">    </p:cNvPr>
          <p:cNvPicPr>
            <a:picLocks noChangeAspect="1"/>
          </p:cNvPicPr>
          <p:nvPr/>
        </p:nvPicPr>
        <p:blipFill>
          <a:blip r:embed="rId2"/>
          <a:stretch>
            <a:fillRect/>
          </a:stretch>
        </p:blipFill>
        <p:spPr>
          <a:xfrm>
            <a:off x="6004408" y="2651760"/>
            <a:ext cx="182880" cy="182880"/>
          </a:xfrm>
          <a:prstGeom prst="rect">
            <a:avLst/>
          </a:prstGeom>
        </p:spPr>
      </p:pic>
      <p:sp>
        <p:nvSpPr>
          <p:cNvPr id="14" name="flow-step-297"/>
          <p:cNvSpPr/>
          <p:nvPr/>
        </p:nvSpPr>
        <p:spPr>
          <a:xfrm>
            <a:off x="6255868" y="1691640"/>
            <a:ext cx="2533574" cy="2103120"/>
          </a:xfrm>
          <a:prstGeom prst="roundRect">
            <a:avLst>
              <a:gd name="adj" fmla="val 5217"/>
            </a:avLst>
          </a:prstGeom>
          <a:solidFill>
            <a:schemeClr val="bg2"/>
          </a:solidFill>
          <a:ln/>
        </p:spPr>
      </p:sp>
      <p:sp>
        <p:nvSpPr>
          <p:cNvPr id="15" name="flow-num-298"/>
          <p:cNvSpPr txBox="1"/>
          <p:nvPr/>
        </p:nvSpPr>
        <p:spPr>
          <a:xfrm>
            <a:off x="6484468"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03</a:t>
            </a:r>
            <a:endParaRPr lang="en-US" sz="2000" dirty="0"/>
          </a:p>
        </p:txBody>
      </p:sp>
      <p:sp>
        <p:nvSpPr>
          <p:cNvPr id="16" name="flow-head-299"/>
          <p:cNvSpPr txBox="1"/>
          <p:nvPr/>
        </p:nvSpPr>
        <p:spPr>
          <a:xfrm>
            <a:off x="6484468" y="2286000"/>
            <a:ext cx="2076374" cy="365760"/>
          </a:xfrm>
          <a:prstGeom prst="rect">
            <a:avLst/>
          </a:prstGeom>
          <a:noFill/>
          <a:ln/>
        </p:spPr>
        <p:txBody>
          <a:bodyPr wrap="square" lIns="0" tIns="0" rIns="0" bIns="0" rtlCol="0" anchor="t"/>
          <a:lstStyle/>
          <a:p>
            <a:pPr indent="0" marL="0">
              <a:buNone/>
            </a:pPr>
            <a:r>
              <a:rPr lang="en-US" sz="1600" b="1" dirty="0">
                <a:solidFill>
                  <a:schemeClr val="tx2"/>
                </a:solidFill>
              </a:rPr>
              <a:t>Backtest</a:t>
            </a:r>
            <a:endParaRPr lang="en-US" sz="1600" dirty="0"/>
          </a:p>
        </p:txBody>
      </p:sp>
      <p:sp>
        <p:nvSpPr>
          <p:cNvPr id="17" name="flow-body-300"/>
          <p:cNvSpPr txBox="1"/>
          <p:nvPr/>
        </p:nvSpPr>
        <p:spPr>
          <a:xfrm>
            <a:off x="6484468" y="2697480"/>
            <a:ext cx="2076374" cy="914400"/>
          </a:xfrm>
          <a:prstGeom prst="rect">
            <a:avLst/>
          </a:prstGeom>
          <a:noFill/>
          <a:ln/>
        </p:spPr>
        <p:txBody>
          <a:bodyPr wrap="square" lIns="0" tIns="0" rIns="0" bIns="0" rtlCol="0" anchor="t"/>
          <a:lstStyle/>
          <a:p>
            <a:pPr indent="0" marL="0">
              <a:buNone/>
            </a:pPr>
            <a:r>
              <a:rPr lang="en-US" sz="1200" i="1" dirty="0">
                <a:solidFill>
                  <a:schemeClr val="accent5"/>
                </a:solidFill>
              </a:rPr>
              <a:t>[how past Augusts were held out]</a:t>
            </a:r>
            <a:endParaRPr lang="en-US" sz="1200" dirty="0"/>
          </a:p>
        </p:txBody>
      </p:sp>
      <p:pic>
        <p:nvPicPr>
          <p:cNvPr id="18" name="flow-arrow-301" descr="next">    </p:cNvPr>
          <p:cNvPicPr>
            <a:picLocks noChangeAspect="1"/>
          </p:cNvPicPr>
          <p:nvPr/>
        </p:nvPicPr>
        <p:blipFill>
          <a:blip r:embed="rId3"/>
          <a:stretch>
            <a:fillRect/>
          </a:stretch>
        </p:blipFill>
        <p:spPr>
          <a:xfrm>
            <a:off x="8858021" y="2651760"/>
            <a:ext cx="182880" cy="182880"/>
          </a:xfrm>
          <a:prstGeom prst="rect">
            <a:avLst/>
          </a:prstGeom>
        </p:spPr>
      </p:pic>
      <p:sp>
        <p:nvSpPr>
          <p:cNvPr id="19" name="flow-step-302"/>
          <p:cNvSpPr/>
          <p:nvPr/>
        </p:nvSpPr>
        <p:spPr>
          <a:xfrm>
            <a:off x="9109481" y="1691640"/>
            <a:ext cx="2533574" cy="2103120"/>
          </a:xfrm>
          <a:prstGeom prst="roundRect">
            <a:avLst>
              <a:gd name="adj" fmla="val 5217"/>
            </a:avLst>
          </a:prstGeom>
          <a:solidFill>
            <a:schemeClr val="tx2"/>
          </a:solidFill>
          <a:ln/>
        </p:spPr>
      </p:sp>
      <p:sp>
        <p:nvSpPr>
          <p:cNvPr id="20" name="flow-num-303"/>
          <p:cNvSpPr txBox="1"/>
          <p:nvPr/>
        </p:nvSpPr>
        <p:spPr>
          <a:xfrm>
            <a:off x="9338081" y="1874520"/>
            <a:ext cx="91440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04</a:t>
            </a:r>
            <a:endParaRPr lang="en-US" sz="2000" dirty="0"/>
          </a:p>
        </p:txBody>
      </p:sp>
      <p:sp>
        <p:nvSpPr>
          <p:cNvPr id="21" name="flow-head-304"/>
          <p:cNvSpPr txBox="1"/>
          <p:nvPr/>
        </p:nvSpPr>
        <p:spPr>
          <a:xfrm>
            <a:off x="9338081" y="2286000"/>
            <a:ext cx="2076374" cy="365760"/>
          </a:xfrm>
          <a:prstGeom prst="rect">
            <a:avLst/>
          </a:prstGeom>
          <a:noFill/>
          <a:ln/>
        </p:spPr>
        <p:txBody>
          <a:bodyPr wrap="square" lIns="0" tIns="0" rIns="0" bIns="0" rtlCol="0" anchor="t"/>
          <a:lstStyle/>
          <a:p>
            <a:pPr indent="0" marL="0">
              <a:buNone/>
            </a:pPr>
            <a:r>
              <a:rPr lang="en-US" sz="1600" b="1" dirty="0">
                <a:solidFill>
                  <a:schemeClr val="bg1"/>
                </a:solidFill>
              </a:rPr>
              <a:t>Pick per county</a:t>
            </a:r>
            <a:endParaRPr lang="en-US" sz="1600" dirty="0"/>
          </a:p>
        </p:txBody>
      </p:sp>
      <p:sp>
        <p:nvSpPr>
          <p:cNvPr id="22" name="flow-body-305"/>
          <p:cNvSpPr txBox="1"/>
          <p:nvPr/>
        </p:nvSpPr>
        <p:spPr>
          <a:xfrm>
            <a:off x="9338081" y="2697480"/>
            <a:ext cx="2076374" cy="914400"/>
          </a:xfrm>
          <a:prstGeom prst="rect">
            <a:avLst/>
          </a:prstGeom>
          <a:noFill/>
          <a:ln/>
        </p:spPr>
        <p:txBody>
          <a:bodyPr wrap="square" lIns="0" tIns="0" rIns="0" bIns="0" rtlCol="0" anchor="t"/>
          <a:lstStyle/>
          <a:p>
            <a:pPr indent="0" marL="0">
              <a:buNone/>
            </a:pPr>
            <a:r>
              <a:rPr lang="en-US" sz="1200" i="1" dirty="0">
                <a:solidFill>
                  <a:schemeClr val="accent4"/>
                </a:solidFill>
              </a:rPr>
              <a:t>[selection rule]</a:t>
            </a:r>
            <a:endParaRPr lang="en-US" sz="1200" dirty="0"/>
          </a:p>
        </p:txBody>
      </p:sp>
      <p:sp>
        <p:nvSpPr>
          <p:cNvPr id="23" name="visual-frame-306"/>
          <p:cNvSpPr/>
          <p:nvPr/>
        </p:nvSpPr>
        <p:spPr>
          <a:xfrm>
            <a:off x="548640" y="4069080"/>
            <a:ext cx="6766560" cy="2148840"/>
          </a:xfrm>
          <a:prstGeom prst="roundRect">
            <a:avLst>
              <a:gd name="adj" fmla="val 5106"/>
            </a:avLst>
          </a:prstGeom>
          <a:solidFill>
            <a:schemeClr val="bg2"/>
          </a:solidFill>
          <a:ln w="15875">
            <a:solidFill>
              <a:schemeClr val="accent3"/>
            </a:solidFill>
            <a:prstDash val="dash"/>
          </a:ln>
        </p:spPr>
      </p:sp>
      <p:pic>
        <p:nvPicPr>
          <p:cNvPr id="24" name="visual-icon-307" descr="CHART  ·  Backtest error by model">    </p:cNvPr>
          <p:cNvPicPr>
            <a:picLocks noChangeAspect="1"/>
          </p:cNvPicPr>
          <p:nvPr/>
        </p:nvPicPr>
        <p:blipFill>
          <a:blip r:embed="rId4"/>
          <a:stretch>
            <a:fillRect/>
          </a:stretch>
        </p:blipFill>
        <p:spPr>
          <a:xfrm>
            <a:off x="3695548" y="4350715"/>
            <a:ext cx="472745" cy="472745"/>
          </a:xfrm>
          <a:prstGeom prst="rect">
            <a:avLst/>
          </a:prstGeom>
        </p:spPr>
      </p:pic>
      <p:sp>
        <p:nvSpPr>
          <p:cNvPr id="25" name="visual-label-308"/>
          <p:cNvSpPr txBox="1"/>
          <p:nvPr/>
        </p:nvSpPr>
        <p:spPr>
          <a:xfrm>
            <a:off x="822960" y="4914900"/>
            <a:ext cx="6217920"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Backtest error by model</a:t>
            </a:r>
            <a:endParaRPr lang="en-US" sz="1400" dirty="0"/>
          </a:p>
        </p:txBody>
      </p:sp>
      <p:sp>
        <p:nvSpPr>
          <p:cNvPr id="26" name="visual-hint-309"/>
          <p:cNvSpPr txBox="1"/>
          <p:nvPr/>
        </p:nvSpPr>
        <p:spPr>
          <a:xfrm>
            <a:off x="822960" y="5326380"/>
            <a:ext cx="6217920" cy="708660"/>
          </a:xfrm>
          <a:prstGeom prst="rect">
            <a:avLst/>
          </a:prstGeom>
          <a:noFill/>
          <a:ln/>
        </p:spPr>
        <p:txBody>
          <a:bodyPr wrap="square" lIns="0" tIns="0" rIns="0" bIns="0" rtlCol="0" anchor="t"/>
          <a:lstStyle/>
          <a:p>
            <a:pPr algn="ctr" indent="0" marL="0">
              <a:buNone/>
            </a:pPr>
            <a:r>
              <a:rPr lang="en-US" sz="1200" i="1" dirty="0">
                <a:solidFill>
                  <a:schemeClr val="accent5"/>
                </a:solidFill>
              </a:rPr>
              <a:t>[e.g. forecast_august_2026/report/figures]</a:t>
            </a:r>
            <a:endParaRPr lang="en-US" sz="1200" dirty="0"/>
          </a:p>
        </p:txBody>
      </p:sp>
      <p:sp>
        <p:nvSpPr>
          <p:cNvPr id="27" name="stat-310"/>
          <p:cNvSpPr/>
          <p:nvPr/>
        </p:nvSpPr>
        <p:spPr>
          <a:xfrm>
            <a:off x="7680960" y="4069080"/>
            <a:ext cx="3962095" cy="2148840"/>
          </a:xfrm>
          <a:prstGeom prst="roundRect">
            <a:avLst>
              <a:gd name="adj" fmla="val 5106"/>
            </a:avLst>
          </a:prstGeom>
          <a:solidFill>
            <a:schemeClr val="bg2"/>
          </a:solidFill>
          <a:ln/>
        </p:spPr>
      </p:sp>
      <p:sp>
        <p:nvSpPr>
          <p:cNvPr id="28" name="stat-value-311"/>
          <p:cNvSpPr txBox="1"/>
          <p:nvPr/>
        </p:nvSpPr>
        <p:spPr>
          <a:xfrm>
            <a:off x="7909560" y="4251960"/>
            <a:ext cx="3504895" cy="1031443"/>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 X% ]</a:t>
            </a:r>
            <a:endParaRPr lang="en-US" sz="4000" dirty="0"/>
          </a:p>
        </p:txBody>
      </p:sp>
      <p:sp>
        <p:nvSpPr>
          <p:cNvPr id="29" name="stat-label-312"/>
          <p:cNvSpPr txBox="1"/>
          <p:nvPr/>
        </p:nvSpPr>
        <p:spPr>
          <a:xfrm>
            <a:off x="7909560" y="5329123"/>
            <a:ext cx="3504895" cy="320040"/>
          </a:xfrm>
          <a:prstGeom prst="rect">
            <a:avLst/>
          </a:prstGeom>
          <a:noFill/>
          <a:ln/>
        </p:spPr>
        <p:txBody>
          <a:bodyPr wrap="square" lIns="0" tIns="0" rIns="0" bIns="0" rtlCol="0" anchor="t"/>
          <a:lstStyle/>
          <a:p>
            <a:pPr indent="0" marL="0">
              <a:buNone/>
            </a:pPr>
            <a:r>
              <a:rPr lang="en-US" sz="1500" b="1" dirty="0">
                <a:solidFill>
                  <a:schemeClr val="tx2"/>
                </a:solidFill>
              </a:rPr>
              <a:t>Backtest error (MAPE / WAPE)</a:t>
            </a:r>
            <a:endParaRPr lang="en-US" sz="1500" dirty="0"/>
          </a:p>
        </p:txBody>
      </p:sp>
      <p:sp>
        <p:nvSpPr>
          <p:cNvPr id="30" name="stat-hint-313"/>
          <p:cNvSpPr txBox="1"/>
          <p:nvPr/>
        </p:nvSpPr>
        <p:spPr>
          <a:xfrm>
            <a:off x="7909560" y="5667451"/>
            <a:ext cx="3504895" cy="385877"/>
          </a:xfrm>
          <a:prstGeom prst="rect">
            <a:avLst/>
          </a:prstGeom>
          <a:noFill/>
          <a:ln/>
        </p:spPr>
        <p:txBody>
          <a:bodyPr wrap="square" lIns="0" tIns="0" rIns="0" bIns="0" rtlCol="0" anchor="t"/>
          <a:lstStyle/>
          <a:p>
            <a:pPr indent="0" marL="0">
              <a:buNone/>
            </a:pPr>
            <a:r>
              <a:rPr lang="en-US" sz="1200" i="1" dirty="0">
                <a:solidFill>
                  <a:schemeClr val="accent5"/>
                </a:solidFill>
              </a:rPr>
              <a:t>[vs. naive baseline]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Q7  ·  AUGUST FORECAST</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we expect August 2026 activity to …]</a:t>
            </a:r>
            <a:endParaRPr lang="en-US" sz="3000" dirty="0"/>
          </a:p>
        </p:txBody>
      </p:sp>
      <p:sp>
        <p:nvSpPr>
          <p:cNvPr id="4" name="stat-314"/>
          <p:cNvSpPr/>
          <p:nvPr/>
        </p:nvSpPr>
        <p:spPr>
          <a:xfrm>
            <a:off x="548640" y="1691640"/>
            <a:ext cx="3515258" cy="1737360"/>
          </a:xfrm>
          <a:prstGeom prst="roundRect">
            <a:avLst>
              <a:gd name="adj" fmla="val 6316"/>
            </a:avLst>
          </a:prstGeom>
          <a:solidFill>
            <a:schemeClr val="bg2"/>
          </a:solidFill>
          <a:ln/>
        </p:spPr>
      </p:sp>
      <p:sp>
        <p:nvSpPr>
          <p:cNvPr id="5" name="stat-value-315"/>
          <p:cNvSpPr txBox="1"/>
          <p:nvPr/>
        </p:nvSpPr>
        <p:spPr>
          <a:xfrm>
            <a:off x="777240" y="1801368"/>
            <a:ext cx="3058058" cy="566928"/>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 value ]</a:t>
            </a:r>
            <a:endParaRPr lang="en-US" sz="3000" dirty="0"/>
          </a:p>
        </p:txBody>
      </p:sp>
      <p:sp>
        <p:nvSpPr>
          <p:cNvPr id="6" name="stat-label-316"/>
          <p:cNvSpPr txBox="1"/>
          <p:nvPr/>
        </p:nvSpPr>
        <p:spPr>
          <a:xfrm>
            <a:off x="777240" y="2423160"/>
            <a:ext cx="3058058" cy="292608"/>
          </a:xfrm>
          <a:prstGeom prst="rect">
            <a:avLst/>
          </a:prstGeom>
          <a:noFill/>
          <a:ln/>
        </p:spPr>
        <p:txBody>
          <a:bodyPr wrap="square" lIns="0" tIns="0" rIns="0" bIns="0" rtlCol="0" anchor="t"/>
          <a:lstStyle/>
          <a:p>
            <a:pPr indent="0" marL="0">
              <a:buNone/>
            </a:pPr>
            <a:r>
              <a:rPr lang="en-US" sz="1500" b="1" dirty="0">
                <a:solidFill>
                  <a:schemeClr val="tx2"/>
                </a:solidFill>
              </a:rPr>
              <a:t>Visits</a:t>
            </a:r>
            <a:endParaRPr lang="en-US" sz="1500" dirty="0"/>
          </a:p>
        </p:txBody>
      </p:sp>
      <p:sp>
        <p:nvSpPr>
          <p:cNvPr id="7" name="stat-hint-317"/>
          <p:cNvSpPr txBox="1"/>
          <p:nvPr/>
        </p:nvSpPr>
        <p:spPr>
          <a:xfrm>
            <a:off x="777240" y="2715768"/>
            <a:ext cx="3058058" cy="621792"/>
          </a:xfrm>
          <a:prstGeom prst="rect">
            <a:avLst/>
          </a:prstGeom>
          <a:noFill/>
          <a:ln/>
        </p:spPr>
        <p:txBody>
          <a:bodyPr wrap="square" lIns="0" tIns="0" rIns="0" bIns="0" rtlCol="0" anchor="t"/>
          <a:lstStyle/>
          <a:p>
            <a:pPr indent="0" marL="0">
              <a:buNone/>
            </a:pPr>
            <a:r>
              <a:rPr lang="en-US" sz="1200" i="1" dirty="0">
                <a:solidFill>
                  <a:schemeClr val="accent5"/>
                </a:solidFill>
              </a:rPr>
              <a:t>[vs. Aug 2025: ±X%]</a:t>
            </a:r>
            <a:endParaRPr lang="en-US" sz="1200" dirty="0"/>
          </a:p>
        </p:txBody>
      </p:sp>
      <p:sp>
        <p:nvSpPr>
          <p:cNvPr id="8" name="stat-318"/>
          <p:cNvSpPr/>
          <p:nvPr/>
        </p:nvSpPr>
        <p:spPr>
          <a:xfrm>
            <a:off x="4338218" y="1691640"/>
            <a:ext cx="3515258" cy="1737360"/>
          </a:xfrm>
          <a:prstGeom prst="roundRect">
            <a:avLst>
              <a:gd name="adj" fmla="val 6316"/>
            </a:avLst>
          </a:prstGeom>
          <a:solidFill>
            <a:schemeClr val="bg2"/>
          </a:solidFill>
          <a:ln/>
        </p:spPr>
      </p:sp>
      <p:sp>
        <p:nvSpPr>
          <p:cNvPr id="9" name="stat-value-319"/>
          <p:cNvSpPr txBox="1"/>
          <p:nvPr/>
        </p:nvSpPr>
        <p:spPr>
          <a:xfrm>
            <a:off x="4566818" y="1801368"/>
            <a:ext cx="3058058" cy="566928"/>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 value ]</a:t>
            </a:r>
            <a:endParaRPr lang="en-US" sz="3000" dirty="0"/>
          </a:p>
        </p:txBody>
      </p:sp>
      <p:sp>
        <p:nvSpPr>
          <p:cNvPr id="10" name="stat-label-320"/>
          <p:cNvSpPr txBox="1"/>
          <p:nvPr/>
        </p:nvSpPr>
        <p:spPr>
          <a:xfrm>
            <a:off x="4566818" y="2423160"/>
            <a:ext cx="3058058" cy="292608"/>
          </a:xfrm>
          <a:prstGeom prst="rect">
            <a:avLst/>
          </a:prstGeom>
          <a:noFill/>
          <a:ln/>
        </p:spPr>
        <p:txBody>
          <a:bodyPr wrap="square" lIns="0" tIns="0" rIns="0" bIns="0" rtlCol="0" anchor="t"/>
          <a:lstStyle/>
          <a:p>
            <a:pPr indent="0" marL="0">
              <a:buNone/>
            </a:pPr>
            <a:r>
              <a:rPr lang="en-US" sz="1500" b="1" dirty="0">
                <a:solidFill>
                  <a:schemeClr val="tx2"/>
                </a:solidFill>
              </a:rPr>
              <a:t>Pounds distributed</a:t>
            </a:r>
            <a:endParaRPr lang="en-US" sz="1500" dirty="0"/>
          </a:p>
        </p:txBody>
      </p:sp>
      <p:sp>
        <p:nvSpPr>
          <p:cNvPr id="11" name="stat-hint-321"/>
          <p:cNvSpPr txBox="1"/>
          <p:nvPr/>
        </p:nvSpPr>
        <p:spPr>
          <a:xfrm>
            <a:off x="4566818" y="2715768"/>
            <a:ext cx="3058058" cy="621792"/>
          </a:xfrm>
          <a:prstGeom prst="rect">
            <a:avLst/>
          </a:prstGeom>
          <a:noFill/>
          <a:ln/>
        </p:spPr>
        <p:txBody>
          <a:bodyPr wrap="square" lIns="0" tIns="0" rIns="0" bIns="0" rtlCol="0" anchor="t"/>
          <a:lstStyle/>
          <a:p>
            <a:pPr indent="0" marL="0">
              <a:buNone/>
            </a:pPr>
            <a:r>
              <a:rPr lang="en-US" sz="1200" i="1" dirty="0">
                <a:solidFill>
                  <a:schemeClr val="accent5"/>
                </a:solidFill>
              </a:rPr>
              <a:t>[vs. Aug 2025: ±X%]</a:t>
            </a:r>
            <a:endParaRPr lang="en-US" sz="1200" dirty="0"/>
          </a:p>
        </p:txBody>
      </p:sp>
      <p:sp>
        <p:nvSpPr>
          <p:cNvPr id="12" name="stat-322"/>
          <p:cNvSpPr/>
          <p:nvPr/>
        </p:nvSpPr>
        <p:spPr>
          <a:xfrm>
            <a:off x="8127797" y="1691640"/>
            <a:ext cx="3515258" cy="1737360"/>
          </a:xfrm>
          <a:prstGeom prst="roundRect">
            <a:avLst>
              <a:gd name="adj" fmla="val 6316"/>
            </a:avLst>
          </a:prstGeom>
          <a:solidFill>
            <a:schemeClr val="bg2"/>
          </a:solidFill>
          <a:ln/>
        </p:spPr>
      </p:sp>
      <p:sp>
        <p:nvSpPr>
          <p:cNvPr id="13" name="stat-value-323"/>
          <p:cNvSpPr txBox="1"/>
          <p:nvPr/>
        </p:nvSpPr>
        <p:spPr>
          <a:xfrm>
            <a:off x="8356397" y="1801368"/>
            <a:ext cx="3058058" cy="566928"/>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 value ]</a:t>
            </a:r>
            <a:endParaRPr lang="en-US" sz="3000" dirty="0"/>
          </a:p>
        </p:txBody>
      </p:sp>
      <p:sp>
        <p:nvSpPr>
          <p:cNvPr id="14" name="stat-label-324"/>
          <p:cNvSpPr txBox="1"/>
          <p:nvPr/>
        </p:nvSpPr>
        <p:spPr>
          <a:xfrm>
            <a:off x="8356397" y="2423160"/>
            <a:ext cx="3058058" cy="292608"/>
          </a:xfrm>
          <a:prstGeom prst="rect">
            <a:avLst/>
          </a:prstGeom>
          <a:noFill/>
          <a:ln/>
        </p:spPr>
        <p:txBody>
          <a:bodyPr wrap="square" lIns="0" tIns="0" rIns="0" bIns="0" rtlCol="0" anchor="t"/>
          <a:lstStyle/>
          <a:p>
            <a:pPr indent="0" marL="0">
              <a:buNone/>
            </a:pPr>
            <a:r>
              <a:rPr lang="en-US" sz="1500" b="1" dirty="0">
                <a:solidFill>
                  <a:schemeClr val="tx2"/>
                </a:solidFill>
              </a:rPr>
              <a:t>Individuals served</a:t>
            </a:r>
            <a:endParaRPr lang="en-US" sz="1500" dirty="0"/>
          </a:p>
        </p:txBody>
      </p:sp>
      <p:sp>
        <p:nvSpPr>
          <p:cNvPr id="15" name="stat-hint-325"/>
          <p:cNvSpPr txBox="1"/>
          <p:nvPr/>
        </p:nvSpPr>
        <p:spPr>
          <a:xfrm>
            <a:off x="8356397" y="2715768"/>
            <a:ext cx="3058058" cy="621792"/>
          </a:xfrm>
          <a:prstGeom prst="rect">
            <a:avLst/>
          </a:prstGeom>
          <a:noFill/>
          <a:ln/>
        </p:spPr>
        <p:txBody>
          <a:bodyPr wrap="square" lIns="0" tIns="0" rIns="0" bIns="0" rtlCol="0" anchor="t"/>
          <a:lstStyle/>
          <a:p>
            <a:pPr indent="0" marL="0">
              <a:buNone/>
            </a:pPr>
            <a:r>
              <a:rPr lang="en-US" sz="1200" i="1" dirty="0">
                <a:solidFill>
                  <a:schemeClr val="accent5"/>
                </a:solidFill>
              </a:rPr>
              <a:t>[vs. Aug 2025: ±X%]</a:t>
            </a:r>
            <a:endParaRPr lang="en-US" sz="1200" dirty="0"/>
          </a:p>
        </p:txBody>
      </p:sp>
      <p:sp>
        <p:nvSpPr>
          <p:cNvPr id="16" name="visual-frame-326"/>
          <p:cNvSpPr/>
          <p:nvPr/>
        </p:nvSpPr>
        <p:spPr>
          <a:xfrm>
            <a:off x="548640" y="3703320"/>
            <a:ext cx="11094415" cy="2514600"/>
          </a:xfrm>
          <a:prstGeom prst="roundRect">
            <a:avLst>
              <a:gd name="adj" fmla="val 4364"/>
            </a:avLst>
          </a:prstGeom>
          <a:solidFill>
            <a:schemeClr val="bg2"/>
          </a:solidFill>
          <a:ln w="15875">
            <a:solidFill>
              <a:schemeClr val="accent3"/>
            </a:solidFill>
            <a:prstDash val="dash"/>
          </a:ln>
        </p:spPr>
      </p:sp>
      <p:pic>
        <p:nvPicPr>
          <p:cNvPr id="17" name="visual-icon-327" descr="CHART  ·  Statewide history + August forecast with interval">    </p:cNvPr>
          <p:cNvPicPr>
            <a:picLocks noChangeAspect="1"/>
          </p:cNvPicPr>
          <p:nvPr/>
        </p:nvPicPr>
        <p:blipFill>
          <a:blip r:embed="rId1"/>
          <a:stretch>
            <a:fillRect/>
          </a:stretch>
        </p:blipFill>
        <p:spPr>
          <a:xfrm>
            <a:off x="5821528" y="4091940"/>
            <a:ext cx="548640" cy="548640"/>
          </a:xfrm>
          <a:prstGeom prst="rect">
            <a:avLst/>
          </a:prstGeom>
        </p:spPr>
      </p:pic>
      <p:sp>
        <p:nvSpPr>
          <p:cNvPr id="18" name="visual-label-328"/>
          <p:cNvSpPr txBox="1"/>
          <p:nvPr/>
        </p:nvSpPr>
        <p:spPr>
          <a:xfrm>
            <a:off x="822960" y="4732020"/>
            <a:ext cx="10545775" cy="365760"/>
          </a:xfrm>
          <a:prstGeom prst="rect">
            <a:avLst/>
          </a:prstGeom>
          <a:noFill/>
          <a:ln/>
        </p:spPr>
        <p:txBody>
          <a:bodyPr wrap="square" lIns="0" tIns="0" rIns="0" bIns="0" rtlCol="0" anchor="ctr"/>
          <a:lstStyle/>
          <a:p>
            <a:pPr algn="ctr" indent="0" marL="0">
              <a:buNone/>
            </a:pPr>
            <a:r>
              <a:rPr lang="en-US" sz="1400" b="1" dirty="0">
                <a:solidFill>
                  <a:schemeClr val="tx2"/>
                </a:solidFill>
              </a:rPr>
              <a:t>CHART  ·  Statewide history + August forecast with interval</a:t>
            </a:r>
            <a:endParaRPr lang="en-US" sz="1400" dirty="0"/>
          </a:p>
        </p:txBody>
      </p:sp>
      <p:sp>
        <p:nvSpPr>
          <p:cNvPr id="19" name="visual-hint-329"/>
          <p:cNvSpPr txBox="1"/>
          <p:nvPr/>
        </p:nvSpPr>
        <p:spPr>
          <a:xfrm>
            <a:off x="822960" y="5143500"/>
            <a:ext cx="10545775" cy="891540"/>
          </a:xfrm>
          <a:prstGeom prst="rect">
            <a:avLst/>
          </a:prstGeom>
          <a:noFill/>
          <a:ln/>
        </p:spPr>
        <p:txBody>
          <a:bodyPr wrap="square" lIns="0" tIns="0" rIns="0" bIns="0" rtlCol="0" anchor="t"/>
          <a:lstStyle/>
          <a:p>
            <a:pPr algn="ctr" indent="0" marL="0">
              <a:buNone/>
            </a:pPr>
            <a:r>
              <a:rPr lang="en-US" sz="1200" i="1" dirty="0">
                <a:solidFill>
                  <a:schemeClr val="accent5"/>
                </a:solidFill>
              </a:rPr>
              <a:t>[or top-county forecast table]</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PUTTING IT TOGETHER</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one picture of need and demand across Minnesota]</a:t>
            </a:r>
            <a:endParaRPr lang="en-US" sz="3000" dirty="0"/>
          </a:p>
        </p:txBody>
      </p:sp>
      <p:sp>
        <p:nvSpPr>
          <p:cNvPr id="4" name="quad-330"/>
          <p:cNvSpPr/>
          <p:nvPr/>
        </p:nvSpPr>
        <p:spPr>
          <a:xfrm>
            <a:off x="1463040" y="1783080"/>
            <a:ext cx="4937760" cy="2011680"/>
          </a:xfrm>
          <a:prstGeom prst="roundRect">
            <a:avLst>
              <a:gd name="adj" fmla="val 4545"/>
            </a:avLst>
          </a:prstGeom>
          <a:solidFill>
            <a:schemeClr val="accent2"/>
          </a:solidFill>
          <a:ln/>
        </p:spPr>
      </p:sp>
      <p:sp>
        <p:nvSpPr>
          <p:cNvPr id="5" name="quad-t-331"/>
          <p:cNvSpPr txBox="1"/>
          <p:nvPr/>
        </p:nvSpPr>
        <p:spPr>
          <a:xfrm>
            <a:off x="1737360" y="2011680"/>
            <a:ext cx="4389120" cy="365760"/>
          </a:xfrm>
          <a:prstGeom prst="rect">
            <a:avLst/>
          </a:prstGeom>
          <a:noFill/>
          <a:ln/>
        </p:spPr>
        <p:txBody>
          <a:bodyPr wrap="square" lIns="0" tIns="0" rIns="0" bIns="0" rtlCol="0" anchor="ctr"/>
          <a:lstStyle/>
          <a:p>
            <a:pPr indent="0" marL="0">
              <a:buNone/>
            </a:pPr>
            <a:r>
              <a:rPr lang="en-US" sz="1700" b="1" dirty="0">
                <a:solidFill>
                  <a:schemeClr val="bg1"/>
                </a:solidFill>
              </a:rPr>
              <a:t>High need · Low activity</a:t>
            </a:r>
            <a:endParaRPr lang="en-US" sz="1700" dirty="0"/>
          </a:p>
        </p:txBody>
      </p:sp>
      <p:sp>
        <p:nvSpPr>
          <p:cNvPr id="6" name="quad-d-332"/>
          <p:cNvSpPr txBox="1"/>
          <p:nvPr/>
        </p:nvSpPr>
        <p:spPr>
          <a:xfrm>
            <a:off x="1737360" y="2423160"/>
            <a:ext cx="4389120" cy="365760"/>
          </a:xfrm>
          <a:prstGeom prst="rect">
            <a:avLst/>
          </a:prstGeom>
          <a:noFill/>
          <a:ln/>
        </p:spPr>
        <p:txBody>
          <a:bodyPr wrap="square" lIns="0" tIns="0" rIns="0" bIns="0" rtlCol="0" anchor="ctr"/>
          <a:lstStyle/>
          <a:p>
            <a:pPr indent="0" marL="0">
              <a:buNone/>
            </a:pPr>
            <a:r>
              <a:rPr lang="en-US" sz="1400" b="1" i="1" dirty="0">
                <a:solidFill>
                  <a:schemeClr val="bg1"/>
                </a:solidFill>
              </a:rPr>
              <a:t>[Underserved: priority counties]</a:t>
            </a:r>
            <a:endParaRPr lang="en-US" sz="1400" dirty="0"/>
          </a:p>
        </p:txBody>
      </p:sp>
      <p:sp>
        <p:nvSpPr>
          <p:cNvPr id="7" name="quad-c-333"/>
          <p:cNvSpPr txBox="1"/>
          <p:nvPr/>
        </p:nvSpPr>
        <p:spPr>
          <a:xfrm>
            <a:off x="1737360" y="2880360"/>
            <a:ext cx="4389120" cy="822960"/>
          </a:xfrm>
          <a:prstGeom prst="rect">
            <a:avLst/>
          </a:prstGeom>
          <a:noFill/>
          <a:ln/>
        </p:spPr>
        <p:txBody>
          <a:bodyPr wrap="square" lIns="0" tIns="0" rIns="0" bIns="0" rtlCol="0" anchor="t"/>
          <a:lstStyle/>
          <a:p>
            <a:pPr indent="0" marL="0">
              <a:buNone/>
            </a:pPr>
            <a:r>
              <a:rPr lang="en-US" sz="1400" i="1" dirty="0">
                <a:solidFill>
                  <a:schemeClr val="bg1"/>
                </a:solidFill>
              </a:rPr>
              <a:t>[Example counties]</a:t>
            </a:r>
            <a:endParaRPr lang="en-US" sz="1400" dirty="0"/>
          </a:p>
        </p:txBody>
      </p:sp>
      <p:sp>
        <p:nvSpPr>
          <p:cNvPr id="8" name="quad-334"/>
          <p:cNvSpPr/>
          <p:nvPr/>
        </p:nvSpPr>
        <p:spPr>
          <a:xfrm>
            <a:off x="6537960" y="1783080"/>
            <a:ext cx="4937760" cy="2011680"/>
          </a:xfrm>
          <a:prstGeom prst="roundRect">
            <a:avLst>
              <a:gd name="adj" fmla="val 4545"/>
            </a:avLst>
          </a:prstGeom>
          <a:solidFill>
            <a:schemeClr val="bg2"/>
          </a:solidFill>
          <a:ln/>
        </p:spPr>
      </p:sp>
      <p:sp>
        <p:nvSpPr>
          <p:cNvPr id="9" name="quad-t-335"/>
          <p:cNvSpPr txBox="1"/>
          <p:nvPr/>
        </p:nvSpPr>
        <p:spPr>
          <a:xfrm>
            <a:off x="6812280" y="2011680"/>
            <a:ext cx="4389120" cy="365760"/>
          </a:xfrm>
          <a:prstGeom prst="rect">
            <a:avLst/>
          </a:prstGeom>
          <a:noFill/>
          <a:ln/>
        </p:spPr>
        <p:txBody>
          <a:bodyPr wrap="square" lIns="0" tIns="0" rIns="0" bIns="0" rtlCol="0" anchor="ctr"/>
          <a:lstStyle/>
          <a:p>
            <a:pPr indent="0" marL="0">
              <a:buNone/>
            </a:pPr>
            <a:r>
              <a:rPr lang="en-US" sz="1700" b="1" dirty="0">
                <a:solidFill>
                  <a:schemeClr val="tx2"/>
                </a:solidFill>
              </a:rPr>
              <a:t>High need · High activity</a:t>
            </a:r>
            <a:endParaRPr lang="en-US" sz="1700" dirty="0"/>
          </a:p>
        </p:txBody>
      </p:sp>
      <p:sp>
        <p:nvSpPr>
          <p:cNvPr id="10" name="quad-d-336"/>
          <p:cNvSpPr txBox="1"/>
          <p:nvPr/>
        </p:nvSpPr>
        <p:spPr>
          <a:xfrm>
            <a:off x="6812280" y="2423160"/>
            <a:ext cx="4389120" cy="365760"/>
          </a:xfrm>
          <a:prstGeom prst="rect">
            <a:avLst/>
          </a:prstGeom>
          <a:noFill/>
          <a:ln/>
        </p:spPr>
        <p:txBody>
          <a:bodyPr wrap="square" lIns="0" tIns="0" rIns="0" bIns="0" rtlCol="0" anchor="ctr"/>
          <a:lstStyle/>
          <a:p>
            <a:pPr indent="0" marL="0">
              <a:buNone/>
            </a:pPr>
            <a:r>
              <a:rPr lang="en-US" sz="1400" b="1" i="1" dirty="0">
                <a:solidFill>
                  <a:schemeClr val="accent5"/>
                </a:solidFill>
              </a:rPr>
              <a:t>[Aligned: system is working]</a:t>
            </a:r>
            <a:endParaRPr lang="en-US" sz="1400" dirty="0"/>
          </a:p>
        </p:txBody>
      </p:sp>
      <p:sp>
        <p:nvSpPr>
          <p:cNvPr id="11" name="quad-c-337"/>
          <p:cNvSpPr txBox="1"/>
          <p:nvPr/>
        </p:nvSpPr>
        <p:spPr>
          <a:xfrm>
            <a:off x="6812280" y="2880360"/>
            <a:ext cx="4389120" cy="822960"/>
          </a:xfrm>
          <a:prstGeom prst="rect">
            <a:avLst/>
          </a:prstGeom>
          <a:noFill/>
          <a:ln/>
        </p:spPr>
        <p:txBody>
          <a:bodyPr wrap="square" lIns="0" tIns="0" rIns="0" bIns="0" rtlCol="0" anchor="t"/>
          <a:lstStyle/>
          <a:p>
            <a:pPr indent="0" marL="0">
              <a:buNone/>
            </a:pPr>
            <a:r>
              <a:rPr lang="en-US" sz="1400" i="1" dirty="0">
                <a:solidFill>
                  <a:schemeClr val="accent5"/>
                </a:solidFill>
              </a:rPr>
              <a:t>[Example counties]</a:t>
            </a:r>
            <a:endParaRPr lang="en-US" sz="1400" dirty="0"/>
          </a:p>
        </p:txBody>
      </p:sp>
      <p:sp>
        <p:nvSpPr>
          <p:cNvPr id="12" name="quad-338"/>
          <p:cNvSpPr/>
          <p:nvPr/>
        </p:nvSpPr>
        <p:spPr>
          <a:xfrm>
            <a:off x="1463040" y="3931920"/>
            <a:ext cx="4937760" cy="2011680"/>
          </a:xfrm>
          <a:prstGeom prst="roundRect">
            <a:avLst>
              <a:gd name="adj" fmla="val 4545"/>
            </a:avLst>
          </a:prstGeom>
          <a:solidFill>
            <a:schemeClr val="bg2"/>
          </a:solidFill>
          <a:ln/>
        </p:spPr>
      </p:sp>
      <p:sp>
        <p:nvSpPr>
          <p:cNvPr id="13" name="quad-t-339"/>
          <p:cNvSpPr txBox="1"/>
          <p:nvPr/>
        </p:nvSpPr>
        <p:spPr>
          <a:xfrm>
            <a:off x="1737360" y="4160520"/>
            <a:ext cx="4389120" cy="365760"/>
          </a:xfrm>
          <a:prstGeom prst="rect">
            <a:avLst/>
          </a:prstGeom>
          <a:noFill/>
          <a:ln/>
        </p:spPr>
        <p:txBody>
          <a:bodyPr wrap="square" lIns="0" tIns="0" rIns="0" bIns="0" rtlCol="0" anchor="ctr"/>
          <a:lstStyle/>
          <a:p>
            <a:pPr indent="0" marL="0">
              <a:buNone/>
            </a:pPr>
            <a:r>
              <a:rPr lang="en-US" sz="1700" b="1" dirty="0">
                <a:solidFill>
                  <a:schemeClr val="tx2"/>
                </a:solidFill>
              </a:rPr>
              <a:t>Low need · Low activity</a:t>
            </a:r>
            <a:endParaRPr lang="en-US" sz="1700" dirty="0"/>
          </a:p>
        </p:txBody>
      </p:sp>
      <p:sp>
        <p:nvSpPr>
          <p:cNvPr id="14" name="quad-d-340"/>
          <p:cNvSpPr txBox="1"/>
          <p:nvPr/>
        </p:nvSpPr>
        <p:spPr>
          <a:xfrm>
            <a:off x="1737360" y="4572000"/>
            <a:ext cx="4389120" cy="365760"/>
          </a:xfrm>
          <a:prstGeom prst="rect">
            <a:avLst/>
          </a:prstGeom>
          <a:noFill/>
          <a:ln/>
        </p:spPr>
        <p:txBody>
          <a:bodyPr wrap="square" lIns="0" tIns="0" rIns="0" bIns="0" rtlCol="0" anchor="ctr"/>
          <a:lstStyle/>
          <a:p>
            <a:pPr indent="0" marL="0">
              <a:buNone/>
            </a:pPr>
            <a:r>
              <a:rPr lang="en-US" sz="1400" b="1" i="1" dirty="0">
                <a:solidFill>
                  <a:schemeClr val="accent5"/>
                </a:solidFill>
              </a:rPr>
              <a:t>[Low priority]</a:t>
            </a:r>
            <a:endParaRPr lang="en-US" sz="1400" dirty="0"/>
          </a:p>
        </p:txBody>
      </p:sp>
      <p:sp>
        <p:nvSpPr>
          <p:cNvPr id="15" name="quad-c-341"/>
          <p:cNvSpPr txBox="1"/>
          <p:nvPr/>
        </p:nvSpPr>
        <p:spPr>
          <a:xfrm>
            <a:off x="1737360" y="5029200"/>
            <a:ext cx="4389120" cy="822960"/>
          </a:xfrm>
          <a:prstGeom prst="rect">
            <a:avLst/>
          </a:prstGeom>
          <a:noFill/>
          <a:ln/>
        </p:spPr>
        <p:txBody>
          <a:bodyPr wrap="square" lIns="0" tIns="0" rIns="0" bIns="0" rtlCol="0" anchor="t"/>
          <a:lstStyle/>
          <a:p>
            <a:pPr indent="0" marL="0">
              <a:buNone/>
            </a:pPr>
            <a:r>
              <a:rPr lang="en-US" sz="1400" i="1" dirty="0">
                <a:solidFill>
                  <a:schemeClr val="accent5"/>
                </a:solidFill>
              </a:rPr>
              <a:t>[Example counties]</a:t>
            </a:r>
            <a:endParaRPr lang="en-US" sz="1400" dirty="0"/>
          </a:p>
        </p:txBody>
      </p:sp>
      <p:sp>
        <p:nvSpPr>
          <p:cNvPr id="16" name="quad-342"/>
          <p:cNvSpPr/>
          <p:nvPr/>
        </p:nvSpPr>
        <p:spPr>
          <a:xfrm>
            <a:off x="6537960" y="3931920"/>
            <a:ext cx="4937760" cy="2011680"/>
          </a:xfrm>
          <a:prstGeom prst="roundRect">
            <a:avLst>
              <a:gd name="adj" fmla="val 4545"/>
            </a:avLst>
          </a:prstGeom>
          <a:solidFill>
            <a:schemeClr val="bg2"/>
          </a:solidFill>
          <a:ln/>
        </p:spPr>
      </p:sp>
      <p:sp>
        <p:nvSpPr>
          <p:cNvPr id="17" name="quad-t-343"/>
          <p:cNvSpPr txBox="1"/>
          <p:nvPr/>
        </p:nvSpPr>
        <p:spPr>
          <a:xfrm>
            <a:off x="6812280" y="4160520"/>
            <a:ext cx="4389120" cy="365760"/>
          </a:xfrm>
          <a:prstGeom prst="rect">
            <a:avLst/>
          </a:prstGeom>
          <a:noFill/>
          <a:ln/>
        </p:spPr>
        <p:txBody>
          <a:bodyPr wrap="square" lIns="0" tIns="0" rIns="0" bIns="0" rtlCol="0" anchor="ctr"/>
          <a:lstStyle/>
          <a:p>
            <a:pPr indent="0" marL="0">
              <a:buNone/>
            </a:pPr>
            <a:r>
              <a:rPr lang="en-US" sz="1700" b="1" dirty="0">
                <a:solidFill>
                  <a:schemeClr val="tx2"/>
                </a:solidFill>
              </a:rPr>
              <a:t>Low need · High activity</a:t>
            </a:r>
            <a:endParaRPr lang="en-US" sz="1700" dirty="0"/>
          </a:p>
        </p:txBody>
      </p:sp>
      <p:sp>
        <p:nvSpPr>
          <p:cNvPr id="18" name="quad-d-344"/>
          <p:cNvSpPr txBox="1"/>
          <p:nvPr/>
        </p:nvSpPr>
        <p:spPr>
          <a:xfrm>
            <a:off x="6812280" y="4572000"/>
            <a:ext cx="4389120" cy="365760"/>
          </a:xfrm>
          <a:prstGeom prst="rect">
            <a:avLst/>
          </a:prstGeom>
          <a:noFill/>
          <a:ln/>
        </p:spPr>
        <p:txBody>
          <a:bodyPr wrap="square" lIns="0" tIns="0" rIns="0" bIns="0" rtlCol="0" anchor="ctr"/>
          <a:lstStyle/>
          <a:p>
            <a:pPr indent="0" marL="0">
              <a:buNone/>
            </a:pPr>
            <a:r>
              <a:rPr lang="en-US" sz="1400" b="1" i="1" dirty="0">
                <a:solidFill>
                  <a:schemeClr val="accent5"/>
                </a:solidFill>
              </a:rPr>
              <a:t>[Access-driven demand]</a:t>
            </a:r>
            <a:endParaRPr lang="en-US" sz="1400" dirty="0"/>
          </a:p>
        </p:txBody>
      </p:sp>
      <p:sp>
        <p:nvSpPr>
          <p:cNvPr id="19" name="quad-c-345"/>
          <p:cNvSpPr txBox="1"/>
          <p:nvPr/>
        </p:nvSpPr>
        <p:spPr>
          <a:xfrm>
            <a:off x="6812280" y="5029200"/>
            <a:ext cx="4389120" cy="822960"/>
          </a:xfrm>
          <a:prstGeom prst="rect">
            <a:avLst/>
          </a:prstGeom>
          <a:noFill/>
          <a:ln/>
        </p:spPr>
        <p:txBody>
          <a:bodyPr wrap="square" lIns="0" tIns="0" rIns="0" bIns="0" rtlCol="0" anchor="t"/>
          <a:lstStyle/>
          <a:p>
            <a:pPr indent="0" marL="0">
              <a:buNone/>
            </a:pPr>
            <a:r>
              <a:rPr lang="en-US" sz="1400" i="1" dirty="0">
                <a:solidFill>
                  <a:schemeClr val="accent5"/>
                </a:solidFill>
              </a:rPr>
              <a:t>[Example counties]</a:t>
            </a:r>
            <a:endParaRPr lang="en-US" sz="1400" dirty="0"/>
          </a:p>
        </p:txBody>
      </p:sp>
      <p:sp>
        <p:nvSpPr>
          <p:cNvPr id="20" name="axis-y-346"/>
          <p:cNvSpPr txBox="1"/>
          <p:nvPr/>
        </p:nvSpPr>
        <p:spPr>
          <a:xfrm rot="16200000">
            <a:off x="-1303020" y="3680460"/>
            <a:ext cx="4160520" cy="365760"/>
          </a:xfrm>
          <a:prstGeom prst="rect">
            <a:avLst/>
          </a:prstGeom>
          <a:noFill/>
          <a:ln/>
        </p:spPr>
        <p:txBody>
          <a:bodyPr wrap="square" lIns="0" tIns="0" rIns="0" bIns="0" rtlCol="0" anchor="ctr"/>
          <a:lstStyle/>
          <a:p>
            <a:pPr algn="ctr" indent="0" marL="0">
              <a:buNone/>
            </a:pPr>
            <a:r>
              <a:rPr lang="en-US" sz="1200" b="1" spc="300" kern="0" dirty="0">
                <a:solidFill>
                  <a:schemeClr val="accent5"/>
                </a:solidFill>
              </a:rPr>
              <a:t>NEED  →</a:t>
            </a:r>
            <a:endParaRPr lang="en-US" sz="1200" dirty="0"/>
          </a:p>
        </p:txBody>
      </p:sp>
      <p:sp>
        <p:nvSpPr>
          <p:cNvPr id="21" name="axis-x-347"/>
          <p:cNvSpPr txBox="1"/>
          <p:nvPr/>
        </p:nvSpPr>
        <p:spPr>
          <a:xfrm>
            <a:off x="1463040" y="6035040"/>
            <a:ext cx="10012680" cy="274320"/>
          </a:xfrm>
          <a:prstGeom prst="rect">
            <a:avLst/>
          </a:prstGeom>
          <a:noFill/>
          <a:ln/>
        </p:spPr>
        <p:txBody>
          <a:bodyPr wrap="square" lIns="0" tIns="0" rIns="0" bIns="0" rtlCol="0" anchor="ctr"/>
          <a:lstStyle/>
          <a:p>
            <a:pPr algn="ctr" indent="0" marL="0">
              <a:buNone/>
            </a:pPr>
            <a:r>
              <a:rPr lang="en-US" sz="1200" b="1" spc="300" kern="0" dirty="0">
                <a:solidFill>
                  <a:schemeClr val="accent5"/>
                </a:solidFill>
              </a:rPr>
              <a:t>FOOD SHELF ACTIVITY  →</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RECOMMENDATIONS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what The Food Group should do next]</a:t>
            </a:r>
            <a:endParaRPr lang="en-US" sz="3000" dirty="0"/>
          </a:p>
        </p:txBody>
      </p:sp>
      <p:sp>
        <p:nvSpPr>
          <p:cNvPr id="4" name="card-348"/>
          <p:cNvSpPr/>
          <p:nvPr/>
        </p:nvSpPr>
        <p:spPr>
          <a:xfrm>
            <a:off x="548640"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5" name="card-badge-349"/>
          <p:cNvSpPr/>
          <p:nvPr/>
        </p:nvSpPr>
        <p:spPr>
          <a:xfrm>
            <a:off x="822960" y="2011680"/>
            <a:ext cx="566928" cy="566928"/>
          </a:xfrm>
          <a:prstGeom prst="ellipse">
            <a:avLst/>
          </a:prstGeom>
          <a:solidFill>
            <a:schemeClr val="tx2"/>
          </a:solidFill>
          <a:ln/>
        </p:spPr>
      </p:sp>
      <p:pic>
        <p:nvPicPr>
          <p:cNvPr id="6" name="card-icon-350" descr="Allocate resources">    </p:cNvPr>
          <p:cNvPicPr>
            <a:picLocks noChangeAspect="1"/>
          </p:cNvPicPr>
          <p:nvPr/>
        </p:nvPicPr>
        <p:blipFill>
          <a:blip r:embed="rId1"/>
          <a:stretch>
            <a:fillRect/>
          </a:stretch>
        </p:blipFill>
        <p:spPr>
          <a:xfrm>
            <a:off x="959023" y="2147743"/>
            <a:ext cx="294803" cy="294803"/>
          </a:xfrm>
          <a:prstGeom prst="rect">
            <a:avLst/>
          </a:prstGeom>
        </p:spPr>
      </p:pic>
      <p:sp>
        <p:nvSpPr>
          <p:cNvPr id="7" name="card-head-351"/>
          <p:cNvSpPr txBox="1"/>
          <p:nvPr/>
        </p:nvSpPr>
        <p:spPr>
          <a:xfrm>
            <a:off x="822960"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Allocate resources</a:t>
            </a:r>
            <a:endParaRPr lang="en-US" sz="1800" dirty="0"/>
          </a:p>
        </p:txBody>
      </p:sp>
      <p:sp>
        <p:nvSpPr>
          <p:cNvPr id="8" name="card-body-352"/>
          <p:cNvSpPr txBox="1"/>
          <p:nvPr/>
        </p:nvSpPr>
        <p:spPr>
          <a:xfrm>
            <a:off x="822960"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[Action + the finding behind it (Q#)]</a:t>
            </a:r>
            <a:endParaRPr lang="en-US" sz="1400" dirty="0"/>
          </a:p>
        </p:txBody>
      </p:sp>
      <p:sp>
        <p:nvSpPr>
          <p:cNvPr id="9" name="card-353"/>
          <p:cNvSpPr/>
          <p:nvPr/>
        </p:nvSpPr>
        <p:spPr>
          <a:xfrm>
            <a:off x="3390824"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0" name="card-badge-354"/>
          <p:cNvSpPr/>
          <p:nvPr/>
        </p:nvSpPr>
        <p:spPr>
          <a:xfrm>
            <a:off x="3665144" y="2011680"/>
            <a:ext cx="566928" cy="566928"/>
          </a:xfrm>
          <a:prstGeom prst="ellipse">
            <a:avLst/>
          </a:prstGeom>
          <a:solidFill>
            <a:schemeClr val="tx2"/>
          </a:solidFill>
          <a:ln/>
        </p:spPr>
      </p:sp>
      <p:pic>
        <p:nvPicPr>
          <p:cNvPr id="11" name="card-icon-355" descr="Site new food shelves">    </p:cNvPr>
          <p:cNvPicPr>
            <a:picLocks noChangeAspect="1"/>
          </p:cNvPicPr>
          <p:nvPr/>
        </p:nvPicPr>
        <p:blipFill>
          <a:blip r:embed="rId2"/>
          <a:stretch>
            <a:fillRect/>
          </a:stretch>
        </p:blipFill>
        <p:spPr>
          <a:xfrm>
            <a:off x="3801207" y="2147743"/>
            <a:ext cx="294803" cy="294803"/>
          </a:xfrm>
          <a:prstGeom prst="rect">
            <a:avLst/>
          </a:prstGeom>
        </p:spPr>
      </p:pic>
      <p:sp>
        <p:nvSpPr>
          <p:cNvPr id="12" name="card-head-356"/>
          <p:cNvSpPr txBox="1"/>
          <p:nvPr/>
        </p:nvSpPr>
        <p:spPr>
          <a:xfrm>
            <a:off x="3665144"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Site new food shelves</a:t>
            </a:r>
            <a:endParaRPr lang="en-US" sz="1800" dirty="0"/>
          </a:p>
        </p:txBody>
      </p:sp>
      <p:sp>
        <p:nvSpPr>
          <p:cNvPr id="13" name="card-body-357"/>
          <p:cNvSpPr txBox="1"/>
          <p:nvPr/>
        </p:nvSpPr>
        <p:spPr>
          <a:xfrm>
            <a:off x="3665144"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[Action + the finding behind it (Q#)]</a:t>
            </a:r>
            <a:endParaRPr lang="en-US" sz="1400" dirty="0"/>
          </a:p>
        </p:txBody>
      </p:sp>
      <p:sp>
        <p:nvSpPr>
          <p:cNvPr id="14" name="card-358"/>
          <p:cNvSpPr/>
          <p:nvPr/>
        </p:nvSpPr>
        <p:spPr>
          <a:xfrm>
            <a:off x="6233008"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5" name="card-badge-359"/>
          <p:cNvSpPr/>
          <p:nvPr/>
        </p:nvSpPr>
        <p:spPr>
          <a:xfrm>
            <a:off x="6507328" y="2011680"/>
            <a:ext cx="566928" cy="566928"/>
          </a:xfrm>
          <a:prstGeom prst="ellipse">
            <a:avLst/>
          </a:prstGeom>
          <a:solidFill>
            <a:schemeClr val="tx2"/>
          </a:solidFill>
          <a:ln/>
        </p:spPr>
      </p:sp>
      <p:pic>
        <p:nvPicPr>
          <p:cNvPr id="16" name="card-icon-360" descr="Advocate for policy">    </p:cNvPr>
          <p:cNvPicPr>
            <a:picLocks noChangeAspect="1"/>
          </p:cNvPicPr>
          <p:nvPr/>
        </p:nvPicPr>
        <p:blipFill>
          <a:blip r:embed="rId3"/>
          <a:stretch>
            <a:fillRect/>
          </a:stretch>
        </p:blipFill>
        <p:spPr>
          <a:xfrm>
            <a:off x="6643390" y="2147743"/>
            <a:ext cx="294803" cy="294803"/>
          </a:xfrm>
          <a:prstGeom prst="rect">
            <a:avLst/>
          </a:prstGeom>
        </p:spPr>
      </p:pic>
      <p:sp>
        <p:nvSpPr>
          <p:cNvPr id="17" name="card-head-361"/>
          <p:cNvSpPr txBox="1"/>
          <p:nvPr/>
        </p:nvSpPr>
        <p:spPr>
          <a:xfrm>
            <a:off x="6507328"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Advocate for policy</a:t>
            </a:r>
            <a:endParaRPr lang="en-US" sz="1800" dirty="0"/>
          </a:p>
        </p:txBody>
      </p:sp>
      <p:sp>
        <p:nvSpPr>
          <p:cNvPr id="18" name="card-body-362"/>
          <p:cNvSpPr txBox="1"/>
          <p:nvPr/>
        </p:nvSpPr>
        <p:spPr>
          <a:xfrm>
            <a:off x="6507328"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[Action + the finding behind it (Q#)]</a:t>
            </a:r>
            <a:endParaRPr lang="en-US" sz="1400" dirty="0"/>
          </a:p>
        </p:txBody>
      </p:sp>
      <p:sp>
        <p:nvSpPr>
          <p:cNvPr id="19" name="card-363"/>
          <p:cNvSpPr/>
          <p:nvPr/>
        </p:nvSpPr>
        <p:spPr>
          <a:xfrm>
            <a:off x="9075191" y="1737360"/>
            <a:ext cx="2567864" cy="3383280"/>
          </a:xfrm>
          <a:prstGeom prst="roundRect">
            <a:avLst>
              <a:gd name="adj" fmla="val 4273"/>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20" name="card-badge-364"/>
          <p:cNvSpPr/>
          <p:nvPr/>
        </p:nvSpPr>
        <p:spPr>
          <a:xfrm>
            <a:off x="9349511" y="2011680"/>
            <a:ext cx="566928" cy="566928"/>
          </a:xfrm>
          <a:prstGeom prst="ellipse">
            <a:avLst/>
          </a:prstGeom>
          <a:solidFill>
            <a:schemeClr val="tx2"/>
          </a:solidFill>
          <a:ln/>
        </p:spPr>
      </p:sp>
      <p:pic>
        <p:nvPicPr>
          <p:cNvPr id="21" name="card-icon-365" descr="Measure results">    </p:cNvPr>
          <p:cNvPicPr>
            <a:picLocks noChangeAspect="1"/>
          </p:cNvPicPr>
          <p:nvPr/>
        </p:nvPicPr>
        <p:blipFill>
          <a:blip r:embed="rId4"/>
          <a:stretch>
            <a:fillRect/>
          </a:stretch>
        </p:blipFill>
        <p:spPr>
          <a:xfrm>
            <a:off x="9485574" y="2147743"/>
            <a:ext cx="294803" cy="294803"/>
          </a:xfrm>
          <a:prstGeom prst="rect">
            <a:avLst/>
          </a:prstGeom>
        </p:spPr>
      </p:pic>
      <p:sp>
        <p:nvSpPr>
          <p:cNvPr id="22" name="card-head-366"/>
          <p:cNvSpPr txBox="1"/>
          <p:nvPr/>
        </p:nvSpPr>
        <p:spPr>
          <a:xfrm>
            <a:off x="9349511" y="2697480"/>
            <a:ext cx="2019224" cy="640080"/>
          </a:xfrm>
          <a:prstGeom prst="rect">
            <a:avLst/>
          </a:prstGeom>
          <a:noFill/>
          <a:ln/>
        </p:spPr>
        <p:txBody>
          <a:bodyPr wrap="square" lIns="0" tIns="0" rIns="0" bIns="0" rtlCol="0" anchor="t"/>
          <a:lstStyle/>
          <a:p>
            <a:pPr indent="0" marL="0">
              <a:buNone/>
            </a:pPr>
            <a:r>
              <a:rPr lang="en-US" sz="1800" b="1" dirty="0">
                <a:solidFill>
                  <a:schemeClr val="tx2"/>
                </a:solidFill>
              </a:rPr>
              <a:t>Measure results</a:t>
            </a:r>
            <a:endParaRPr lang="en-US" sz="1800" dirty="0"/>
          </a:p>
        </p:txBody>
      </p:sp>
      <p:sp>
        <p:nvSpPr>
          <p:cNvPr id="23" name="card-body-367"/>
          <p:cNvSpPr txBox="1"/>
          <p:nvPr/>
        </p:nvSpPr>
        <p:spPr>
          <a:xfrm>
            <a:off x="9349511" y="3383280"/>
            <a:ext cx="2019224" cy="1508760"/>
          </a:xfrm>
          <a:prstGeom prst="rect">
            <a:avLst/>
          </a:prstGeom>
          <a:noFill/>
          <a:ln/>
        </p:spPr>
        <p:txBody>
          <a:bodyPr wrap="square" lIns="0" tIns="0" rIns="0" bIns="0" rtlCol="0" anchor="t"/>
          <a:lstStyle/>
          <a:p>
            <a:pPr indent="0" marL="0">
              <a:buNone/>
            </a:pPr>
            <a:r>
              <a:rPr lang="en-US" sz="1400" i="1" dirty="0">
                <a:solidFill>
                  <a:schemeClr val="accent5"/>
                </a:solidFill>
              </a:rPr>
              <a:t>[Action + the finding behind it (Q#)]</a:t>
            </a:r>
            <a:endParaRPr lang="en-US" sz="1400" dirty="0"/>
          </a:p>
        </p:txBody>
      </p:sp>
      <p:sp>
        <p:nvSpPr>
          <p:cNvPr id="24" name="takeaway-368"/>
          <p:cNvSpPr/>
          <p:nvPr/>
        </p:nvSpPr>
        <p:spPr>
          <a:xfrm>
            <a:off x="548640" y="5440680"/>
            <a:ext cx="11094415" cy="548640"/>
          </a:xfrm>
          <a:prstGeom prst="roundRect">
            <a:avLst>
              <a:gd name="adj" fmla="val 50000"/>
            </a:avLst>
          </a:prstGeom>
          <a:solidFill>
            <a:schemeClr val="tx2"/>
          </a:solidFill>
          <a:ln/>
        </p:spPr>
      </p:sp>
      <p:pic>
        <p:nvPicPr>
          <p:cNvPr id="25" name="takeaway-icon-369" descr="Takeaway">    </p:cNvPr>
          <p:cNvPicPr>
            <a:picLocks noChangeAspect="1"/>
          </p:cNvPicPr>
          <p:nvPr/>
        </p:nvPicPr>
        <p:blipFill>
          <a:blip r:embed="rId5"/>
          <a:stretch>
            <a:fillRect/>
          </a:stretch>
        </p:blipFill>
        <p:spPr>
          <a:xfrm>
            <a:off x="749808" y="5577840"/>
            <a:ext cx="274320" cy="274320"/>
          </a:xfrm>
          <a:prstGeom prst="rect">
            <a:avLst/>
          </a:prstGeom>
        </p:spPr>
      </p:pic>
      <p:sp>
        <p:nvSpPr>
          <p:cNvPr id="26" name="takeaway-text-370"/>
          <p:cNvSpPr txBox="1"/>
          <p:nvPr/>
        </p:nvSpPr>
        <p:spPr>
          <a:xfrm>
            <a:off x="1143000" y="5440680"/>
            <a:ext cx="10317175" cy="548640"/>
          </a:xfrm>
          <a:prstGeom prst="rect">
            <a:avLst/>
          </a:prstGeom>
          <a:noFill/>
          <a:ln/>
        </p:spPr>
        <p:txBody>
          <a:bodyPr wrap="square" lIns="0" tIns="0" rIns="0" bIns="0" rtlCol="0" anchor="ctr"/>
          <a:lstStyle/>
          <a:p>
            <a:pPr indent="0" marL="0">
              <a:buNone/>
            </a:pPr>
            <a:r>
              <a:rPr lang="en-US" sz="1400" b="1" dirty="0">
                <a:solidFill>
                  <a:schemeClr val="accent2"/>
                </a:solidFill>
              </a:rPr>
              <a:t>So what:  </a:t>
            </a:r>
            <a:pPr indent="0" marL="0">
              <a:buNone/>
            </a:pPr>
            <a:r>
              <a:rPr lang="en-US" sz="1400" i="1" dirty="0">
                <a:solidFill>
                  <a:schemeClr val="bg1"/>
                </a:solidFill>
              </a:rPr>
              <a:t>[The single most important action, in one line]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LIMITS &amp; NEXT STEPS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[Headline: what we can't yet say, and how to fix that]</a:t>
            </a:r>
            <a:endParaRPr lang="en-US" sz="3000" dirty="0"/>
          </a:p>
        </p:txBody>
      </p:sp>
      <p:sp>
        <p:nvSpPr>
          <p:cNvPr id="4" name="card-371"/>
          <p:cNvSpPr/>
          <p:nvPr/>
        </p:nvSpPr>
        <p:spPr>
          <a:xfrm>
            <a:off x="548640" y="1691640"/>
            <a:ext cx="5349240" cy="4526280"/>
          </a:xfrm>
          <a:prstGeom prst="roundRect">
            <a:avLst>
              <a:gd name="adj" fmla="val 2424"/>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5" name="card-badge-372"/>
          <p:cNvSpPr/>
          <p:nvPr/>
        </p:nvSpPr>
        <p:spPr>
          <a:xfrm>
            <a:off x="822960" y="1965960"/>
            <a:ext cx="566928" cy="566928"/>
          </a:xfrm>
          <a:prstGeom prst="ellipse">
            <a:avLst/>
          </a:prstGeom>
          <a:solidFill>
            <a:schemeClr val="accent6"/>
          </a:solidFill>
          <a:ln/>
        </p:spPr>
      </p:sp>
      <p:pic>
        <p:nvPicPr>
          <p:cNvPr id="6" name="card-icon-373" descr="Limitations">    </p:cNvPr>
          <p:cNvPicPr>
            <a:picLocks noChangeAspect="1"/>
          </p:cNvPicPr>
          <p:nvPr/>
        </p:nvPicPr>
        <p:blipFill>
          <a:blip r:embed="rId1"/>
          <a:stretch>
            <a:fillRect/>
          </a:stretch>
        </p:blipFill>
        <p:spPr>
          <a:xfrm>
            <a:off x="959023" y="2102023"/>
            <a:ext cx="294803" cy="294803"/>
          </a:xfrm>
          <a:prstGeom prst="rect">
            <a:avLst/>
          </a:prstGeom>
        </p:spPr>
      </p:pic>
      <p:sp>
        <p:nvSpPr>
          <p:cNvPr id="7" name="card-head-374"/>
          <p:cNvSpPr txBox="1"/>
          <p:nvPr/>
        </p:nvSpPr>
        <p:spPr>
          <a:xfrm>
            <a:off x="822960" y="2651760"/>
            <a:ext cx="4800600" cy="640080"/>
          </a:xfrm>
          <a:prstGeom prst="rect">
            <a:avLst/>
          </a:prstGeom>
          <a:noFill/>
          <a:ln/>
        </p:spPr>
        <p:txBody>
          <a:bodyPr wrap="square" lIns="0" tIns="0" rIns="0" bIns="0" rtlCol="0" anchor="t"/>
          <a:lstStyle/>
          <a:p>
            <a:pPr indent="0" marL="0">
              <a:buNone/>
            </a:pPr>
            <a:r>
              <a:rPr lang="en-US" sz="1800" b="1" dirty="0">
                <a:solidFill>
                  <a:schemeClr val="tx2"/>
                </a:solidFill>
              </a:rPr>
              <a:t>Limitations</a:t>
            </a:r>
            <a:endParaRPr lang="en-US" sz="1800" dirty="0"/>
          </a:p>
        </p:txBody>
      </p:sp>
      <p:sp>
        <p:nvSpPr>
          <p:cNvPr id="8" name="card-body-375"/>
          <p:cNvSpPr txBox="1"/>
          <p:nvPr/>
        </p:nvSpPr>
        <p:spPr>
          <a:xfrm>
            <a:off x="822960" y="3337560"/>
            <a:ext cx="4800600" cy="2651760"/>
          </a:xfrm>
          <a:prstGeom prst="rect">
            <a:avLst/>
          </a:prstGeom>
          <a:noFill/>
          <a:ln/>
        </p:spPr>
        <p:txBody>
          <a:bodyPr wrap="square" lIns="0" tIns="0" rIns="0" bIns="0" rtlCol="0" anchor="t"/>
          <a:lstStyle/>
          <a:p>
            <a:pPr indent="0" marL="0">
              <a:buNone/>
            </a:pPr>
            <a:r>
              <a:rPr lang="en-US" sz="1400" i="1" dirty="0">
                <a:solidFill>
                  <a:schemeClr val="accent5"/>
                </a:solidFill>
              </a:rPr>
              <a:t>[e.g. visits ≠ unique people · MMG is modelled, not measured · SNAP county offices ≠ counties · short time series]</a:t>
            </a:r>
            <a:endParaRPr lang="en-US" sz="1400" dirty="0"/>
          </a:p>
        </p:txBody>
      </p:sp>
      <p:sp>
        <p:nvSpPr>
          <p:cNvPr id="9" name="card-376"/>
          <p:cNvSpPr/>
          <p:nvPr/>
        </p:nvSpPr>
        <p:spPr>
          <a:xfrm>
            <a:off x="6281928" y="1691640"/>
            <a:ext cx="5349240" cy="4526280"/>
          </a:xfrm>
          <a:prstGeom prst="roundRect">
            <a:avLst>
              <a:gd name="adj" fmla="val 2424"/>
            </a:avLst>
          </a:prstGeom>
          <a:solidFill>
            <a:schemeClr val="bg1"/>
          </a:solidFill>
          <a:ln w="9525">
            <a:solidFill>
              <a:schemeClr val="accent4"/>
            </a:solidFill>
            <a:prstDash val="solid"/>
          </a:ln>
          <a:effectLst>
            <a:outerShdw sx="100000" sy="100000" kx="0" ky="0" algn="bl" rotWithShape="0" blurRad="101600" dist="25400" dir="5400000">
              <a:srgbClr val="1B2B24">
                <a:alpha val="12000"/>
              </a:srgbClr>
            </a:outerShdw>
          </a:effectLst>
        </p:spPr>
      </p:sp>
      <p:sp>
        <p:nvSpPr>
          <p:cNvPr id="10" name="card-badge-377"/>
          <p:cNvSpPr/>
          <p:nvPr/>
        </p:nvSpPr>
        <p:spPr>
          <a:xfrm>
            <a:off x="6556248" y="1965960"/>
            <a:ext cx="566928" cy="566928"/>
          </a:xfrm>
          <a:prstGeom prst="ellipse">
            <a:avLst/>
          </a:prstGeom>
          <a:solidFill>
            <a:schemeClr val="accent3"/>
          </a:solidFill>
          <a:ln/>
        </p:spPr>
      </p:sp>
      <p:pic>
        <p:nvPicPr>
          <p:cNvPr id="11" name="card-icon-378" descr="Next steps &amp; data we'd want">    </p:cNvPr>
          <p:cNvPicPr>
            <a:picLocks noChangeAspect="1"/>
          </p:cNvPicPr>
          <p:nvPr/>
        </p:nvPicPr>
        <p:blipFill>
          <a:blip r:embed="rId2"/>
          <a:stretch>
            <a:fillRect/>
          </a:stretch>
        </p:blipFill>
        <p:spPr>
          <a:xfrm>
            <a:off x="6692311" y="2102023"/>
            <a:ext cx="294803" cy="294803"/>
          </a:xfrm>
          <a:prstGeom prst="rect">
            <a:avLst/>
          </a:prstGeom>
        </p:spPr>
      </p:pic>
      <p:sp>
        <p:nvSpPr>
          <p:cNvPr id="12" name="card-head-379"/>
          <p:cNvSpPr txBox="1"/>
          <p:nvPr/>
        </p:nvSpPr>
        <p:spPr>
          <a:xfrm>
            <a:off x="6556248" y="2651760"/>
            <a:ext cx="4800600" cy="640080"/>
          </a:xfrm>
          <a:prstGeom prst="rect">
            <a:avLst/>
          </a:prstGeom>
          <a:noFill/>
          <a:ln/>
        </p:spPr>
        <p:txBody>
          <a:bodyPr wrap="square" lIns="0" tIns="0" rIns="0" bIns="0" rtlCol="0" anchor="t"/>
          <a:lstStyle/>
          <a:p>
            <a:pPr indent="0" marL="0">
              <a:buNone/>
            </a:pPr>
            <a:r>
              <a:rPr lang="en-US" sz="1800" b="1" dirty="0">
                <a:solidFill>
                  <a:schemeClr val="tx2"/>
                </a:solidFill>
              </a:rPr>
              <a:t>Next steps &amp; data we'd want</a:t>
            </a:r>
            <a:endParaRPr lang="en-US" sz="1800" dirty="0"/>
          </a:p>
        </p:txBody>
      </p:sp>
      <p:sp>
        <p:nvSpPr>
          <p:cNvPr id="13" name="card-body-380"/>
          <p:cNvSpPr txBox="1"/>
          <p:nvPr/>
        </p:nvSpPr>
        <p:spPr>
          <a:xfrm>
            <a:off x="6556248" y="3337560"/>
            <a:ext cx="4800600" cy="2651760"/>
          </a:xfrm>
          <a:prstGeom prst="rect">
            <a:avLst/>
          </a:prstGeom>
          <a:noFill/>
          <a:ln/>
        </p:spPr>
        <p:txBody>
          <a:bodyPr wrap="square" lIns="0" tIns="0" rIns="0" bIns="0" rtlCol="0" anchor="t"/>
          <a:lstStyle/>
          <a:p>
            <a:pPr indent="0" marL="0">
              <a:buNone/>
            </a:pPr>
            <a:r>
              <a:rPr lang="en-US" sz="1400" i="1" dirty="0">
                <a:solidFill>
                  <a:schemeClr val="accent5"/>
                </a:solidFill>
              </a:rPr>
              <a:t>[e.g. unique-household IDs · site-level hours · see docs/data_wishlist.md]</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82296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THANK YOU</a:t>
            </a:r>
            <a:endParaRPr lang="en-US" sz="1400" dirty="0"/>
          </a:p>
        </p:txBody>
      </p:sp>
      <p:sp>
        <p:nvSpPr>
          <p:cNvPr id="3" name="Text 0"/>
          <p:cNvSpPr/>
          <p:nvPr>
            <p:ph idx="101" type="title" hasCustomPrompt="1"/>
          </p:nvPr>
        </p:nvSpPr>
        <p:spPr>
          <a:xfrm>
            <a:off x="548640" y="1920240"/>
            <a:ext cx="7863840" cy="182880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[Closing line: the one thing we want you to remember]</a:t>
            </a:r>
            <a:endParaRPr lang="en-US" sz="4400" dirty="0"/>
          </a:p>
        </p:txBody>
      </p:sp>
      <p:sp>
        <p:nvSpPr>
          <p:cNvPr id="4" name="Text 0"/>
          <p:cNvSpPr/>
          <p:nvPr>
            <p:ph idx="102" type="body" hasCustomPrompt="1"/>
          </p:nvPr>
        </p:nvSpPr>
        <p:spPr>
          <a:xfrm>
            <a:off x="548640" y="3886200"/>
            <a:ext cx="7863840" cy="731520"/>
          </a:xfrm>
          <a:prstGeom prst="rect">
            <a:avLst/>
          </a:prstGeom>
          <a:noFill/>
          <a:ln/>
        </p:spPr>
        <p:txBody>
          <a:bodyPr wrap="square" lIns="0" tIns="0" rIns="0" bIns="0" rtlCol="0" anchor="t"/>
          <a:lstStyle/>
          <a:p>
            <a:pPr indent="0" marL="0">
              <a:buNone/>
            </a:pPr>
            <a:r>
              <a:rPr lang="en-US" sz="1800" dirty="0">
                <a:solidFill>
                  <a:schemeClr val="accent4"/>
                </a:solidFill>
              </a:rPr>
              <a:t>Questions?</a:t>
            </a:r>
            <a:endParaRPr lang="en-US" sz="1800" dirty="0"/>
          </a:p>
        </p:txBody>
      </p:sp>
      <p:sp>
        <p:nvSpPr>
          <p:cNvPr id="5" name="Text 0"/>
          <p:cNvSpPr/>
          <p:nvPr>
            <p:ph idx="103" type="body" hasCustomPrompt="1"/>
          </p:nvPr>
        </p:nvSpPr>
        <p:spPr>
          <a:xfrm>
            <a:off x="548640" y="5394960"/>
            <a:ext cx="7863840" cy="731520"/>
          </a:xfrm>
          <a:prstGeom prst="rect">
            <a:avLst/>
          </a:prstGeom>
          <a:noFill/>
          <a:ln/>
        </p:spPr>
        <p:txBody>
          <a:bodyPr wrap="square" lIns="0" tIns="0" rIns="0" bIns="0" rtlCol="0" anchor="t"/>
          <a:lstStyle/>
          <a:p>
            <a:pPr indent="0" marL="0">
              <a:buNone/>
            </a:pPr>
            <a:r>
              <a:rPr lang="en-US" sz="1400" dirty="0">
                <a:solidFill>
                  <a:schemeClr val="accent3"/>
                </a:solidFill>
              </a:rPr>
              <a:t>[Team name]  ·  [contact / repo link]</a:t>
            </a:r>
            <a:endParaRPr lang="en-US" sz="1400" dirty="0"/>
          </a:p>
        </p:txBody>
      </p:sp>
      <p:sp>
        <p:nvSpPr>
          <p:cNvPr id="6" name="motif-381"/>
          <p:cNvSpPr/>
          <p:nvPr/>
        </p:nvSpPr>
        <p:spPr>
          <a:xfrm>
            <a:off x="8869680" y="1280160"/>
            <a:ext cx="1005840" cy="1005840"/>
          </a:xfrm>
          <a:prstGeom prst="ellipse">
            <a:avLst/>
          </a:prstGeom>
          <a:solidFill>
            <a:schemeClr val="accent1"/>
          </a:solidFill>
          <a:ln w="19050">
            <a:solidFill>
              <a:schemeClr val="accent3"/>
            </a:solidFill>
            <a:prstDash val="solid"/>
          </a:ln>
        </p:spPr>
      </p:sp>
      <p:pic>
        <p:nvPicPr>
          <p:cNvPr id="7" name="motif-icon-382" descr="FaDoorOpen">    </p:cNvPr>
          <p:cNvPicPr>
            <a:picLocks noChangeAspect="1"/>
          </p:cNvPicPr>
          <p:nvPr/>
        </p:nvPicPr>
        <p:blipFill>
          <a:blip r:embed="rId1"/>
          <a:stretch>
            <a:fillRect/>
          </a:stretch>
        </p:blipFill>
        <p:spPr>
          <a:xfrm>
            <a:off x="9144000" y="1554480"/>
            <a:ext cx="457200" cy="457200"/>
          </a:xfrm>
          <a:prstGeom prst="rect">
            <a:avLst/>
          </a:prstGeom>
        </p:spPr>
      </p:pic>
      <p:sp>
        <p:nvSpPr>
          <p:cNvPr id="8" name="motif-383"/>
          <p:cNvSpPr/>
          <p:nvPr/>
        </p:nvSpPr>
        <p:spPr>
          <a:xfrm>
            <a:off x="10332720" y="2103120"/>
            <a:ext cx="1005840" cy="1005840"/>
          </a:xfrm>
          <a:prstGeom prst="ellipse">
            <a:avLst/>
          </a:prstGeom>
          <a:solidFill>
            <a:schemeClr val="accent1"/>
          </a:solidFill>
          <a:ln w="19050">
            <a:solidFill>
              <a:schemeClr val="accent3"/>
            </a:solidFill>
            <a:prstDash val="solid"/>
          </a:ln>
        </p:spPr>
      </p:sp>
      <p:pic>
        <p:nvPicPr>
          <p:cNvPr id="9" name="motif-icon-384" descr="FaWeightHanging">    </p:cNvPr>
          <p:cNvPicPr>
            <a:picLocks noChangeAspect="1"/>
          </p:cNvPicPr>
          <p:nvPr/>
        </p:nvPicPr>
        <p:blipFill>
          <a:blip r:embed="rId2"/>
          <a:stretch>
            <a:fillRect/>
          </a:stretch>
        </p:blipFill>
        <p:spPr>
          <a:xfrm>
            <a:off x="10607040" y="2377440"/>
            <a:ext cx="457200" cy="457200"/>
          </a:xfrm>
          <a:prstGeom prst="rect">
            <a:avLst/>
          </a:prstGeom>
        </p:spPr>
      </p:pic>
      <p:sp>
        <p:nvSpPr>
          <p:cNvPr id="10" name="motif-385"/>
          <p:cNvSpPr/>
          <p:nvPr/>
        </p:nvSpPr>
        <p:spPr>
          <a:xfrm>
            <a:off x="9052560" y="3108960"/>
            <a:ext cx="1005840" cy="1005840"/>
          </a:xfrm>
          <a:prstGeom prst="ellipse">
            <a:avLst/>
          </a:prstGeom>
          <a:solidFill>
            <a:schemeClr val="accent1"/>
          </a:solidFill>
          <a:ln w="19050">
            <a:solidFill>
              <a:schemeClr val="accent3"/>
            </a:solidFill>
            <a:prstDash val="solid"/>
          </a:ln>
        </p:spPr>
      </p:sp>
      <p:pic>
        <p:nvPicPr>
          <p:cNvPr id="11" name="motif-icon-386" descr="FaUsers">    </p:cNvPr>
          <p:cNvPicPr>
            <a:picLocks noChangeAspect="1"/>
          </p:cNvPicPr>
          <p:nvPr/>
        </p:nvPicPr>
        <p:blipFill>
          <a:blip r:embed="rId3"/>
          <a:stretch>
            <a:fillRect/>
          </a:stretch>
        </p:blipFill>
        <p:spPr>
          <a:xfrm>
            <a:off x="9326880" y="3383280"/>
            <a:ext cx="457200" cy="457200"/>
          </a:xfrm>
          <a:prstGeom prst="rect">
            <a:avLst/>
          </a:prstGeom>
        </p:spPr>
      </p:pic>
      <p:sp>
        <p:nvSpPr>
          <p:cNvPr id="12" name="motif-387"/>
          <p:cNvSpPr/>
          <p:nvPr/>
        </p:nvSpPr>
        <p:spPr>
          <a:xfrm>
            <a:off x="10515600" y="4023360"/>
            <a:ext cx="1005840" cy="1005840"/>
          </a:xfrm>
          <a:prstGeom prst="ellipse">
            <a:avLst/>
          </a:prstGeom>
          <a:solidFill>
            <a:schemeClr val="accent1"/>
          </a:solidFill>
          <a:ln w="19050">
            <a:solidFill>
              <a:schemeClr val="accent3"/>
            </a:solidFill>
            <a:prstDash val="solid"/>
          </a:ln>
        </p:spPr>
      </p:sp>
      <p:pic>
        <p:nvPicPr>
          <p:cNvPr id="13" name="motif-icon-388" descr="FaMapLocationDot">    </p:cNvPr>
          <p:cNvPicPr>
            <a:picLocks noChangeAspect="1"/>
          </p:cNvPicPr>
          <p:nvPr/>
        </p:nvPicPr>
        <p:blipFill>
          <a:blip r:embed="rId4"/>
          <a:stretch>
            <a:fillRect/>
          </a:stretch>
        </p:blipFill>
        <p:spPr>
          <a:xfrm>
            <a:off x="10789920" y="4297680"/>
            <a:ext cx="457200" cy="457200"/>
          </a:xfrm>
          <a:prstGeom prst="rect">
            <a:avLst/>
          </a:prstGeom>
        </p:spPr>
      </p:pic>
      <p:sp>
        <p:nvSpPr>
          <p:cNvPr id="14" name="motif-389"/>
          <p:cNvSpPr/>
          <p:nvPr/>
        </p:nvSpPr>
        <p:spPr>
          <a:xfrm>
            <a:off x="9235440" y="4846320"/>
            <a:ext cx="1005840" cy="1005840"/>
          </a:xfrm>
          <a:prstGeom prst="ellipse">
            <a:avLst/>
          </a:prstGeom>
          <a:solidFill>
            <a:schemeClr val="accent1"/>
          </a:solidFill>
          <a:ln w="19050">
            <a:solidFill>
              <a:schemeClr val="accent3"/>
            </a:solidFill>
            <a:prstDash val="solid"/>
          </a:ln>
        </p:spPr>
      </p:sp>
      <p:pic>
        <p:nvPicPr>
          <p:cNvPr id="15" name="motif-icon-390" descr="FaCartShopping">    </p:cNvPr>
          <p:cNvPicPr>
            <a:picLocks noChangeAspect="1"/>
          </p:cNvPicPr>
          <p:nvPr/>
        </p:nvPicPr>
        <p:blipFill>
          <a:blip r:embed="rId5"/>
          <a:stretch>
            <a:fillRect/>
          </a:stretch>
        </p:blipFill>
        <p:spPr>
          <a:xfrm>
            <a:off x="9509760" y="5120640"/>
            <a:ext cx="457200" cy="457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3657600" cy="1463040"/>
          </a:xfrm>
          <a:prstGeom prst="rect">
            <a:avLst/>
          </a:prstGeom>
          <a:noFill/>
          <a:ln/>
        </p:spPr>
        <p:txBody>
          <a:bodyPr wrap="square" lIns="0" tIns="0" rIns="0" bIns="0" rtlCol="0" anchor="b"/>
          <a:lstStyle/>
          <a:p>
            <a:pPr indent="0" marL="0">
              <a:buNone/>
            </a:pPr>
            <a:r>
              <a:rPr lang="en-US" sz="9600" b="1" dirty="0">
                <a:solidFill>
                  <a:schemeClr val="accent2"/>
                </a:solidFill>
                <a:latin typeface="Cambria" pitchFamily="34" charset="0"/>
                <a:ea typeface="Cambria" pitchFamily="34" charset="-122"/>
                <a:cs typeface="Cambria" pitchFamily="34" charset="-120"/>
              </a:rPr>
              <a:t>A</a:t>
            </a:r>
            <a:endParaRPr lang="en-US" sz="9600" dirty="0"/>
          </a:p>
        </p:txBody>
      </p:sp>
      <p:sp>
        <p:nvSpPr>
          <p:cNvPr id="3" name="Text 0"/>
          <p:cNvSpPr/>
          <p:nvPr>
            <p:ph idx="101" type="body" hasCustomPrompt="1"/>
          </p:nvPr>
        </p:nvSpPr>
        <p:spPr>
          <a:xfrm>
            <a:off x="548640" y="3017520"/>
            <a:ext cx="731520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BACKUP</a:t>
            </a:r>
            <a:endParaRPr lang="en-US" sz="1400" dirty="0"/>
          </a:p>
        </p:txBody>
      </p:sp>
      <p:sp>
        <p:nvSpPr>
          <p:cNvPr id="4" name="Text 0"/>
          <p:cNvSpPr/>
          <p:nvPr>
            <p:ph idx="102" type="title" hasCustomPrompt="1"/>
          </p:nvPr>
        </p:nvSpPr>
        <p:spPr>
          <a:xfrm>
            <a:off x="548640" y="3429000"/>
            <a:ext cx="6949440" cy="13716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Appendix</a:t>
            </a:r>
            <a:endParaRPr lang="en-US" sz="3600" dirty="0"/>
          </a:p>
        </p:txBody>
      </p:sp>
      <p:sp>
        <p:nvSpPr>
          <p:cNvPr id="5" name="Text 0"/>
          <p:cNvSpPr/>
          <p:nvPr>
            <p:ph idx="103" type="body" hasCustomPrompt="1"/>
          </p:nvPr>
        </p:nvSpPr>
        <p:spPr>
          <a:xfrm>
            <a:off x="548640" y="4892040"/>
            <a:ext cx="6949440" cy="1097280"/>
          </a:xfrm>
          <a:prstGeom prst="rect">
            <a:avLst/>
          </a:prstGeom>
          <a:noFill/>
          <a:ln/>
        </p:spPr>
        <p:txBody>
          <a:bodyPr wrap="square" lIns="0" tIns="0" rIns="0" bIns="0" rtlCol="0" anchor="t"/>
          <a:lstStyle/>
          <a:p>
            <a:pPr indent="0" marL="0">
              <a:buNone/>
            </a:pPr>
            <a:r>
              <a:rPr lang="en-US" sz="1600" dirty="0">
                <a:solidFill>
                  <a:schemeClr val="accent4"/>
                </a:solidFill>
              </a:rPr>
              <a:t>Sources, methods and extra charts for Q&amp;A</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APPENDIX  ·  SOURCES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Data source register</a:t>
            </a:r>
            <a:endParaRPr lang="en-US" sz="3000" dirty="0"/>
          </a:p>
        </p:txBody>
      </p:sp>
      <p:graphicFrame>
        <p:nvGraphicFramePr>
          <p:cNvPr id="30" name="src-table-391"/>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28800"/>
                <a:gridCol w="2926080"/>
                <a:gridCol w="1737360"/>
                <a:gridCol w="1463040"/>
                <a:gridCol w="3139135"/>
              </a:tblGrid>
              <a:tr h="548640">
                <a:tc>
                  <a:txBody>
                    <a:bodyPr/>
                    <a:lstStyle/>
                    <a:p>
                      <a:pPr indent="0" marL="0">
                        <a:buNone/>
                      </a:pPr>
                      <a:r>
                        <a:rPr lang="en-US" sz="1200" b="1" dirty="0">
                          <a:solidFill>
                            <a:schemeClr val="bg1"/>
                          </a:solidFill>
                        </a:rPr>
                        <a:t>Source</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Publisher &amp; exact series</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Geographic grain</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Time grain</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this source</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tx2"/>
                    </a:solidFill>
                  </a:tcPr>
                </a:tc>
              </a:tr>
              <a:tr h="548640">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r>
              <a:tr h="548640">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r>
              <a:tr h="548640">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r>
              <a:tr h="548640">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r>
              <a:tr h="548640">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r>
              <a:tr h="548640">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 ]</a:t>
                      </a:r>
                      <a:endParaRPr lang="en-US" sz="1200" dirty="0"/>
                    </a:p>
                  </a:txBody>
                  <a:tcPr marL="91440" marR="91440" marT="45720" marB="45720" anchor="ctr">
                    <a:lnL w="9525" cap="flat" cmpd="sng" algn="ctr">
                      <a:solidFill>
                        <a:srgbClr val="EEF3EF"/>
                      </a:solidFill>
                      <a:prstDash val="solid"/>
                      <a:round/>
                      <a:headEnd type="none" w="med" len="med"/>
                      <a:tailEnd type="none" w="med" len="med"/>
                    </a:lnL>
                    <a:lnR w="9525" cap="flat" cmpd="sng" algn="ctr">
                      <a:solidFill>
                        <a:srgbClr val="EEF3EF"/>
                      </a:solidFill>
                      <a:prstDash val="solid"/>
                      <a:round/>
                      <a:headEnd type="none" w="med" len="med"/>
                      <a:tailEnd type="none" w="med" len="med"/>
                    </a:lnR>
                    <a:lnT w="9525" cap="flat" cmpd="sng" algn="ctr">
                      <a:solidFill>
                        <a:srgbClr val="EEF3EF"/>
                      </a:solidFill>
                      <a:prstDash val="solid"/>
                      <a:round/>
                      <a:headEnd type="none" w="med" len="med"/>
                      <a:tailEnd type="none" w="med" len="med"/>
                    </a:lnT>
                    <a:lnB w="9525" cap="flat" cmpd="sng" algn="ctr">
                      <a:solidFill>
                        <a:srgbClr val="EEF3E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APPENDIX  ·  METHODS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[Backup: method details for Q&amp;A]</a:t>
            </a:r>
            <a:endParaRPr lang="en-US" sz="3000" dirty="0"/>
          </a:p>
        </p:txBody>
      </p:sp>
      <p:sp>
        <p:nvSpPr>
          <p:cNvPr id="4" name="visual-frame-392"/>
          <p:cNvSpPr/>
          <p:nvPr/>
        </p:nvSpPr>
        <p:spPr>
          <a:xfrm>
            <a:off x="548640" y="1691640"/>
            <a:ext cx="5349240" cy="4526280"/>
          </a:xfrm>
          <a:prstGeom prst="roundRect">
            <a:avLst>
              <a:gd name="adj" fmla="val 2424"/>
            </a:avLst>
          </a:prstGeom>
          <a:solidFill>
            <a:schemeClr val="bg2"/>
          </a:solidFill>
          <a:ln w="15875">
            <a:solidFill>
              <a:schemeClr val="accent3"/>
            </a:solidFill>
            <a:prstDash val="dash"/>
          </a:ln>
        </p:spPr>
      </p:sp>
      <p:pic>
        <p:nvPicPr>
          <p:cNvPr id="5" name="visual-icon-393" descr="BACKUP  ·  Method detail">    </p:cNvPr>
          <p:cNvPicPr>
            <a:picLocks noChangeAspect="1"/>
          </p:cNvPicPr>
          <p:nvPr/>
        </p:nvPicPr>
        <p:blipFill>
          <a:blip r:embed="rId1"/>
          <a:stretch>
            <a:fillRect/>
          </a:stretch>
        </p:blipFill>
        <p:spPr>
          <a:xfrm>
            <a:off x="2948940" y="3086100"/>
            <a:ext cx="548640" cy="548640"/>
          </a:xfrm>
          <a:prstGeom prst="rect">
            <a:avLst/>
          </a:prstGeom>
        </p:spPr>
      </p:pic>
      <p:sp>
        <p:nvSpPr>
          <p:cNvPr id="6" name="visual-label-394"/>
          <p:cNvSpPr txBox="1"/>
          <p:nvPr/>
        </p:nvSpPr>
        <p:spPr>
          <a:xfrm>
            <a:off x="822960" y="3726180"/>
            <a:ext cx="4800600" cy="365760"/>
          </a:xfrm>
          <a:prstGeom prst="rect">
            <a:avLst/>
          </a:prstGeom>
          <a:noFill/>
          <a:ln/>
        </p:spPr>
        <p:txBody>
          <a:bodyPr wrap="square" lIns="0" tIns="0" rIns="0" bIns="0" rtlCol="0" anchor="ctr"/>
          <a:lstStyle/>
          <a:p>
            <a:pPr algn="ctr" indent="0" marL="0">
              <a:buNone/>
            </a:pPr>
            <a:r>
              <a:rPr lang="en-US" sz="1400" b="1" dirty="0">
                <a:solidFill>
                  <a:schemeClr val="tx2"/>
                </a:solidFill>
              </a:rPr>
              <a:t>BACKUP  ·  Method detail</a:t>
            </a:r>
            <a:endParaRPr lang="en-US" sz="1400" dirty="0"/>
          </a:p>
        </p:txBody>
      </p:sp>
      <p:sp>
        <p:nvSpPr>
          <p:cNvPr id="7" name="visual-hint-395"/>
          <p:cNvSpPr txBox="1"/>
          <p:nvPr/>
        </p:nvSpPr>
        <p:spPr>
          <a:xfrm>
            <a:off x="822960" y="4137660"/>
            <a:ext cx="4800600" cy="1897380"/>
          </a:xfrm>
          <a:prstGeom prst="rect">
            <a:avLst/>
          </a:prstGeom>
          <a:noFill/>
          <a:ln/>
        </p:spPr>
        <p:txBody>
          <a:bodyPr wrap="square" lIns="0" tIns="0" rIns="0" bIns="0" rtlCol="0" anchor="t"/>
          <a:lstStyle/>
          <a:p>
            <a:pPr algn="ctr" indent="0" marL="0">
              <a:buNone/>
            </a:pPr>
            <a:r>
              <a:rPr lang="en-US" sz="1200" i="1" dirty="0">
                <a:solidFill>
                  <a:schemeClr val="accent5"/>
                </a:solidFill>
              </a:rPr>
              <a:t>[e.g. FDR correction, LOO stability, PCA, model selection rule]</a:t>
            </a:r>
            <a:endParaRPr lang="en-US" sz="1200" dirty="0"/>
          </a:p>
        </p:txBody>
      </p:sp>
      <p:sp>
        <p:nvSpPr>
          <p:cNvPr id="8" name="visual-frame-396"/>
          <p:cNvSpPr/>
          <p:nvPr/>
        </p:nvSpPr>
        <p:spPr>
          <a:xfrm>
            <a:off x="6281928" y="1691640"/>
            <a:ext cx="5349240" cy="4526280"/>
          </a:xfrm>
          <a:prstGeom prst="roundRect">
            <a:avLst>
              <a:gd name="adj" fmla="val 2424"/>
            </a:avLst>
          </a:prstGeom>
          <a:solidFill>
            <a:schemeClr val="bg2"/>
          </a:solidFill>
          <a:ln w="15875">
            <a:solidFill>
              <a:schemeClr val="accent3"/>
            </a:solidFill>
            <a:prstDash val="dash"/>
          </a:ln>
        </p:spPr>
      </p:sp>
      <p:pic>
        <p:nvPicPr>
          <p:cNvPr id="9" name="visual-icon-397" descr="BACKUP  ·  Extra chart">    </p:cNvPr>
          <p:cNvPicPr>
            <a:picLocks noChangeAspect="1"/>
          </p:cNvPicPr>
          <p:nvPr/>
        </p:nvPicPr>
        <p:blipFill>
          <a:blip r:embed="rId2"/>
          <a:stretch>
            <a:fillRect/>
          </a:stretch>
        </p:blipFill>
        <p:spPr>
          <a:xfrm>
            <a:off x="8682228" y="3086100"/>
            <a:ext cx="548640" cy="548640"/>
          </a:xfrm>
          <a:prstGeom prst="rect">
            <a:avLst/>
          </a:prstGeom>
        </p:spPr>
      </p:pic>
      <p:sp>
        <p:nvSpPr>
          <p:cNvPr id="10" name="visual-label-398"/>
          <p:cNvSpPr txBox="1"/>
          <p:nvPr/>
        </p:nvSpPr>
        <p:spPr>
          <a:xfrm>
            <a:off x="6556248" y="3726180"/>
            <a:ext cx="4800600" cy="365760"/>
          </a:xfrm>
          <a:prstGeom prst="rect">
            <a:avLst/>
          </a:prstGeom>
          <a:noFill/>
          <a:ln/>
        </p:spPr>
        <p:txBody>
          <a:bodyPr wrap="square" lIns="0" tIns="0" rIns="0" bIns="0" rtlCol="0" anchor="ctr"/>
          <a:lstStyle/>
          <a:p>
            <a:pPr algn="ctr" indent="0" marL="0">
              <a:buNone/>
            </a:pPr>
            <a:r>
              <a:rPr lang="en-US" sz="1400" b="1" dirty="0">
                <a:solidFill>
                  <a:schemeClr val="tx2"/>
                </a:solidFill>
              </a:rPr>
              <a:t>BACKUP  ·  Extra chart</a:t>
            </a:r>
            <a:endParaRPr lang="en-US" sz="1400" dirty="0"/>
          </a:p>
        </p:txBody>
      </p:sp>
      <p:sp>
        <p:nvSpPr>
          <p:cNvPr id="11" name="visual-hint-399"/>
          <p:cNvSpPr txBox="1"/>
          <p:nvPr/>
        </p:nvSpPr>
        <p:spPr>
          <a:xfrm>
            <a:off x="6556248" y="4137660"/>
            <a:ext cx="4800600" cy="1897380"/>
          </a:xfrm>
          <a:prstGeom prst="rect">
            <a:avLst/>
          </a:prstGeom>
          <a:noFill/>
          <a:ln/>
        </p:spPr>
        <p:txBody>
          <a:bodyPr wrap="square" lIns="0" tIns="0" rIns="0" bIns="0" rtlCol="0" anchor="t"/>
          <a:lstStyle/>
          <a:p>
            <a:pPr algn="ctr" indent="0" marL="0">
              <a:buNone/>
            </a:pPr>
            <a:r>
              <a:rPr lang="en-US" sz="1200" i="1" dirty="0">
                <a:solidFill>
                  <a:schemeClr val="accent5"/>
                </a:solidFill>
              </a:rPr>
              <a:t>[e.g. robustness check or sensitivity analysis]</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Harvest North">
  <a:themeElements>
    <a:clrScheme name="Harvest North">
      <a:dk1>
        <a:srgbClr val="1B2B24"/>
      </a:dk1>
      <a:lt1>
        <a:srgbClr val="FFFFFF"/>
      </a:lt1>
      <a:dk2>
        <a:srgbClr val="1F4D3A"/>
      </a:dk2>
      <a:lt2>
        <a:srgbClr val="EEF3EF"/>
      </a:lt2>
      <a:accent1>
        <a:srgbClr val="1F4D3A"/>
      </a:accent1>
      <a:accent2>
        <a:srgbClr val="E3893B"/>
      </a:accent2>
      <a:accent3>
        <a:srgbClr val="7FA88B"/>
      </a:accent3>
      <a:accent4>
        <a:srgbClr val="C9D9CC"/>
      </a:accent4>
      <a:accent5>
        <a:srgbClr val="5B6B63"/>
      </a:accent5>
      <a:accent6>
        <a:srgbClr val="B5452F"/>
      </a:accent6>
      <a:hlink>
        <a:srgbClr val="1F4D3A"/>
      </a:hlink>
      <a:folHlink>
        <a:srgbClr val="5B6B63"/>
      </a:folHlink>
    </a:clrScheme>
    <a:fontScheme name="Harvest Nort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MinneMUDAC 2026 - Need vs. Demand</dc:title>
  <dc:subject>PptxGenJS Presentation</dc:subject>
  <dc:creator>MinneMUDAC 2026 Team</dc:creator>
  <cp:lastModifiedBy>MinneMUDAC 2026 Team</cp:lastModifiedBy>
  <cp:revision>1</cp:revision>
  <dcterms:created xsi:type="dcterms:W3CDTF">2026-10-12T18:09:35Z</dcterms:created>
  <dcterms:modified xsi:type="dcterms:W3CDTF">2026-10-12T18:09:35Z</dcterms:modified>
</cp:coreProperties>
</file>